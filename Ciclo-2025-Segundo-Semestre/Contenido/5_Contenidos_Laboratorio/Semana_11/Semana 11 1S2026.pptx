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8288000" cy="10287000"/>
  <p:notesSz cx="6858000" cy="9144000"/>
  <p:embeddedFontLst>
    <p:embeddedFont>
      <p:font typeface="Arial Bold" panose="020B0604020202020204" charset="0"/>
      <p:regular r:id="rId32"/>
    </p:embeddedFont>
    <p:embeddedFont>
      <p:font typeface="Garet" panose="020B0604020202020204" charset="0"/>
      <p:regular r:id="rId33"/>
    </p:embeddedFont>
    <p:embeddedFont>
      <p:font typeface="Garet Bold" panose="020B0604020202020204" charset="0"/>
      <p:regular r:id="rId34"/>
    </p:embeddedFont>
    <p:embeddedFont>
      <p:font typeface="Glacial Indifference" panose="020B0604020202020204" charset="0"/>
      <p:regular r:id="rId35"/>
    </p:embeddedFont>
    <p:embeddedFont>
      <p:font typeface="Horizon" panose="020B0604020202020204" charset="0"/>
      <p:regular r:id="rId36"/>
    </p:embeddedFont>
    <p:embeddedFont>
      <p:font typeface="Open Sans" panose="020B0606030504020204" pitchFamily="34" charset="0"/>
      <p:regular r:id="rId37"/>
    </p:embeddedFont>
    <p:embeddedFont>
      <p:font typeface="Open Sans Bold" panose="020B0604020202020204" charset="0"/>
      <p:regular r:id="rId38"/>
    </p:embeddedFont>
    <p:embeddedFont>
      <p:font typeface="Playlist Script" panose="020B0604020202020204" charset="0"/>
      <p:regular r:id="rId3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1" d="100"/>
          <a:sy n="71" d="100"/>
        </p:scale>
        <p:origin x="714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8.fntdata"/><Relationship Id="rId21" Type="http://schemas.openxmlformats.org/officeDocument/2006/relationships/slide" Target="slides/slide20.xml"/><Relationship Id="rId34" Type="http://schemas.openxmlformats.org/officeDocument/2006/relationships/font" Target="fonts/font3.fntdata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1.fntdata"/><Relationship Id="rId37" Type="http://schemas.openxmlformats.org/officeDocument/2006/relationships/font" Target="fonts/font6.fntdata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4.fntdata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2.fntdata"/><Relationship Id="rId38" Type="http://schemas.openxmlformats.org/officeDocument/2006/relationships/font" Target="fonts/font7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309860"/>
          </a:xfrm>
          <a:custGeom>
            <a:avLst/>
            <a:gdLst/>
            <a:ahLst/>
            <a:cxnLst/>
            <a:rect l="l" t="t" r="r" b="b"/>
            <a:pathLst>
              <a:path w="18288000" h="10309860">
                <a:moveTo>
                  <a:pt x="0" y="0"/>
                </a:moveTo>
                <a:lnTo>
                  <a:pt x="18288000" y="0"/>
                </a:lnTo>
                <a:lnTo>
                  <a:pt x="18288000" y="10309860"/>
                </a:lnTo>
                <a:lnTo>
                  <a:pt x="0" y="103098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s-GT"/>
          </a:p>
        </p:txBody>
      </p:sp>
      <p:graphicFrame>
        <p:nvGraphicFramePr>
          <p:cNvPr id="3" name="Table 3"/>
          <p:cNvGraphicFramePr>
            <a:graphicFrameLocks noGrp="1"/>
          </p:cNvGraphicFramePr>
          <p:nvPr/>
        </p:nvGraphicFramePr>
        <p:xfrm>
          <a:off x="8459661" y="2087779"/>
          <a:ext cx="9268438" cy="2162175"/>
        </p:xfrm>
        <a:graphic>
          <a:graphicData uri="http://schemas.openxmlformats.org/drawingml/2006/table">
            <a:tbl>
              <a:tblPr/>
              <a:tblGrid>
                <a:gridCol w="4350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175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24719">
                <a:tc>
                  <a:txBody>
                    <a:bodyPr/>
                    <a:lstStyle/>
                    <a:p>
                      <a:pPr algn="ctr">
                        <a:lnSpc>
                          <a:spcPts val="4619"/>
                        </a:lnSpc>
                        <a:defRPr/>
                      </a:pPr>
                      <a:r>
                        <a:rPr lang="en-US" sz="3299" b="1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Dia, Fecha: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37456">
                <a:tc>
                  <a:txBody>
                    <a:bodyPr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 b="1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Hora de inicio: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4" name="Group 4"/>
          <p:cNvGrpSpPr/>
          <p:nvPr/>
        </p:nvGrpSpPr>
        <p:grpSpPr>
          <a:xfrm>
            <a:off x="1198672" y="5749011"/>
            <a:ext cx="8989218" cy="903931"/>
            <a:chOff x="0" y="0"/>
            <a:chExt cx="2367531" cy="23807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367530" cy="238072"/>
            </a:xfrm>
            <a:custGeom>
              <a:avLst/>
              <a:gdLst/>
              <a:ahLst/>
              <a:cxnLst/>
              <a:rect l="l" t="t" r="r" b="b"/>
              <a:pathLst>
                <a:path w="2367530" h="238072">
                  <a:moveTo>
                    <a:pt x="0" y="0"/>
                  </a:moveTo>
                  <a:lnTo>
                    <a:pt x="2367530" y="0"/>
                  </a:lnTo>
                  <a:lnTo>
                    <a:pt x="2367530" y="238072"/>
                  </a:lnTo>
                  <a:lnTo>
                    <a:pt x="0" y="238072"/>
                  </a:lnTo>
                  <a:close/>
                </a:path>
              </a:pathLst>
            </a:custGeom>
            <a:solidFill>
              <a:srgbClr val="FFF3C2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76200"/>
              <a:ext cx="2367531" cy="3142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599"/>
                </a:lnSpc>
              </a:pPr>
              <a:r>
                <a:rPr lang="en-US" sz="3999" b="1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Lógica de Sistemas Sección 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977804" y="7160164"/>
            <a:ext cx="7166196" cy="894134"/>
            <a:chOff x="0" y="0"/>
            <a:chExt cx="1887393" cy="23549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887393" cy="235492"/>
            </a:xfrm>
            <a:custGeom>
              <a:avLst/>
              <a:gdLst/>
              <a:ahLst/>
              <a:cxnLst/>
              <a:rect l="l" t="t" r="r" b="b"/>
              <a:pathLst>
                <a:path w="1887393" h="235492">
                  <a:moveTo>
                    <a:pt x="0" y="0"/>
                  </a:moveTo>
                  <a:lnTo>
                    <a:pt x="1887393" y="0"/>
                  </a:lnTo>
                  <a:lnTo>
                    <a:pt x="1887393" y="235492"/>
                  </a:lnTo>
                  <a:lnTo>
                    <a:pt x="0" y="235492"/>
                  </a:lnTo>
                  <a:close/>
                </a:path>
              </a:pathLst>
            </a:custGeom>
            <a:solidFill>
              <a:srgbClr val="FFF3C2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57150"/>
              <a:ext cx="1887393" cy="2926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19"/>
                </a:lnSpc>
              </a:pPr>
              <a:r>
                <a:rPr lang="en-US" sz="2799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NOMBRE DEL TUTOR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A6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541309" y="0"/>
            <a:ext cx="5746691" cy="1711780"/>
          </a:xfrm>
          <a:custGeom>
            <a:avLst/>
            <a:gdLst/>
            <a:ahLst/>
            <a:cxnLst/>
            <a:rect l="l" t="t" r="r" b="b"/>
            <a:pathLst>
              <a:path w="5746691" h="1711780">
                <a:moveTo>
                  <a:pt x="0" y="0"/>
                </a:moveTo>
                <a:lnTo>
                  <a:pt x="5746691" y="0"/>
                </a:lnTo>
                <a:lnTo>
                  <a:pt x="5746691" y="1711780"/>
                </a:lnTo>
                <a:lnTo>
                  <a:pt x="0" y="17117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GT"/>
          </a:p>
        </p:txBody>
      </p:sp>
      <p:sp>
        <p:nvSpPr>
          <p:cNvPr id="3" name="TextBox 3"/>
          <p:cNvSpPr txBox="1"/>
          <p:nvPr/>
        </p:nvSpPr>
        <p:spPr>
          <a:xfrm>
            <a:off x="945148" y="7834026"/>
            <a:ext cx="7099534" cy="8636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b="1" dirty="0" err="1">
                <a:solidFill>
                  <a:srgbClr val="13141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Lógica</a:t>
            </a:r>
            <a:r>
              <a:rPr lang="en-US" sz="5000" b="1" dirty="0">
                <a:solidFill>
                  <a:srgbClr val="13141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de Sistemas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824704" y="3355266"/>
            <a:ext cx="10100310" cy="1368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sz="8000" b="1">
                <a:solidFill>
                  <a:srgbClr val="13141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Repaso Unidad 5 y 6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63303" y="8745251"/>
            <a:ext cx="6981379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1" dirty="0">
                <a:solidFill>
                  <a:srgbClr val="13141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Escuela de Ingenieria de </a:t>
            </a:r>
            <a:r>
              <a:rPr lang="en-US" sz="2499" b="1" dirty="0" err="1">
                <a:solidFill>
                  <a:srgbClr val="13141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Ciencias</a:t>
            </a:r>
            <a:r>
              <a:rPr lang="en-US" sz="2499" b="1" dirty="0">
                <a:solidFill>
                  <a:srgbClr val="13141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Y Sistemas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9210675"/>
            <a:ext cx="5524500" cy="4222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1" dirty="0" err="1">
                <a:solidFill>
                  <a:srgbClr val="13141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Facultad</a:t>
            </a:r>
            <a:r>
              <a:rPr lang="en-US" sz="2499" b="1" dirty="0">
                <a:solidFill>
                  <a:srgbClr val="13141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de Ingenieria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9585325"/>
            <a:ext cx="7353300" cy="4222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 b="1" dirty="0">
                <a:solidFill>
                  <a:srgbClr val="13141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Universidad de San Carlos de Guatemala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A6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866989" y="3303305"/>
            <a:ext cx="4115190" cy="1267162"/>
            <a:chOff x="0" y="0"/>
            <a:chExt cx="1083836" cy="33373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83836" cy="333738"/>
            </a:xfrm>
            <a:custGeom>
              <a:avLst/>
              <a:gdLst/>
              <a:ahLst/>
              <a:cxnLst/>
              <a:rect l="l" t="t" r="r" b="b"/>
              <a:pathLst>
                <a:path w="1083836" h="333738">
                  <a:moveTo>
                    <a:pt x="880636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880636" y="333738"/>
                  </a:lnTo>
                  <a:lnTo>
                    <a:pt x="1083836" y="166869"/>
                  </a:lnTo>
                  <a:lnTo>
                    <a:pt x="88063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76200"/>
              <a:ext cx="969536" cy="40993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143"/>
                </a:lnSpc>
              </a:pPr>
              <a:r>
                <a:rPr lang="en-US" sz="2799" spc="81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RECORDATORIOS</a:t>
              </a:r>
            </a:p>
          </p:txBody>
        </p:sp>
      </p:grpSp>
      <p:sp>
        <p:nvSpPr>
          <p:cNvPr id="5" name="Freeform 5"/>
          <p:cNvSpPr/>
          <p:nvPr/>
        </p:nvSpPr>
        <p:spPr>
          <a:xfrm>
            <a:off x="651754" y="3429735"/>
            <a:ext cx="753892" cy="872928"/>
          </a:xfrm>
          <a:custGeom>
            <a:avLst/>
            <a:gdLst/>
            <a:ahLst/>
            <a:cxnLst/>
            <a:rect l="l" t="t" r="r" b="b"/>
            <a:pathLst>
              <a:path w="753892" h="872928">
                <a:moveTo>
                  <a:pt x="0" y="0"/>
                </a:moveTo>
                <a:lnTo>
                  <a:pt x="753892" y="0"/>
                </a:lnTo>
                <a:lnTo>
                  <a:pt x="753892" y="872927"/>
                </a:lnTo>
                <a:lnTo>
                  <a:pt x="0" y="8729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GT"/>
          </a:p>
        </p:txBody>
      </p:sp>
      <p:grpSp>
        <p:nvGrpSpPr>
          <p:cNvPr id="6" name="Group 6"/>
          <p:cNvGrpSpPr/>
          <p:nvPr/>
        </p:nvGrpSpPr>
        <p:grpSpPr>
          <a:xfrm>
            <a:off x="651754" y="-249180"/>
            <a:ext cx="6140237" cy="2980843"/>
            <a:chOff x="0" y="0"/>
            <a:chExt cx="8186982" cy="3974458"/>
          </a:xfrm>
        </p:grpSpPr>
        <p:sp>
          <p:nvSpPr>
            <p:cNvPr id="7" name="TextBox 7"/>
            <p:cNvSpPr txBox="1"/>
            <p:nvPr/>
          </p:nvSpPr>
          <p:spPr>
            <a:xfrm>
              <a:off x="0" y="986783"/>
              <a:ext cx="8186982" cy="29876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7250"/>
                </a:lnSpc>
              </a:pPr>
              <a:r>
                <a:rPr lang="en-US" sz="15000">
                  <a:solidFill>
                    <a:srgbClr val="131416"/>
                  </a:solidFill>
                  <a:latin typeface="Playlist Script"/>
                  <a:ea typeface="Playlist Script"/>
                  <a:cs typeface="Playlist Script"/>
                  <a:sym typeface="Playlist Script"/>
                </a:rPr>
                <a:t>Agenda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95250"/>
              <a:ext cx="8186982" cy="9274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733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1131715" y="154716"/>
            <a:ext cx="8416862" cy="2844707"/>
            <a:chOff x="0" y="0"/>
            <a:chExt cx="11222483" cy="3792943"/>
          </a:xfrm>
        </p:grpSpPr>
        <p:sp>
          <p:nvSpPr>
            <p:cNvPr id="10" name="TextBox 10"/>
            <p:cNvSpPr txBox="1"/>
            <p:nvPr/>
          </p:nvSpPr>
          <p:spPr>
            <a:xfrm>
              <a:off x="0" y="805268"/>
              <a:ext cx="11222483" cy="29876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7250"/>
                </a:lnSpc>
              </a:pPr>
              <a:r>
                <a:rPr lang="en-US" sz="15000">
                  <a:solidFill>
                    <a:srgbClr val="131416"/>
                  </a:solidFill>
                  <a:latin typeface="Playlist Script"/>
                  <a:ea typeface="Playlist Script"/>
                  <a:cs typeface="Playlist Script"/>
                  <a:sym typeface="Playlist Script"/>
                </a:rPr>
                <a:t>Recursos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76200"/>
              <a:ext cx="11222483" cy="7475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625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0601661" y="3473279"/>
            <a:ext cx="5484970" cy="1267162"/>
            <a:chOff x="0" y="0"/>
            <a:chExt cx="1444601" cy="33373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444601" cy="333738"/>
            </a:xfrm>
            <a:custGeom>
              <a:avLst/>
              <a:gdLst/>
              <a:ahLst/>
              <a:cxnLst/>
              <a:rect l="l" t="t" r="r" b="b"/>
              <a:pathLst>
                <a:path w="1444601" h="333738">
                  <a:moveTo>
                    <a:pt x="1241401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1241401" y="333738"/>
                  </a:lnTo>
                  <a:lnTo>
                    <a:pt x="1444601" y="166869"/>
                  </a:lnTo>
                  <a:lnTo>
                    <a:pt x="124140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1330301" cy="3813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60"/>
                </a:lnSpc>
              </a:pPr>
              <a:r>
                <a:rPr lang="en-US" sz="2000" b="1" spc="58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Link del Video:</a:t>
              </a:r>
            </a:p>
            <a:p>
              <a:pPr algn="ctr">
                <a:lnSpc>
                  <a:spcPts val="2960"/>
                </a:lnSpc>
              </a:pPr>
              <a:r>
                <a:rPr lang="en-US" sz="2000" spc="58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https://youtu.be/juaqqPNEGpk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879378" y="5999355"/>
            <a:ext cx="7564271" cy="1605280"/>
            <a:chOff x="0" y="0"/>
            <a:chExt cx="1992236" cy="42279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992236" cy="422790"/>
            </a:xfrm>
            <a:custGeom>
              <a:avLst/>
              <a:gdLst/>
              <a:ahLst/>
              <a:cxnLst/>
              <a:rect l="l" t="t" r="r" b="b"/>
              <a:pathLst>
                <a:path w="1992236" h="422790">
                  <a:moveTo>
                    <a:pt x="1789036" y="0"/>
                  </a:moveTo>
                  <a:lnTo>
                    <a:pt x="0" y="0"/>
                  </a:lnTo>
                  <a:lnTo>
                    <a:pt x="0" y="422790"/>
                  </a:lnTo>
                  <a:lnTo>
                    <a:pt x="1789036" y="422790"/>
                  </a:lnTo>
                  <a:lnTo>
                    <a:pt x="1992236" y="211395"/>
                  </a:lnTo>
                  <a:lnTo>
                    <a:pt x="178903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47625"/>
              <a:ext cx="1877936" cy="4704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60"/>
                </a:lnSpc>
              </a:pPr>
              <a:r>
                <a:rPr lang="en-US" sz="2000" b="1" spc="58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Link de Quizziz:</a:t>
              </a:r>
            </a:p>
            <a:p>
              <a:pPr algn="ctr">
                <a:lnSpc>
                  <a:spcPts val="2960"/>
                </a:lnSpc>
              </a:pPr>
              <a:r>
                <a:rPr lang="en-US" sz="2000" spc="58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https://create.kahoot.it/details/7c14ded6-312e-43c7-bc57-7f56edbed92a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76619" y="5623280"/>
            <a:ext cx="4613551" cy="666407"/>
            <a:chOff x="0" y="0"/>
            <a:chExt cx="1964221" cy="283723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964221" cy="283723"/>
            </a:xfrm>
            <a:custGeom>
              <a:avLst/>
              <a:gdLst/>
              <a:ahLst/>
              <a:cxnLst/>
              <a:rect l="l" t="t" r="r" b="b"/>
              <a:pathLst>
                <a:path w="1964221" h="283723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s-GT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76200"/>
              <a:ext cx="1849921" cy="3599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143"/>
                </a:lnSpc>
              </a:pPr>
              <a:r>
                <a:rPr lang="en-US" sz="2799" spc="81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Quizz</a:t>
              </a:r>
            </a:p>
          </p:txBody>
        </p:sp>
      </p:grpSp>
      <p:sp>
        <p:nvSpPr>
          <p:cNvPr id="21" name="Freeform 21"/>
          <p:cNvSpPr/>
          <p:nvPr/>
        </p:nvSpPr>
        <p:spPr>
          <a:xfrm>
            <a:off x="878654" y="5623280"/>
            <a:ext cx="453358" cy="550094"/>
          </a:xfrm>
          <a:custGeom>
            <a:avLst/>
            <a:gdLst/>
            <a:ahLst/>
            <a:cxnLst/>
            <a:rect l="l" t="t" r="r" b="b"/>
            <a:pathLst>
              <a:path w="453358" h="550094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GT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A6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374889" y="654364"/>
            <a:ext cx="13991174" cy="1801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890"/>
              </a:lnSpc>
            </a:pPr>
            <a:r>
              <a:rPr lang="en-US" sz="6098">
                <a:solidFill>
                  <a:srgbClr val="131416"/>
                </a:solidFill>
                <a:latin typeface="Horizon"/>
                <a:ea typeface="Horizon"/>
                <a:cs typeface="Horizon"/>
                <a:sym typeface="Horizon"/>
              </a:rPr>
              <a:t>COMPETENCIA(S) QUE DESARROLLAREMOS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419844" y="3108788"/>
            <a:ext cx="13448312" cy="6318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599" lvl="1" indent="-431800" algn="just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Evalúa la validez de razonamientos y falacias empleando discusiones guiadas y la resolución de dilemas en contextos académicos del curso</a:t>
            </a:r>
          </a:p>
          <a:p>
            <a:pPr algn="just">
              <a:lnSpc>
                <a:spcPts val="5599"/>
              </a:lnSpc>
            </a:pPr>
            <a:endParaRPr lang="en-US" sz="3999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863599" lvl="1" indent="-431800" algn="just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Integra modelos mentales y paradigmas en el análisis de ejemplos prácticos para reflexionar sobre su impacto en la toma de decisiones</a:t>
            </a:r>
          </a:p>
          <a:p>
            <a:pPr algn="just">
              <a:lnSpc>
                <a:spcPts val="5599"/>
              </a:lnSpc>
            </a:pPr>
            <a:endParaRPr lang="en-US" sz="3999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just">
              <a:lnSpc>
                <a:spcPts val="5599"/>
              </a:lnSpc>
            </a:pPr>
            <a:endParaRPr lang="en-US" sz="3999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A6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374889" y="3027816"/>
            <a:ext cx="12625499" cy="50696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47776" lvl="1" indent="-423888" algn="l">
              <a:lnSpc>
                <a:spcPts val="6793"/>
              </a:lnSpc>
              <a:buFont typeface="Arial"/>
              <a:buChar char="•"/>
            </a:pPr>
            <a:r>
              <a:rPr lang="en-US" sz="3926">
                <a:solidFill>
                  <a:srgbClr val="131416"/>
                </a:solidFill>
                <a:latin typeface="Garet"/>
                <a:ea typeface="Garet"/>
                <a:cs typeface="Garet"/>
                <a:sym typeface="Garet"/>
              </a:rPr>
              <a:t>Falacias</a:t>
            </a:r>
          </a:p>
          <a:p>
            <a:pPr marL="847776" lvl="1" indent="-423888" algn="l">
              <a:lnSpc>
                <a:spcPts val="6793"/>
              </a:lnSpc>
              <a:buFont typeface="Arial"/>
              <a:buChar char="•"/>
            </a:pPr>
            <a:r>
              <a:rPr lang="en-US" sz="3926">
                <a:solidFill>
                  <a:srgbClr val="131416"/>
                </a:solidFill>
                <a:latin typeface="Garet"/>
                <a:ea typeface="Garet"/>
                <a:cs typeface="Garet"/>
                <a:sym typeface="Garet"/>
              </a:rPr>
              <a:t>Razonamiento formal e informal</a:t>
            </a:r>
          </a:p>
          <a:p>
            <a:pPr marL="847776" lvl="1" indent="-423888" algn="l">
              <a:lnSpc>
                <a:spcPts val="6793"/>
              </a:lnSpc>
              <a:buFont typeface="Arial"/>
              <a:buChar char="•"/>
            </a:pPr>
            <a:r>
              <a:rPr lang="en-US" sz="3926">
                <a:solidFill>
                  <a:srgbClr val="131416"/>
                </a:solidFill>
                <a:latin typeface="Garet"/>
                <a:ea typeface="Garet"/>
                <a:cs typeface="Garet"/>
                <a:sym typeface="Garet"/>
              </a:rPr>
              <a:t>Las falacias</a:t>
            </a:r>
          </a:p>
          <a:p>
            <a:pPr marL="847776" lvl="1" indent="-423888" algn="l">
              <a:lnSpc>
                <a:spcPts val="6793"/>
              </a:lnSpc>
              <a:buFont typeface="Arial"/>
              <a:buChar char="•"/>
            </a:pPr>
            <a:r>
              <a:rPr lang="en-US" sz="3926">
                <a:solidFill>
                  <a:srgbClr val="131416"/>
                </a:solidFill>
                <a:latin typeface="Garet"/>
                <a:ea typeface="Garet"/>
                <a:cs typeface="Garet"/>
                <a:sym typeface="Garet"/>
              </a:rPr>
              <a:t>Características y aspectos externos e internos de los paradigmas</a:t>
            </a:r>
          </a:p>
          <a:p>
            <a:pPr marL="847776" lvl="1" indent="-423888" algn="l">
              <a:lnSpc>
                <a:spcPts val="6793"/>
              </a:lnSpc>
              <a:buFont typeface="Arial"/>
              <a:buChar char="•"/>
            </a:pPr>
            <a:r>
              <a:rPr lang="en-US" sz="3926">
                <a:solidFill>
                  <a:srgbClr val="131416"/>
                </a:solidFill>
                <a:latin typeface="Garet"/>
                <a:ea typeface="Garet"/>
                <a:cs typeface="Garet"/>
                <a:sym typeface="Garet"/>
              </a:rPr>
              <a:t>Uso de los paradigmas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374889" y="654364"/>
            <a:ext cx="13991174" cy="9371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890"/>
              </a:lnSpc>
            </a:pPr>
            <a:r>
              <a:rPr lang="en-US" sz="6098">
                <a:solidFill>
                  <a:srgbClr val="131416"/>
                </a:solidFill>
                <a:latin typeface="Horizon"/>
                <a:ea typeface="Horizon"/>
                <a:cs typeface="Horizon"/>
                <a:sym typeface="Horizon"/>
              </a:rPr>
              <a:t>CONTENIDO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A6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02174" y="1869428"/>
            <a:ext cx="7072381" cy="7072381"/>
          </a:xfrm>
          <a:custGeom>
            <a:avLst/>
            <a:gdLst/>
            <a:ahLst/>
            <a:cxnLst/>
            <a:rect l="l" t="t" r="r" b="b"/>
            <a:pathLst>
              <a:path w="7072381" h="7072381">
                <a:moveTo>
                  <a:pt x="0" y="0"/>
                </a:moveTo>
                <a:lnTo>
                  <a:pt x="7072381" y="0"/>
                </a:lnTo>
                <a:lnTo>
                  <a:pt x="7072381" y="7072381"/>
                </a:lnTo>
                <a:lnTo>
                  <a:pt x="0" y="70723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GT"/>
          </a:p>
        </p:txBody>
      </p:sp>
      <p:sp>
        <p:nvSpPr>
          <p:cNvPr id="3" name="TextBox 3"/>
          <p:cNvSpPr txBox="1"/>
          <p:nvPr/>
        </p:nvSpPr>
        <p:spPr>
          <a:xfrm>
            <a:off x="1374889" y="644839"/>
            <a:ext cx="15597169" cy="24206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12"/>
              </a:lnSpc>
            </a:pPr>
            <a:r>
              <a:rPr lang="en-US" sz="5498">
                <a:solidFill>
                  <a:srgbClr val="131416"/>
                </a:solidFill>
                <a:latin typeface="Horizon"/>
                <a:ea typeface="Horizon"/>
                <a:cs typeface="Horizon"/>
                <a:sym typeface="Horizon"/>
              </a:rPr>
              <a:t>RAZONAMIENTO FORMAL</a:t>
            </a:r>
          </a:p>
          <a:p>
            <a:pPr algn="l">
              <a:lnSpc>
                <a:spcPts val="6212"/>
              </a:lnSpc>
            </a:pPr>
            <a:endParaRPr lang="en-US" sz="5498">
              <a:solidFill>
                <a:srgbClr val="131416"/>
              </a:solidFill>
              <a:latin typeface="Horizon"/>
              <a:ea typeface="Horizon"/>
              <a:cs typeface="Horizon"/>
              <a:sym typeface="Horizon"/>
            </a:endParaRPr>
          </a:p>
          <a:p>
            <a:pPr algn="l">
              <a:lnSpc>
                <a:spcPts val="6212"/>
              </a:lnSpc>
            </a:pPr>
            <a:endParaRPr lang="en-US" sz="5498">
              <a:solidFill>
                <a:srgbClr val="131416"/>
              </a:solidFill>
              <a:latin typeface="Horizon"/>
              <a:ea typeface="Horizon"/>
              <a:cs typeface="Horizon"/>
              <a:sym typeface="Horizon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9627295" y="2067533"/>
            <a:ext cx="7632005" cy="8432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599" lvl="1" indent="-431800" algn="just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Interés puramente en la forma, no en el contenido</a:t>
            </a:r>
          </a:p>
          <a:p>
            <a:pPr algn="just">
              <a:lnSpc>
                <a:spcPts val="5599"/>
              </a:lnSpc>
            </a:pPr>
            <a:endParaRPr lang="en-US" sz="3999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863599" lvl="1" indent="-431800" algn="just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Se basa en relaciones lógicas entre variables</a:t>
            </a:r>
          </a:p>
          <a:p>
            <a:pPr algn="just">
              <a:lnSpc>
                <a:spcPts val="5599"/>
              </a:lnSpc>
            </a:pPr>
            <a:endParaRPr lang="en-US" sz="3999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863599" lvl="1" indent="-431800" algn="just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Ejemplo simbólico: P → Q, P ∴ Q</a:t>
            </a:r>
          </a:p>
          <a:p>
            <a:pPr algn="just">
              <a:lnSpc>
                <a:spcPts val="5599"/>
              </a:lnSpc>
            </a:pPr>
            <a:r>
              <a:rPr lang="en-US" sz="3999" b="1">
                <a:solidFill>
                  <a:srgbClr val="13141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Ejemplo: </a:t>
            </a:r>
            <a:r>
              <a:rPr lang="en-US" sz="3999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"Si llueve, entonces la calle está mojada. Llueve. Por lo tanto, la calle está mojada</a:t>
            </a:r>
          </a:p>
          <a:p>
            <a:pPr algn="just">
              <a:lnSpc>
                <a:spcPts val="5599"/>
              </a:lnSpc>
            </a:pPr>
            <a:endParaRPr lang="en-US" sz="3999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A6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894092" y="1938524"/>
            <a:ext cx="6133925" cy="3204976"/>
          </a:xfrm>
          <a:custGeom>
            <a:avLst/>
            <a:gdLst/>
            <a:ahLst/>
            <a:cxnLst/>
            <a:rect l="l" t="t" r="r" b="b"/>
            <a:pathLst>
              <a:path w="6133925" h="3204976">
                <a:moveTo>
                  <a:pt x="0" y="0"/>
                </a:moveTo>
                <a:lnTo>
                  <a:pt x="6133925" y="0"/>
                </a:lnTo>
                <a:lnTo>
                  <a:pt x="6133925" y="3204976"/>
                </a:lnTo>
                <a:lnTo>
                  <a:pt x="0" y="32049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GT"/>
          </a:p>
        </p:txBody>
      </p:sp>
      <p:sp>
        <p:nvSpPr>
          <p:cNvPr id="3" name="Freeform 3"/>
          <p:cNvSpPr/>
          <p:nvPr/>
        </p:nvSpPr>
        <p:spPr>
          <a:xfrm>
            <a:off x="1894092" y="5581650"/>
            <a:ext cx="6133925" cy="4107976"/>
          </a:xfrm>
          <a:custGeom>
            <a:avLst/>
            <a:gdLst/>
            <a:ahLst/>
            <a:cxnLst/>
            <a:rect l="l" t="t" r="r" b="b"/>
            <a:pathLst>
              <a:path w="6133925" h="4107976">
                <a:moveTo>
                  <a:pt x="0" y="0"/>
                </a:moveTo>
                <a:lnTo>
                  <a:pt x="6133925" y="0"/>
                </a:lnTo>
                <a:lnTo>
                  <a:pt x="6133925" y="4107976"/>
                </a:lnTo>
                <a:lnTo>
                  <a:pt x="0" y="41079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5915" b="-5915"/>
            </a:stretch>
          </a:blipFill>
        </p:spPr>
        <p:txBody>
          <a:bodyPr/>
          <a:lstStyle/>
          <a:p>
            <a:endParaRPr lang="es-GT"/>
          </a:p>
        </p:txBody>
      </p:sp>
      <p:sp>
        <p:nvSpPr>
          <p:cNvPr id="4" name="TextBox 4"/>
          <p:cNvSpPr txBox="1"/>
          <p:nvPr/>
        </p:nvSpPr>
        <p:spPr>
          <a:xfrm>
            <a:off x="1374889" y="644839"/>
            <a:ext cx="15597169" cy="8585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12"/>
              </a:lnSpc>
            </a:pPr>
            <a:r>
              <a:rPr lang="en-US" sz="5498">
                <a:solidFill>
                  <a:srgbClr val="131416"/>
                </a:solidFill>
                <a:latin typeface="Horizon"/>
                <a:ea typeface="Horizon"/>
                <a:cs typeface="Horizon"/>
                <a:sym typeface="Horizon"/>
              </a:rPr>
              <a:t>RAZONAMIENTO INFORMAL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627295" y="1436668"/>
            <a:ext cx="7632005" cy="7070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12473" lvl="1" indent="-356237" algn="just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Se fundamenta en el contenido, no en la forma.</a:t>
            </a:r>
          </a:p>
          <a:p>
            <a:pPr algn="just">
              <a:lnSpc>
                <a:spcPts val="4620"/>
              </a:lnSpc>
            </a:pPr>
            <a:endParaRPr lang="en-US" sz="3300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712473" lvl="1" indent="-356237" algn="just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Requiere análisis del contexto real.</a:t>
            </a:r>
          </a:p>
          <a:p>
            <a:pPr algn="just">
              <a:lnSpc>
                <a:spcPts val="4620"/>
              </a:lnSpc>
            </a:pPr>
            <a:endParaRPr lang="en-US" sz="3300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712473" lvl="1" indent="-356237" algn="just">
              <a:lnSpc>
                <a:spcPts val="4620"/>
              </a:lnSpc>
              <a:buFont typeface="Arial"/>
              <a:buChar char="•"/>
            </a:pPr>
            <a:r>
              <a:rPr lang="en-US" sz="330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Las premisas pueden ser implícitas</a:t>
            </a:r>
          </a:p>
          <a:p>
            <a:pPr algn="just">
              <a:lnSpc>
                <a:spcPts val="4620"/>
              </a:lnSpc>
            </a:pPr>
            <a:endParaRPr lang="en-US" sz="3300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712473" lvl="1" indent="-356237" algn="just">
              <a:lnSpc>
                <a:spcPts val="4620"/>
              </a:lnSpc>
              <a:buFont typeface="Arial"/>
              <a:buChar char="•"/>
            </a:pPr>
            <a:r>
              <a:rPr lang="en-US" sz="3300" b="1">
                <a:solidFill>
                  <a:srgbClr val="13141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Ejemplo:</a:t>
            </a:r>
            <a:r>
              <a:rPr lang="en-US" sz="330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 "El mosquito tiene piezas afiladas en su trompa que le sirven para picar. Por lo tanto, cualquier mosquito chupa sangre"</a:t>
            </a:r>
          </a:p>
          <a:p>
            <a:pPr algn="just">
              <a:lnSpc>
                <a:spcPts val="5599"/>
              </a:lnSpc>
            </a:pPr>
            <a:endParaRPr lang="en-US" sz="3300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A6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/>
          <p:cNvGraphicFramePr>
            <a:graphicFrameLocks noGrp="1"/>
          </p:cNvGraphicFramePr>
          <p:nvPr/>
        </p:nvGraphicFramePr>
        <p:xfrm>
          <a:off x="5515874" y="1992200"/>
          <a:ext cx="7315200" cy="5314950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45721">
                <a:tc>
                  <a:txBody>
                    <a:bodyPr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 b="1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Formal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 b="1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Informal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4252"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Premisas explícitas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Premisas implícitas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99222"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Una respuesta correcta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Varias respuestas posibles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99222"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Métodos establecidos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Procesos no establecidos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26534"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Interés académico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0"/>
                        </a:lnSpc>
                        <a:defRPr/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Relevancia personal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Freeform 3"/>
          <p:cNvSpPr/>
          <p:nvPr/>
        </p:nvSpPr>
        <p:spPr>
          <a:xfrm>
            <a:off x="754817" y="5804469"/>
            <a:ext cx="4169698" cy="2783274"/>
          </a:xfrm>
          <a:custGeom>
            <a:avLst/>
            <a:gdLst/>
            <a:ahLst/>
            <a:cxnLst/>
            <a:rect l="l" t="t" r="r" b="b"/>
            <a:pathLst>
              <a:path w="4169698" h="2783274">
                <a:moveTo>
                  <a:pt x="0" y="0"/>
                </a:moveTo>
                <a:lnTo>
                  <a:pt x="4169698" y="0"/>
                </a:lnTo>
                <a:lnTo>
                  <a:pt x="4169698" y="2783274"/>
                </a:lnTo>
                <a:lnTo>
                  <a:pt x="0" y="27832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GT"/>
          </a:p>
        </p:txBody>
      </p:sp>
      <p:sp>
        <p:nvSpPr>
          <p:cNvPr id="4" name="TextBox 4"/>
          <p:cNvSpPr txBox="1"/>
          <p:nvPr/>
        </p:nvSpPr>
        <p:spPr>
          <a:xfrm>
            <a:off x="1374889" y="654364"/>
            <a:ext cx="15597169" cy="6365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30"/>
              </a:lnSpc>
            </a:pPr>
            <a:r>
              <a:rPr lang="en-US" sz="4098">
                <a:solidFill>
                  <a:srgbClr val="131416"/>
                </a:solidFill>
                <a:latin typeface="Horizon"/>
                <a:ea typeface="Horizon"/>
                <a:cs typeface="Horizon"/>
                <a:sym typeface="Horizon"/>
              </a:rPr>
              <a:t>COMPARACIÓN FORMAL VS INFORMAL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A6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41480" y="2143617"/>
            <a:ext cx="8731993" cy="5194983"/>
          </a:xfrm>
          <a:custGeom>
            <a:avLst/>
            <a:gdLst/>
            <a:ahLst/>
            <a:cxnLst/>
            <a:rect l="l" t="t" r="r" b="b"/>
            <a:pathLst>
              <a:path w="8731993" h="5194983">
                <a:moveTo>
                  <a:pt x="0" y="0"/>
                </a:moveTo>
                <a:lnTo>
                  <a:pt x="8731994" y="0"/>
                </a:lnTo>
                <a:lnTo>
                  <a:pt x="8731994" y="5194983"/>
                </a:lnTo>
                <a:lnTo>
                  <a:pt x="0" y="51949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GT"/>
          </a:p>
        </p:txBody>
      </p:sp>
      <p:sp>
        <p:nvSpPr>
          <p:cNvPr id="3" name="TextBox 3"/>
          <p:cNvSpPr txBox="1"/>
          <p:nvPr/>
        </p:nvSpPr>
        <p:spPr>
          <a:xfrm>
            <a:off x="1374889" y="644839"/>
            <a:ext cx="15597169" cy="8585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12"/>
              </a:lnSpc>
            </a:pPr>
            <a:r>
              <a:rPr lang="en-US" sz="5498">
                <a:solidFill>
                  <a:srgbClr val="131416"/>
                </a:solidFill>
                <a:latin typeface="Horizon"/>
                <a:ea typeface="Horizon"/>
                <a:cs typeface="Horizon"/>
                <a:sym typeface="Horizon"/>
              </a:rPr>
              <a:t> ¿QUÉ SON LAS FALACIAS?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627295" y="1427143"/>
            <a:ext cx="7632005" cy="7727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599"/>
              </a:lnSpc>
            </a:pPr>
            <a:r>
              <a:rPr lang="en-US" sz="3999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Razonamiento inválido que pretende validez a través de elementos psicológicos (no lógicos)</a:t>
            </a:r>
          </a:p>
          <a:p>
            <a:pPr algn="just">
              <a:lnSpc>
                <a:spcPts val="5599"/>
              </a:lnSpc>
            </a:pPr>
            <a:endParaRPr lang="en-US" sz="3999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just">
              <a:lnSpc>
                <a:spcPts val="5599"/>
              </a:lnSpc>
            </a:pPr>
            <a:r>
              <a:rPr lang="en-US" sz="3999" b="1">
                <a:solidFill>
                  <a:srgbClr val="13141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Recursos falaces:</a:t>
            </a:r>
          </a:p>
          <a:p>
            <a:pPr marL="863599" lvl="1" indent="-431800" algn="just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Intimidación</a:t>
            </a:r>
          </a:p>
          <a:p>
            <a:pPr marL="863599" lvl="1" indent="-431800" algn="just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Amenaza</a:t>
            </a:r>
          </a:p>
          <a:p>
            <a:pPr marL="863599" lvl="1" indent="-431800" algn="just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Insulto</a:t>
            </a:r>
          </a:p>
          <a:p>
            <a:pPr marL="863599" lvl="1" indent="-431800" algn="just">
              <a:lnSpc>
                <a:spcPts val="5599"/>
              </a:lnSpc>
              <a:buFont typeface="Arial"/>
              <a:buChar char="•"/>
            </a:pPr>
            <a:r>
              <a:rPr lang="en-US" sz="3999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Manipulación emocional</a:t>
            </a:r>
          </a:p>
          <a:p>
            <a:pPr algn="just">
              <a:lnSpc>
                <a:spcPts val="5599"/>
              </a:lnSpc>
            </a:pPr>
            <a:endParaRPr lang="en-US" sz="3999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A6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374889" y="644839"/>
            <a:ext cx="15597169" cy="8585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12"/>
              </a:lnSpc>
            </a:pPr>
            <a:r>
              <a:rPr lang="en-US" sz="5498">
                <a:solidFill>
                  <a:srgbClr val="131416"/>
                </a:solidFill>
                <a:latin typeface="Horizon"/>
                <a:ea typeface="Horizon"/>
                <a:cs typeface="Horizon"/>
                <a:sym typeface="Horizon"/>
              </a:rPr>
              <a:t>TIPOS DE FALACIAS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213658" y="1427143"/>
            <a:ext cx="16045642" cy="6318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599"/>
              </a:lnSpc>
            </a:pPr>
            <a:r>
              <a:rPr lang="en-US" sz="3999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Dos categorías principales:</a:t>
            </a:r>
          </a:p>
          <a:p>
            <a:pPr marL="1727199" lvl="2" indent="-575733" algn="just">
              <a:lnSpc>
                <a:spcPts val="5599"/>
              </a:lnSpc>
              <a:buFont typeface="Arial"/>
              <a:buChar char="⚬"/>
            </a:pPr>
            <a:r>
              <a:rPr lang="en-US" sz="3999" b="1">
                <a:solidFill>
                  <a:srgbClr val="13141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Falacias de Atingencia: </a:t>
            </a:r>
          </a:p>
          <a:p>
            <a:pPr marL="2590798" lvl="3" indent="-647700" algn="just">
              <a:lnSpc>
                <a:spcPts val="5599"/>
              </a:lnSpc>
              <a:buFont typeface="Arial"/>
              <a:buChar char="￭"/>
            </a:pPr>
            <a:r>
              <a:rPr lang="en-US" sz="3999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No hay relación lógica entre premisas y conclusión</a:t>
            </a:r>
          </a:p>
          <a:p>
            <a:pPr marL="2590798" lvl="3" indent="-647700" algn="just">
              <a:lnSpc>
                <a:spcPts val="5599"/>
              </a:lnSpc>
              <a:buFont typeface="Arial"/>
              <a:buChar char="￭"/>
            </a:pPr>
            <a:r>
              <a:rPr lang="en-US" sz="3999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Conexión psicológica engañosa</a:t>
            </a:r>
          </a:p>
          <a:p>
            <a:pPr algn="just">
              <a:lnSpc>
                <a:spcPts val="5599"/>
              </a:lnSpc>
            </a:pPr>
            <a:endParaRPr lang="en-US" sz="3999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1727199" lvl="2" indent="-575733" algn="just">
              <a:lnSpc>
                <a:spcPts val="5599"/>
              </a:lnSpc>
              <a:buFont typeface="Arial"/>
              <a:buChar char="⚬"/>
            </a:pPr>
            <a:r>
              <a:rPr lang="en-US" sz="3999" b="1">
                <a:solidFill>
                  <a:srgbClr val="13141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Falacias de Ambigüedad:</a:t>
            </a:r>
          </a:p>
          <a:p>
            <a:pPr marL="2590798" lvl="3" indent="-647700" algn="just">
              <a:lnSpc>
                <a:spcPts val="5599"/>
              </a:lnSpc>
              <a:buFont typeface="Arial"/>
              <a:buChar char="￭"/>
            </a:pPr>
            <a:r>
              <a:rPr lang="en-US" sz="3999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Términos cambian de significado</a:t>
            </a:r>
          </a:p>
          <a:p>
            <a:pPr marL="2590798" lvl="3" indent="-647700" algn="just">
              <a:lnSpc>
                <a:spcPts val="5599"/>
              </a:lnSpc>
              <a:buFont typeface="Arial"/>
              <a:buChar char="￭"/>
            </a:pPr>
            <a:r>
              <a:rPr lang="en-US" sz="3999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Construcciones gramaticales poco claras</a:t>
            </a:r>
          </a:p>
          <a:p>
            <a:pPr algn="just">
              <a:lnSpc>
                <a:spcPts val="5599"/>
              </a:lnSpc>
            </a:pPr>
            <a:endParaRPr lang="en-US" sz="3999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A6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109810" y="2441520"/>
            <a:ext cx="7149490" cy="4915275"/>
          </a:xfrm>
          <a:custGeom>
            <a:avLst/>
            <a:gdLst/>
            <a:ahLst/>
            <a:cxnLst/>
            <a:rect l="l" t="t" r="r" b="b"/>
            <a:pathLst>
              <a:path w="7149490" h="4915275">
                <a:moveTo>
                  <a:pt x="0" y="0"/>
                </a:moveTo>
                <a:lnTo>
                  <a:pt x="7149490" y="0"/>
                </a:lnTo>
                <a:lnTo>
                  <a:pt x="7149490" y="4915275"/>
                </a:lnTo>
                <a:lnTo>
                  <a:pt x="0" y="49152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GT"/>
          </a:p>
        </p:txBody>
      </p:sp>
      <p:sp>
        <p:nvSpPr>
          <p:cNvPr id="3" name="TextBox 3"/>
          <p:cNvSpPr txBox="1"/>
          <p:nvPr/>
        </p:nvSpPr>
        <p:spPr>
          <a:xfrm>
            <a:off x="1374889" y="644839"/>
            <a:ext cx="15597169" cy="8585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12"/>
              </a:lnSpc>
            </a:pPr>
            <a:r>
              <a:rPr lang="en-US" sz="5498">
                <a:solidFill>
                  <a:srgbClr val="131416"/>
                </a:solidFill>
                <a:latin typeface="Horizon"/>
                <a:ea typeface="Horizon"/>
                <a:cs typeface="Horizon"/>
                <a:sym typeface="Horizon"/>
              </a:rPr>
              <a:t>FALACIAS DE ATINGENCIA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579469" y="1986143"/>
            <a:ext cx="8022771" cy="57784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97698" lvl="1" indent="-298849" algn="just">
              <a:lnSpc>
                <a:spcPts val="3875"/>
              </a:lnSpc>
              <a:buAutoNum type="arabicPeriod"/>
            </a:pPr>
            <a:r>
              <a:rPr lang="en-US" sz="2768" b="1">
                <a:solidFill>
                  <a:srgbClr val="13141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Ad Hominem (Contra la persona)</a:t>
            </a:r>
          </a:p>
          <a:p>
            <a:pPr algn="just">
              <a:lnSpc>
                <a:spcPts val="3875"/>
              </a:lnSpc>
            </a:pPr>
            <a:r>
              <a:rPr lang="en-US" sz="2768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Se ataca a la persona, no sus ideas</a:t>
            </a:r>
          </a:p>
          <a:p>
            <a:pPr algn="just">
              <a:lnSpc>
                <a:spcPts val="3875"/>
              </a:lnSpc>
            </a:pPr>
            <a:endParaRPr lang="en-US" sz="2768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597698" lvl="1" indent="-298849" algn="just">
              <a:lnSpc>
                <a:spcPts val="3875"/>
              </a:lnSpc>
              <a:buFont typeface="Arial"/>
              <a:buChar char="•"/>
            </a:pPr>
            <a:r>
              <a:rPr lang="en-US" sz="2768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Ejemplo: "No puedes creer en su propuesta, ¡es un alcohólico!"</a:t>
            </a:r>
          </a:p>
          <a:p>
            <a:pPr algn="just">
              <a:lnSpc>
                <a:spcPts val="3875"/>
              </a:lnSpc>
            </a:pPr>
            <a:endParaRPr lang="en-US" sz="2768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just">
              <a:lnSpc>
                <a:spcPts val="3875"/>
              </a:lnSpc>
            </a:pPr>
            <a:r>
              <a:rPr lang="en-US" sz="2768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  2.</a:t>
            </a:r>
            <a:r>
              <a:rPr lang="en-US" sz="2768" b="1">
                <a:solidFill>
                  <a:srgbClr val="13141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Ad Baculum (Apelación a la fuerza)</a:t>
            </a:r>
          </a:p>
          <a:p>
            <a:pPr algn="just">
              <a:lnSpc>
                <a:spcPts val="3875"/>
              </a:lnSpc>
            </a:pPr>
            <a:r>
              <a:rPr lang="en-US" sz="2768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Uso de amenazas</a:t>
            </a:r>
          </a:p>
          <a:p>
            <a:pPr algn="just">
              <a:lnSpc>
                <a:spcPts val="3875"/>
              </a:lnSpc>
            </a:pPr>
            <a:endParaRPr lang="en-US" sz="2768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597698" lvl="1" indent="-298849" algn="just">
              <a:lnSpc>
                <a:spcPts val="3875"/>
              </a:lnSpc>
              <a:buFont typeface="Arial"/>
              <a:buChar char="•"/>
            </a:pPr>
            <a:r>
              <a:rPr lang="en-US" sz="2768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Ejemplo: "¿Quieres aprobar? Conviene que te portes bien"</a:t>
            </a:r>
          </a:p>
          <a:p>
            <a:pPr algn="just">
              <a:lnSpc>
                <a:spcPts val="3875"/>
              </a:lnSpc>
            </a:pPr>
            <a:endParaRPr lang="en-US" sz="2768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A6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345178" y="2033768"/>
            <a:ext cx="6914122" cy="5440860"/>
          </a:xfrm>
          <a:custGeom>
            <a:avLst/>
            <a:gdLst/>
            <a:ahLst/>
            <a:cxnLst/>
            <a:rect l="l" t="t" r="r" b="b"/>
            <a:pathLst>
              <a:path w="6914122" h="5440860">
                <a:moveTo>
                  <a:pt x="0" y="0"/>
                </a:moveTo>
                <a:lnTo>
                  <a:pt x="6914122" y="0"/>
                </a:lnTo>
                <a:lnTo>
                  <a:pt x="6914122" y="5440859"/>
                </a:lnTo>
                <a:lnTo>
                  <a:pt x="0" y="544085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GT"/>
          </a:p>
        </p:txBody>
      </p:sp>
      <p:sp>
        <p:nvSpPr>
          <p:cNvPr id="3" name="TextBox 3"/>
          <p:cNvSpPr txBox="1"/>
          <p:nvPr/>
        </p:nvSpPr>
        <p:spPr>
          <a:xfrm>
            <a:off x="1374889" y="644839"/>
            <a:ext cx="15597169" cy="8585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12"/>
              </a:lnSpc>
            </a:pPr>
            <a:r>
              <a:rPr lang="en-US" sz="5498">
                <a:solidFill>
                  <a:srgbClr val="131416"/>
                </a:solidFill>
                <a:latin typeface="Horizon"/>
                <a:ea typeface="Horizon"/>
                <a:cs typeface="Horizon"/>
                <a:sym typeface="Horizon"/>
              </a:rPr>
              <a:t>FALACIAS DE ATINGENCIA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579469" y="1986143"/>
            <a:ext cx="8022771" cy="62923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875"/>
              </a:lnSpc>
            </a:pPr>
            <a:r>
              <a:rPr lang="en-US" sz="2768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3. </a:t>
            </a:r>
            <a:r>
              <a:rPr lang="en-US" sz="2768" b="1">
                <a:solidFill>
                  <a:srgbClr val="13141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Ad Populum (Aceptación popular)</a:t>
            </a:r>
          </a:p>
          <a:p>
            <a:pPr algn="just">
              <a:lnSpc>
                <a:spcPts val="3875"/>
              </a:lnSpc>
            </a:pPr>
            <a:r>
              <a:rPr lang="en-US" sz="2768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"Todo el mundo lo hace"</a:t>
            </a:r>
          </a:p>
          <a:p>
            <a:pPr algn="just">
              <a:lnSpc>
                <a:spcPts val="3875"/>
              </a:lnSpc>
            </a:pPr>
            <a:endParaRPr lang="en-US" sz="2768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597698" lvl="1" indent="-298849" algn="just">
              <a:lnSpc>
                <a:spcPts val="3875"/>
              </a:lnSpc>
              <a:buFont typeface="Arial"/>
              <a:buChar char="•"/>
            </a:pPr>
            <a:r>
              <a:rPr lang="en-US" sz="2768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Ejemplo: "Usa estos productos de belleza, ¡todas las mujeres modernas los usan!"</a:t>
            </a:r>
          </a:p>
          <a:p>
            <a:pPr algn="just">
              <a:lnSpc>
                <a:spcPts val="3875"/>
              </a:lnSpc>
            </a:pPr>
            <a:endParaRPr lang="en-US" sz="2768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just">
              <a:lnSpc>
                <a:spcPts val="3875"/>
              </a:lnSpc>
            </a:pPr>
            <a:r>
              <a:rPr lang="en-US" sz="2768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4. </a:t>
            </a:r>
            <a:r>
              <a:rPr lang="en-US" sz="2768" b="1">
                <a:solidFill>
                  <a:srgbClr val="13141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Ad Verecundiam (Apelación a la autoridad)</a:t>
            </a:r>
          </a:p>
          <a:p>
            <a:pPr algn="just">
              <a:lnSpc>
                <a:spcPts val="3875"/>
              </a:lnSpc>
            </a:pPr>
            <a:r>
              <a:rPr lang="en-US" sz="2768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Citar autoridad fuera de su campo</a:t>
            </a:r>
          </a:p>
          <a:p>
            <a:pPr algn="just">
              <a:lnSpc>
                <a:spcPts val="3875"/>
              </a:lnSpc>
            </a:pPr>
            <a:endParaRPr lang="en-US" sz="2768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597698" lvl="1" indent="-298849" algn="just">
              <a:lnSpc>
                <a:spcPts val="3875"/>
              </a:lnSpc>
              <a:buFont typeface="Arial"/>
              <a:buChar char="•"/>
            </a:pPr>
            <a:r>
              <a:rPr lang="en-US" sz="2768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Ejemplo: "Einstein apoya esta política, ¡debe ser correcta!"</a:t>
            </a:r>
          </a:p>
          <a:p>
            <a:pPr algn="just">
              <a:lnSpc>
                <a:spcPts val="3875"/>
              </a:lnSpc>
            </a:pPr>
            <a:endParaRPr lang="en-US" sz="2768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just">
              <a:lnSpc>
                <a:spcPts val="3875"/>
              </a:lnSpc>
            </a:pPr>
            <a:endParaRPr lang="en-US" sz="2768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A6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281964" y="2102656"/>
            <a:ext cx="5690094" cy="5690094"/>
          </a:xfrm>
          <a:custGeom>
            <a:avLst/>
            <a:gdLst/>
            <a:ahLst/>
            <a:cxnLst/>
            <a:rect l="l" t="t" r="r" b="b"/>
            <a:pathLst>
              <a:path w="5690094" h="5690094">
                <a:moveTo>
                  <a:pt x="0" y="0"/>
                </a:moveTo>
                <a:lnTo>
                  <a:pt x="5690094" y="0"/>
                </a:lnTo>
                <a:lnTo>
                  <a:pt x="5690094" y="5690094"/>
                </a:lnTo>
                <a:lnTo>
                  <a:pt x="0" y="56900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GT"/>
          </a:p>
        </p:txBody>
      </p:sp>
      <p:sp>
        <p:nvSpPr>
          <p:cNvPr id="3" name="TextBox 3"/>
          <p:cNvSpPr txBox="1"/>
          <p:nvPr/>
        </p:nvSpPr>
        <p:spPr>
          <a:xfrm>
            <a:off x="1374889" y="644839"/>
            <a:ext cx="15597169" cy="8585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12"/>
              </a:lnSpc>
            </a:pPr>
            <a:r>
              <a:rPr lang="en-US" sz="5498">
                <a:solidFill>
                  <a:srgbClr val="131416"/>
                </a:solidFill>
                <a:latin typeface="Horizon"/>
                <a:ea typeface="Horizon"/>
                <a:cs typeface="Horizon"/>
                <a:sym typeface="Horizon"/>
              </a:rPr>
              <a:t>FALACIAS DE AMBIGÜEDAD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579469" y="1986143"/>
            <a:ext cx="8022771" cy="5806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875"/>
              </a:lnSpc>
            </a:pPr>
            <a:r>
              <a:rPr lang="en-US" sz="2768" b="1">
                <a:solidFill>
                  <a:srgbClr val="13141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1. Equívoco</a:t>
            </a:r>
          </a:p>
          <a:p>
            <a:pPr algn="just">
              <a:lnSpc>
                <a:spcPts val="3875"/>
              </a:lnSpc>
            </a:pPr>
            <a:r>
              <a:rPr lang="en-US" sz="2768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Un término con múltiples significados</a:t>
            </a:r>
          </a:p>
          <a:p>
            <a:pPr algn="just">
              <a:lnSpc>
                <a:spcPts val="3875"/>
              </a:lnSpc>
            </a:pPr>
            <a:endParaRPr lang="en-US" sz="2768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597698" lvl="1" indent="-298849" algn="just">
              <a:lnSpc>
                <a:spcPts val="3875"/>
              </a:lnSpc>
              <a:buFont typeface="Arial"/>
              <a:buChar char="•"/>
            </a:pPr>
            <a:r>
              <a:rPr lang="en-US" sz="2768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Ejemplo: "El pez martillo debe ser industrioso porque usa herramientas"</a:t>
            </a:r>
          </a:p>
          <a:p>
            <a:pPr algn="just">
              <a:lnSpc>
                <a:spcPts val="3875"/>
              </a:lnSpc>
            </a:pPr>
            <a:endParaRPr lang="en-US" sz="2768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just">
              <a:lnSpc>
                <a:spcPts val="3875"/>
              </a:lnSpc>
            </a:pPr>
            <a:r>
              <a:rPr lang="en-US" sz="2768" b="1">
                <a:solidFill>
                  <a:srgbClr val="13141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2. Anfibología</a:t>
            </a:r>
          </a:p>
          <a:p>
            <a:pPr algn="just">
              <a:lnSpc>
                <a:spcPts val="3875"/>
              </a:lnSpc>
            </a:pPr>
            <a:r>
              <a:rPr lang="en-US" sz="2768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Estructura gramatical ambigua</a:t>
            </a:r>
          </a:p>
          <a:p>
            <a:pPr algn="just">
              <a:lnSpc>
                <a:spcPts val="3875"/>
              </a:lnSpc>
            </a:pPr>
            <a:endParaRPr lang="en-US" sz="2768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597698" lvl="1" indent="-298849" algn="just">
              <a:lnSpc>
                <a:spcPts val="3875"/>
              </a:lnSpc>
              <a:buFont typeface="Arial"/>
              <a:buChar char="•"/>
            </a:pPr>
            <a:r>
              <a:rPr lang="en-US" sz="2768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Ejemplo: "Aristóteles le dijo a Platón que era un buen filósofo" (¿Quién es bueno?)</a:t>
            </a:r>
          </a:p>
          <a:p>
            <a:pPr algn="just">
              <a:lnSpc>
                <a:spcPts val="3875"/>
              </a:lnSpc>
            </a:pPr>
            <a:endParaRPr lang="en-US" sz="2768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A6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234527" y="2033768"/>
            <a:ext cx="6024773" cy="6024773"/>
          </a:xfrm>
          <a:custGeom>
            <a:avLst/>
            <a:gdLst/>
            <a:ahLst/>
            <a:cxnLst/>
            <a:rect l="l" t="t" r="r" b="b"/>
            <a:pathLst>
              <a:path w="6024773" h="6024773">
                <a:moveTo>
                  <a:pt x="0" y="0"/>
                </a:moveTo>
                <a:lnTo>
                  <a:pt x="6024773" y="0"/>
                </a:lnTo>
                <a:lnTo>
                  <a:pt x="6024773" y="6024773"/>
                </a:lnTo>
                <a:lnTo>
                  <a:pt x="0" y="60247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GT"/>
          </a:p>
        </p:txBody>
      </p:sp>
      <p:sp>
        <p:nvSpPr>
          <p:cNvPr id="3" name="TextBox 3"/>
          <p:cNvSpPr txBox="1"/>
          <p:nvPr/>
        </p:nvSpPr>
        <p:spPr>
          <a:xfrm>
            <a:off x="1374889" y="644839"/>
            <a:ext cx="15597169" cy="8585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12"/>
              </a:lnSpc>
            </a:pPr>
            <a:r>
              <a:rPr lang="en-US" sz="5498">
                <a:solidFill>
                  <a:srgbClr val="131416"/>
                </a:solidFill>
                <a:latin typeface="Horizon"/>
                <a:ea typeface="Horizon"/>
                <a:cs typeface="Horizon"/>
                <a:sym typeface="Horizon"/>
              </a:rPr>
              <a:t>¿QUÉ ES UN PARADIGMA?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579469" y="1986143"/>
            <a:ext cx="8022771" cy="62923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875"/>
              </a:lnSpc>
            </a:pPr>
            <a:r>
              <a:rPr lang="en-US" sz="2768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Del griego paradigma: "modelo, patrón, ejemplo"</a:t>
            </a:r>
          </a:p>
          <a:p>
            <a:pPr algn="just">
              <a:lnSpc>
                <a:spcPts val="3875"/>
              </a:lnSpc>
            </a:pPr>
            <a:endParaRPr lang="en-US" sz="2768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just">
              <a:lnSpc>
                <a:spcPts val="3875"/>
              </a:lnSpc>
            </a:pPr>
            <a:r>
              <a:rPr lang="en-US" sz="2768" b="1">
                <a:solidFill>
                  <a:srgbClr val="13141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Función:</a:t>
            </a:r>
          </a:p>
          <a:p>
            <a:pPr marL="597698" lvl="1" indent="-298849" algn="just">
              <a:lnSpc>
                <a:spcPts val="3875"/>
              </a:lnSpc>
              <a:buFont typeface="Arial"/>
              <a:buChar char="•"/>
            </a:pPr>
            <a:r>
              <a:rPr lang="en-US" sz="2768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Establece límites</a:t>
            </a:r>
          </a:p>
          <a:p>
            <a:pPr marL="597698" lvl="1" indent="-298849" algn="just">
              <a:lnSpc>
                <a:spcPts val="3875"/>
              </a:lnSpc>
              <a:buFont typeface="Arial"/>
              <a:buChar char="•"/>
            </a:pPr>
            <a:r>
              <a:rPr lang="en-US" sz="2768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Define cómo comportarse dentro de esos límites</a:t>
            </a:r>
          </a:p>
          <a:p>
            <a:pPr marL="597698" lvl="1" indent="-298849" algn="just">
              <a:lnSpc>
                <a:spcPts val="3875"/>
              </a:lnSpc>
              <a:buFont typeface="Arial"/>
              <a:buChar char="•"/>
            </a:pPr>
            <a:r>
              <a:rPr lang="en-US" sz="2768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Son los "anteojos" con los que vemos la realidad</a:t>
            </a:r>
          </a:p>
          <a:p>
            <a:pPr algn="just">
              <a:lnSpc>
                <a:spcPts val="3875"/>
              </a:lnSpc>
            </a:pPr>
            <a:endParaRPr lang="en-US" sz="2768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just">
              <a:lnSpc>
                <a:spcPts val="3875"/>
              </a:lnSpc>
            </a:pPr>
            <a:r>
              <a:rPr lang="en-US" sz="2768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"Todo es según el color del cristal con que se mira"</a:t>
            </a:r>
          </a:p>
          <a:p>
            <a:pPr algn="just">
              <a:lnSpc>
                <a:spcPts val="3875"/>
              </a:lnSpc>
            </a:pPr>
            <a:endParaRPr lang="en-US" sz="2768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A6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442660" y="2033768"/>
            <a:ext cx="6816640" cy="5112480"/>
          </a:xfrm>
          <a:custGeom>
            <a:avLst/>
            <a:gdLst/>
            <a:ahLst/>
            <a:cxnLst/>
            <a:rect l="l" t="t" r="r" b="b"/>
            <a:pathLst>
              <a:path w="6816640" h="5112480">
                <a:moveTo>
                  <a:pt x="0" y="0"/>
                </a:moveTo>
                <a:lnTo>
                  <a:pt x="6816640" y="0"/>
                </a:lnTo>
                <a:lnTo>
                  <a:pt x="6816640" y="5112479"/>
                </a:lnTo>
                <a:lnTo>
                  <a:pt x="0" y="51124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GT"/>
          </a:p>
        </p:txBody>
      </p:sp>
      <p:sp>
        <p:nvSpPr>
          <p:cNvPr id="3" name="TextBox 3"/>
          <p:cNvSpPr txBox="1"/>
          <p:nvPr/>
        </p:nvSpPr>
        <p:spPr>
          <a:xfrm>
            <a:off x="1374889" y="644839"/>
            <a:ext cx="15597169" cy="8585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12"/>
              </a:lnSpc>
            </a:pPr>
            <a:r>
              <a:rPr lang="en-US" sz="5498">
                <a:solidFill>
                  <a:srgbClr val="131416"/>
                </a:solidFill>
                <a:latin typeface="Horizon"/>
                <a:ea typeface="Horizon"/>
                <a:cs typeface="Horizon"/>
                <a:sym typeface="Horizon"/>
              </a:rPr>
              <a:t>PARADIGMAS VS PRINCIPIOS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579469" y="1986143"/>
            <a:ext cx="8022771" cy="53208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875"/>
              </a:lnSpc>
            </a:pPr>
            <a:r>
              <a:rPr lang="en-US" sz="2768" b="1">
                <a:solidFill>
                  <a:srgbClr val="13141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Principios:</a:t>
            </a:r>
          </a:p>
          <a:p>
            <a:pPr marL="597698" lvl="1" indent="-298849" algn="just">
              <a:lnSpc>
                <a:spcPts val="3875"/>
              </a:lnSpc>
              <a:buFont typeface="Arial"/>
              <a:buChar char="•"/>
            </a:pPr>
            <a:r>
              <a:rPr lang="en-US" sz="2768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Universales y eternos</a:t>
            </a:r>
          </a:p>
          <a:p>
            <a:pPr marL="597698" lvl="1" indent="-298849" algn="just">
              <a:lnSpc>
                <a:spcPts val="3875"/>
              </a:lnSpc>
              <a:buFont typeface="Arial"/>
              <a:buChar char="•"/>
            </a:pPr>
            <a:r>
              <a:rPr lang="en-US" sz="2768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Externos a nosotros</a:t>
            </a:r>
          </a:p>
          <a:p>
            <a:pPr marL="597698" lvl="1" indent="-298849" algn="just">
              <a:lnSpc>
                <a:spcPts val="3875"/>
              </a:lnSpc>
              <a:buFont typeface="Arial"/>
              <a:buChar char="•"/>
            </a:pPr>
            <a:r>
              <a:rPr lang="en-US" sz="2768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Ejemplo: Ley de gravedad</a:t>
            </a:r>
          </a:p>
          <a:p>
            <a:pPr algn="just">
              <a:lnSpc>
                <a:spcPts val="3875"/>
              </a:lnSpc>
            </a:pPr>
            <a:endParaRPr lang="en-US" sz="2768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just">
              <a:lnSpc>
                <a:spcPts val="3875"/>
              </a:lnSpc>
            </a:pPr>
            <a:r>
              <a:rPr lang="en-US" sz="2768" b="1">
                <a:solidFill>
                  <a:srgbClr val="13141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Paradigmas:</a:t>
            </a:r>
          </a:p>
          <a:p>
            <a:pPr marL="597698" lvl="1" indent="-298849" algn="just">
              <a:lnSpc>
                <a:spcPts val="3875"/>
              </a:lnSpc>
              <a:buFont typeface="Arial"/>
              <a:buChar char="•"/>
            </a:pPr>
            <a:r>
              <a:rPr lang="en-US" sz="2768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Cambian en tiempo y espacio</a:t>
            </a:r>
          </a:p>
          <a:p>
            <a:pPr marL="597698" lvl="1" indent="-298849" algn="just">
              <a:lnSpc>
                <a:spcPts val="3875"/>
              </a:lnSpc>
              <a:buFont typeface="Arial"/>
              <a:buChar char="•"/>
            </a:pPr>
            <a:r>
              <a:rPr lang="en-US" sz="2768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Internos y personales</a:t>
            </a:r>
          </a:p>
          <a:p>
            <a:pPr marL="597698" lvl="1" indent="-298849" algn="just">
              <a:lnSpc>
                <a:spcPts val="3875"/>
              </a:lnSpc>
              <a:buFont typeface="Arial"/>
              <a:buChar char="•"/>
            </a:pPr>
            <a:r>
              <a:rPr lang="en-US" sz="2768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Ejemplo: Cómo interpretamos la gravedad en diferentes contextos</a:t>
            </a:r>
          </a:p>
          <a:p>
            <a:pPr algn="just">
              <a:lnSpc>
                <a:spcPts val="3875"/>
              </a:lnSpc>
            </a:pPr>
            <a:endParaRPr lang="en-US" sz="2768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A6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374889" y="644839"/>
            <a:ext cx="15597169" cy="7873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47"/>
              </a:lnSpc>
            </a:pPr>
            <a:r>
              <a:rPr lang="en-US" sz="4998">
                <a:solidFill>
                  <a:srgbClr val="131416"/>
                </a:solidFill>
                <a:latin typeface="Horizon"/>
                <a:ea typeface="Horizon"/>
                <a:cs typeface="Horizon"/>
                <a:sym typeface="Horizon"/>
              </a:rPr>
              <a:t>FUENTES DE LOS PARADIGMAS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579469" y="1986143"/>
            <a:ext cx="8022771" cy="43492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875"/>
              </a:lnSpc>
            </a:pPr>
            <a:r>
              <a:rPr lang="en-US" sz="2768" b="1">
                <a:solidFill>
                  <a:srgbClr val="13141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Aspectos internos y externos:</a:t>
            </a:r>
          </a:p>
          <a:p>
            <a:pPr marL="597698" lvl="1" indent="-298849" algn="just">
              <a:lnSpc>
                <a:spcPts val="3875"/>
              </a:lnSpc>
              <a:buAutoNum type="arabicPeriod"/>
            </a:pPr>
            <a:r>
              <a:rPr lang="en-US" sz="2768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Biología - Sistema nervioso y limitaciones fisiológicas</a:t>
            </a:r>
          </a:p>
          <a:p>
            <a:pPr marL="597698" lvl="1" indent="-298849" algn="just">
              <a:lnSpc>
                <a:spcPts val="3875"/>
              </a:lnSpc>
              <a:buAutoNum type="arabicPeriod"/>
            </a:pPr>
            <a:r>
              <a:rPr lang="en-US" sz="2768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Lenguaje - Categorías lingüísticas que pre-condicionan la percepción</a:t>
            </a:r>
          </a:p>
          <a:p>
            <a:pPr marL="597698" lvl="1" indent="-298849" algn="just">
              <a:lnSpc>
                <a:spcPts val="3875"/>
              </a:lnSpc>
              <a:buAutoNum type="arabicPeriod"/>
            </a:pPr>
            <a:r>
              <a:rPr lang="en-US" sz="2768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Cultura - Modelo mental colectivo del grupo</a:t>
            </a:r>
          </a:p>
          <a:p>
            <a:pPr marL="597698" lvl="1" indent="-298849" algn="just">
              <a:lnSpc>
                <a:spcPts val="3875"/>
              </a:lnSpc>
              <a:buAutoNum type="arabicPeriod"/>
            </a:pPr>
            <a:r>
              <a:rPr lang="en-US" sz="2768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Historia Personal - Experiencias individuales únicas</a:t>
            </a:r>
          </a:p>
          <a:p>
            <a:pPr algn="just">
              <a:lnSpc>
                <a:spcPts val="3875"/>
              </a:lnSpc>
            </a:pPr>
            <a:endParaRPr lang="en-US" sz="2768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10924390" y="2122871"/>
            <a:ext cx="6180797" cy="4123450"/>
          </a:xfrm>
          <a:custGeom>
            <a:avLst/>
            <a:gdLst/>
            <a:ahLst/>
            <a:cxnLst/>
            <a:rect l="l" t="t" r="r" b="b"/>
            <a:pathLst>
              <a:path w="6180797" h="4123450">
                <a:moveTo>
                  <a:pt x="0" y="0"/>
                </a:moveTo>
                <a:lnTo>
                  <a:pt x="6180798" y="0"/>
                </a:lnTo>
                <a:lnTo>
                  <a:pt x="6180798" y="4123450"/>
                </a:lnTo>
                <a:lnTo>
                  <a:pt x="0" y="41234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GT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A6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114537" y="2657963"/>
            <a:ext cx="7362136" cy="3846716"/>
          </a:xfrm>
          <a:custGeom>
            <a:avLst/>
            <a:gdLst/>
            <a:ahLst/>
            <a:cxnLst/>
            <a:rect l="l" t="t" r="r" b="b"/>
            <a:pathLst>
              <a:path w="7362136" h="3846716">
                <a:moveTo>
                  <a:pt x="0" y="0"/>
                </a:moveTo>
                <a:lnTo>
                  <a:pt x="7362136" y="0"/>
                </a:lnTo>
                <a:lnTo>
                  <a:pt x="7362136" y="3846716"/>
                </a:lnTo>
                <a:lnTo>
                  <a:pt x="0" y="384671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GT"/>
          </a:p>
        </p:txBody>
      </p:sp>
      <p:sp>
        <p:nvSpPr>
          <p:cNvPr id="3" name="TextBox 3"/>
          <p:cNvSpPr txBox="1"/>
          <p:nvPr/>
        </p:nvSpPr>
        <p:spPr>
          <a:xfrm>
            <a:off x="1374889" y="644839"/>
            <a:ext cx="15597169" cy="7873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47"/>
              </a:lnSpc>
            </a:pPr>
            <a:r>
              <a:rPr lang="en-US" sz="4998">
                <a:solidFill>
                  <a:srgbClr val="131416"/>
                </a:solidFill>
                <a:latin typeface="Horizon"/>
                <a:ea typeface="Horizon"/>
                <a:cs typeface="Horizon"/>
                <a:sym typeface="Horizon"/>
              </a:rPr>
              <a:t>IMPACTO DE LA BIOLOGÍA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579469" y="1986143"/>
            <a:ext cx="8022771" cy="5806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875"/>
              </a:lnSpc>
            </a:pPr>
            <a:r>
              <a:rPr lang="en-US" sz="2768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Limitaciones fisiológicas filtran nuestra percepción:</a:t>
            </a:r>
          </a:p>
          <a:p>
            <a:pPr algn="just">
              <a:lnSpc>
                <a:spcPts val="3875"/>
              </a:lnSpc>
            </a:pPr>
            <a:endParaRPr lang="en-US" sz="2768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just">
              <a:lnSpc>
                <a:spcPts val="3875"/>
              </a:lnSpc>
            </a:pPr>
            <a:r>
              <a:rPr lang="en-US" sz="2768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Ejemplo:</a:t>
            </a:r>
          </a:p>
          <a:p>
            <a:pPr marL="597698" lvl="1" indent="-298849" algn="just">
              <a:lnSpc>
                <a:spcPts val="3875"/>
              </a:lnSpc>
              <a:buFont typeface="Arial"/>
              <a:buChar char="•"/>
            </a:pPr>
            <a:r>
              <a:rPr lang="en-US" sz="2768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Oído humano: 20-20,000 Hz</a:t>
            </a:r>
          </a:p>
          <a:p>
            <a:pPr marL="597698" lvl="1" indent="-298849" algn="just">
              <a:lnSpc>
                <a:spcPts val="3875"/>
              </a:lnSpc>
              <a:buFont typeface="Arial"/>
              <a:buChar char="•"/>
            </a:pPr>
            <a:r>
              <a:rPr lang="en-US" sz="2768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Perros: tonos más agudos</a:t>
            </a:r>
          </a:p>
          <a:p>
            <a:pPr marL="597698" lvl="1" indent="-298849" algn="just">
              <a:lnSpc>
                <a:spcPts val="3875"/>
              </a:lnSpc>
              <a:buFont typeface="Arial"/>
              <a:buChar char="•"/>
            </a:pPr>
            <a:r>
              <a:rPr lang="en-US" sz="2768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Elefantes: tonos más graves</a:t>
            </a:r>
          </a:p>
          <a:p>
            <a:pPr algn="just">
              <a:lnSpc>
                <a:spcPts val="3875"/>
              </a:lnSpc>
            </a:pPr>
            <a:endParaRPr lang="en-US" sz="2768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just">
              <a:lnSpc>
                <a:spcPts val="3875"/>
              </a:lnSpc>
            </a:pPr>
            <a:r>
              <a:rPr lang="en-US" sz="2768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Caso del daltonismo: Dos personas ven el mismo paisaje, pero perciben colores diferentes</a:t>
            </a:r>
          </a:p>
          <a:p>
            <a:pPr algn="just">
              <a:lnSpc>
                <a:spcPts val="3875"/>
              </a:lnSpc>
            </a:pPr>
            <a:endParaRPr lang="en-US" sz="2768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just">
              <a:lnSpc>
                <a:spcPts val="3875"/>
              </a:lnSpc>
            </a:pPr>
            <a:endParaRPr lang="en-US" sz="2768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A6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490167" y="2413994"/>
            <a:ext cx="6769133" cy="4512756"/>
          </a:xfrm>
          <a:custGeom>
            <a:avLst/>
            <a:gdLst/>
            <a:ahLst/>
            <a:cxnLst/>
            <a:rect l="l" t="t" r="r" b="b"/>
            <a:pathLst>
              <a:path w="6769133" h="4512756">
                <a:moveTo>
                  <a:pt x="0" y="0"/>
                </a:moveTo>
                <a:lnTo>
                  <a:pt x="6769133" y="0"/>
                </a:lnTo>
                <a:lnTo>
                  <a:pt x="6769133" y="4512755"/>
                </a:lnTo>
                <a:lnTo>
                  <a:pt x="0" y="45127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GT"/>
          </a:p>
        </p:txBody>
      </p:sp>
      <p:sp>
        <p:nvSpPr>
          <p:cNvPr id="3" name="TextBox 3"/>
          <p:cNvSpPr txBox="1"/>
          <p:nvPr/>
        </p:nvSpPr>
        <p:spPr>
          <a:xfrm>
            <a:off x="1374889" y="644839"/>
            <a:ext cx="15597169" cy="7873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47"/>
              </a:lnSpc>
            </a:pPr>
            <a:r>
              <a:rPr lang="en-US" sz="4998">
                <a:solidFill>
                  <a:srgbClr val="131416"/>
                </a:solidFill>
                <a:latin typeface="Horizon"/>
                <a:ea typeface="Horizon"/>
                <a:cs typeface="Horizon"/>
                <a:sym typeface="Horizon"/>
              </a:rPr>
              <a:t>EL LENGUAJE COMO FILTRO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579469" y="1986143"/>
            <a:ext cx="8022771" cy="53208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875"/>
              </a:lnSpc>
            </a:pPr>
            <a:r>
              <a:rPr lang="en-US" sz="2768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"Uno ve sólo aquello de lo que puede hablar"</a:t>
            </a:r>
          </a:p>
          <a:p>
            <a:pPr algn="just">
              <a:lnSpc>
                <a:spcPts val="3875"/>
              </a:lnSpc>
            </a:pPr>
            <a:endParaRPr lang="en-US" sz="2768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just">
              <a:lnSpc>
                <a:spcPts val="3875"/>
              </a:lnSpc>
            </a:pPr>
            <a:r>
              <a:rPr lang="en-US" sz="2768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Ejemplo:</a:t>
            </a:r>
          </a:p>
          <a:p>
            <a:pPr marL="597698" lvl="1" indent="-298849" algn="just">
              <a:lnSpc>
                <a:spcPts val="3875"/>
              </a:lnSpc>
              <a:buFont typeface="Arial"/>
              <a:buChar char="•"/>
            </a:pPr>
            <a:r>
              <a:rPr lang="en-US" sz="2768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Un contador ve patrones en un balance que un ingeniero no puede interpretar</a:t>
            </a:r>
          </a:p>
          <a:p>
            <a:pPr marL="597698" lvl="1" indent="-298849" algn="just">
              <a:lnSpc>
                <a:spcPts val="3875"/>
              </a:lnSpc>
              <a:buFont typeface="Arial"/>
              <a:buChar char="•"/>
            </a:pPr>
            <a:r>
              <a:rPr lang="en-US" sz="2768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Un ingeniero lee ecuaciones que un contador no comprende</a:t>
            </a:r>
          </a:p>
          <a:p>
            <a:pPr algn="just">
              <a:lnSpc>
                <a:spcPts val="3875"/>
              </a:lnSpc>
            </a:pPr>
            <a:endParaRPr lang="en-US" sz="2768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just">
              <a:lnSpc>
                <a:spcPts val="3875"/>
              </a:lnSpc>
            </a:pPr>
            <a:r>
              <a:rPr lang="en-US" sz="2768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Las distinciones del lenguaje determinan nuestra "inteligencia"</a:t>
            </a:r>
          </a:p>
          <a:p>
            <a:pPr algn="just">
              <a:lnSpc>
                <a:spcPts val="3875"/>
              </a:lnSpc>
            </a:pPr>
            <a:endParaRPr lang="en-US" sz="2768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A6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180350" y="1727190"/>
            <a:ext cx="7511530" cy="6065561"/>
          </a:xfrm>
          <a:custGeom>
            <a:avLst/>
            <a:gdLst/>
            <a:ahLst/>
            <a:cxnLst/>
            <a:rect l="l" t="t" r="r" b="b"/>
            <a:pathLst>
              <a:path w="7511530" h="6065561">
                <a:moveTo>
                  <a:pt x="0" y="0"/>
                </a:moveTo>
                <a:lnTo>
                  <a:pt x="7511530" y="0"/>
                </a:lnTo>
                <a:lnTo>
                  <a:pt x="7511530" y="6065560"/>
                </a:lnTo>
                <a:lnTo>
                  <a:pt x="0" y="60655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GT"/>
          </a:p>
        </p:txBody>
      </p:sp>
      <p:sp>
        <p:nvSpPr>
          <p:cNvPr id="3" name="TextBox 3"/>
          <p:cNvSpPr txBox="1"/>
          <p:nvPr/>
        </p:nvSpPr>
        <p:spPr>
          <a:xfrm>
            <a:off x="1374889" y="644839"/>
            <a:ext cx="15597169" cy="7873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47"/>
              </a:lnSpc>
            </a:pPr>
            <a:r>
              <a:rPr lang="en-US" sz="4998">
                <a:solidFill>
                  <a:srgbClr val="131416"/>
                </a:solidFill>
                <a:latin typeface="Horizon"/>
                <a:ea typeface="Horizon"/>
                <a:cs typeface="Horizon"/>
                <a:sym typeface="Horizon"/>
              </a:rPr>
              <a:t>CULTURA E HISTORIA PERSONAL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579469" y="1986143"/>
            <a:ext cx="8022771" cy="5806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875"/>
              </a:lnSpc>
            </a:pPr>
            <a:r>
              <a:rPr lang="en-US" sz="2768" b="1">
                <a:solidFill>
                  <a:srgbClr val="13141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Cultura:</a:t>
            </a:r>
          </a:p>
          <a:p>
            <a:pPr marL="597698" lvl="1" indent="-298849" algn="just">
              <a:lnSpc>
                <a:spcPts val="3875"/>
              </a:lnSpc>
              <a:buFont typeface="Arial"/>
              <a:buChar char="•"/>
            </a:pPr>
            <a:r>
              <a:rPr lang="en-US" sz="2768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Modelo mental colectivo</a:t>
            </a:r>
          </a:p>
          <a:p>
            <a:pPr marL="597698" lvl="1" indent="-298849" algn="just">
              <a:lnSpc>
                <a:spcPts val="3875"/>
              </a:lnSpc>
              <a:buFont typeface="Arial"/>
              <a:buChar char="•"/>
            </a:pPr>
            <a:r>
              <a:rPr lang="en-US" sz="2768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"La forma correcta de percibir, pensar y sentir"</a:t>
            </a:r>
          </a:p>
          <a:p>
            <a:pPr marL="597698" lvl="1" indent="-298849" algn="just">
              <a:lnSpc>
                <a:spcPts val="3875"/>
              </a:lnSpc>
              <a:buFont typeface="Arial"/>
              <a:buChar char="•"/>
            </a:pPr>
            <a:r>
              <a:rPr lang="en-US" sz="2768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Puede ser limitante en tiempos de cambio</a:t>
            </a:r>
          </a:p>
          <a:p>
            <a:pPr algn="just">
              <a:lnSpc>
                <a:spcPts val="3875"/>
              </a:lnSpc>
            </a:pPr>
            <a:endParaRPr lang="en-US" sz="2768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just">
              <a:lnSpc>
                <a:spcPts val="3875"/>
              </a:lnSpc>
            </a:pPr>
            <a:r>
              <a:rPr lang="en-US" sz="2768" b="1">
                <a:solidFill>
                  <a:srgbClr val="13141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Historia Personal:</a:t>
            </a:r>
          </a:p>
          <a:p>
            <a:pPr marL="597698" lvl="1" indent="-298849" algn="just">
              <a:lnSpc>
                <a:spcPts val="3875"/>
              </a:lnSpc>
              <a:buFont typeface="Arial"/>
              <a:buChar char="•"/>
            </a:pPr>
            <a:r>
              <a:rPr lang="en-US" sz="2768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Experiencias desde la infancia</a:t>
            </a:r>
          </a:p>
          <a:p>
            <a:pPr marL="597698" lvl="1" indent="-298849" algn="just">
              <a:lnSpc>
                <a:spcPts val="3875"/>
              </a:lnSpc>
              <a:buFont typeface="Arial"/>
              <a:buChar char="•"/>
            </a:pPr>
            <a:r>
              <a:rPr lang="en-US" sz="2768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Creencias arraigadas: "Los ricos son explotadores"</a:t>
            </a:r>
          </a:p>
          <a:p>
            <a:pPr marL="597698" lvl="1" indent="-298849" algn="just">
              <a:lnSpc>
                <a:spcPts val="3875"/>
              </a:lnSpc>
              <a:buFont typeface="Arial"/>
              <a:buChar char="•"/>
            </a:pPr>
            <a:r>
              <a:rPr lang="en-US" sz="2768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Proyecta el pasado hacia el presente/futuro</a:t>
            </a:r>
          </a:p>
          <a:p>
            <a:pPr algn="just">
              <a:lnSpc>
                <a:spcPts val="3875"/>
              </a:lnSpc>
            </a:pPr>
            <a:endParaRPr lang="en-US" sz="2768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A6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334023" y="2887091"/>
            <a:ext cx="7223288" cy="4063100"/>
          </a:xfrm>
          <a:custGeom>
            <a:avLst/>
            <a:gdLst/>
            <a:ahLst/>
            <a:cxnLst/>
            <a:rect l="l" t="t" r="r" b="b"/>
            <a:pathLst>
              <a:path w="7223288" h="4063100">
                <a:moveTo>
                  <a:pt x="0" y="0"/>
                </a:moveTo>
                <a:lnTo>
                  <a:pt x="7223288" y="0"/>
                </a:lnTo>
                <a:lnTo>
                  <a:pt x="7223288" y="4063099"/>
                </a:lnTo>
                <a:lnTo>
                  <a:pt x="0" y="40630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GT"/>
          </a:p>
        </p:txBody>
      </p:sp>
      <p:sp>
        <p:nvSpPr>
          <p:cNvPr id="3" name="TextBox 3"/>
          <p:cNvSpPr txBox="1"/>
          <p:nvPr/>
        </p:nvSpPr>
        <p:spPr>
          <a:xfrm>
            <a:off x="1374889" y="644839"/>
            <a:ext cx="15597169" cy="7873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47"/>
              </a:lnSpc>
            </a:pPr>
            <a:r>
              <a:rPr lang="en-US" sz="4998">
                <a:solidFill>
                  <a:srgbClr val="131416"/>
                </a:solidFill>
                <a:latin typeface="Horizon"/>
                <a:ea typeface="Horizon"/>
                <a:cs typeface="Horizon"/>
                <a:sym typeface="Horizon"/>
              </a:rPr>
              <a:t>CAMBIOS DE PARADIGMA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579469" y="1986143"/>
            <a:ext cx="8022771" cy="48350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875"/>
              </a:lnSpc>
            </a:pPr>
            <a:r>
              <a:rPr lang="en-US" sz="2768" b="1">
                <a:solidFill>
                  <a:srgbClr val="13141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Ejemplos históricos:</a:t>
            </a:r>
          </a:p>
          <a:p>
            <a:pPr algn="just">
              <a:lnSpc>
                <a:spcPts val="3875"/>
              </a:lnSpc>
            </a:pPr>
            <a:endParaRPr lang="en-US" sz="2768" b="1">
              <a:solidFill>
                <a:srgbClr val="131416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  <a:p>
            <a:pPr marL="597698" lvl="1" indent="-298849" algn="just">
              <a:lnSpc>
                <a:spcPts val="3875"/>
              </a:lnSpc>
              <a:buFont typeface="Arial"/>
              <a:buChar char="•"/>
            </a:pPr>
            <a:r>
              <a:rPr lang="en-US" sz="2768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Tierra plana → Tierra redonda</a:t>
            </a:r>
          </a:p>
          <a:p>
            <a:pPr marL="597698" lvl="1" indent="-298849" algn="just">
              <a:lnSpc>
                <a:spcPts val="3875"/>
              </a:lnSpc>
              <a:buFont typeface="Arial"/>
              <a:buChar char="•"/>
            </a:pPr>
            <a:r>
              <a:rPr lang="en-US" sz="2768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Tierra centro del universo → Sol centro del sistema</a:t>
            </a:r>
          </a:p>
          <a:p>
            <a:pPr marL="597698" lvl="1" indent="-298849" algn="just">
              <a:lnSpc>
                <a:spcPts val="3875"/>
              </a:lnSpc>
              <a:buFont typeface="Arial"/>
              <a:buChar char="•"/>
            </a:pPr>
            <a:r>
              <a:rPr lang="en-US" sz="2768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Física newtoniana → Relatividad de Einstein</a:t>
            </a:r>
          </a:p>
          <a:p>
            <a:pPr marL="597698" lvl="1" indent="-298849" algn="just">
              <a:lnSpc>
                <a:spcPts val="3875"/>
              </a:lnSpc>
              <a:buFont typeface="Arial"/>
              <a:buChar char="•"/>
            </a:pPr>
            <a:r>
              <a:rPr lang="en-US" sz="2768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Economía agraria → Industrial → Del conocimiento</a:t>
            </a:r>
          </a:p>
          <a:p>
            <a:pPr algn="just">
              <a:lnSpc>
                <a:spcPts val="3875"/>
              </a:lnSpc>
            </a:pPr>
            <a:endParaRPr lang="en-US" sz="2768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just">
              <a:lnSpc>
                <a:spcPts val="3875"/>
              </a:lnSpc>
            </a:pPr>
            <a:endParaRPr lang="en-US" sz="2768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A6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791286" y="3071028"/>
            <a:ext cx="6724081" cy="3782296"/>
          </a:xfrm>
          <a:custGeom>
            <a:avLst/>
            <a:gdLst/>
            <a:ahLst/>
            <a:cxnLst/>
            <a:rect l="l" t="t" r="r" b="b"/>
            <a:pathLst>
              <a:path w="6724081" h="3782296">
                <a:moveTo>
                  <a:pt x="0" y="0"/>
                </a:moveTo>
                <a:lnTo>
                  <a:pt x="6724081" y="0"/>
                </a:lnTo>
                <a:lnTo>
                  <a:pt x="6724081" y="3782295"/>
                </a:lnTo>
                <a:lnTo>
                  <a:pt x="0" y="37822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GT"/>
          </a:p>
        </p:txBody>
      </p:sp>
      <p:sp>
        <p:nvSpPr>
          <p:cNvPr id="3" name="TextBox 3"/>
          <p:cNvSpPr txBox="1"/>
          <p:nvPr/>
        </p:nvSpPr>
        <p:spPr>
          <a:xfrm>
            <a:off x="1374889" y="644839"/>
            <a:ext cx="15597169" cy="7873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47"/>
              </a:lnSpc>
            </a:pPr>
            <a:r>
              <a:rPr lang="en-US" sz="4998">
                <a:solidFill>
                  <a:srgbClr val="131416"/>
                </a:solidFill>
                <a:latin typeface="Horizon"/>
                <a:ea typeface="Horizon"/>
                <a:cs typeface="Horizon"/>
                <a:sym typeface="Horizon"/>
              </a:rPr>
              <a:t>CONSECUENCIAS DEL CAMBIO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579469" y="1986143"/>
            <a:ext cx="8022771" cy="62923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875"/>
              </a:lnSpc>
            </a:pPr>
            <a:r>
              <a:rPr lang="en-US" sz="2768" b="1">
                <a:solidFill>
                  <a:srgbClr val="13141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Efecto Paradigma:</a:t>
            </a:r>
            <a:r>
              <a:rPr lang="en-US" sz="2768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 Lo que vemos está determinado por nuestros paradigmas</a:t>
            </a:r>
          </a:p>
          <a:p>
            <a:pPr algn="just">
              <a:lnSpc>
                <a:spcPts val="3875"/>
              </a:lnSpc>
            </a:pPr>
            <a:endParaRPr lang="en-US" sz="2768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just">
              <a:lnSpc>
                <a:spcPts val="3875"/>
              </a:lnSpc>
            </a:pPr>
            <a:r>
              <a:rPr lang="en-US" sz="2768" b="1">
                <a:solidFill>
                  <a:srgbClr val="13141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Retorno a Cero:</a:t>
            </a:r>
            <a:r>
              <a:rPr lang="en-US" sz="2768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 Cuando cambia un paradigma, se pierden las ventajas previas</a:t>
            </a:r>
          </a:p>
          <a:p>
            <a:pPr algn="just">
              <a:lnSpc>
                <a:spcPts val="3875"/>
              </a:lnSpc>
            </a:pPr>
            <a:endParaRPr lang="en-US" sz="2768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just">
              <a:lnSpc>
                <a:spcPts val="3875"/>
              </a:lnSpc>
            </a:pPr>
            <a:r>
              <a:rPr lang="en-US" sz="2768" b="1">
                <a:solidFill>
                  <a:srgbClr val="131416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Parálisis Paradigmática:</a:t>
            </a:r>
            <a:r>
              <a:rPr lang="en-US" sz="2768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 El éxito pasado nos hace creer que las viejas reglas seguirán funcionando</a:t>
            </a:r>
          </a:p>
          <a:p>
            <a:pPr algn="just">
              <a:lnSpc>
                <a:spcPts val="3875"/>
              </a:lnSpc>
            </a:pPr>
            <a:endParaRPr lang="en-US" sz="2768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algn="just">
              <a:lnSpc>
                <a:spcPts val="3875"/>
              </a:lnSpc>
            </a:pPr>
            <a:r>
              <a:rPr lang="en-US" sz="2768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"Si no cambiamos de rumbo, vamos a llegar hacia donde nos dirigimos"</a:t>
            </a:r>
          </a:p>
          <a:p>
            <a:pPr algn="just">
              <a:lnSpc>
                <a:spcPts val="3875"/>
              </a:lnSpc>
            </a:pPr>
            <a:endParaRPr lang="en-US" sz="2768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A6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2655622"/>
            <a:ext cx="7516516" cy="5649750"/>
          </a:xfrm>
          <a:custGeom>
            <a:avLst/>
            <a:gdLst/>
            <a:ahLst/>
            <a:cxnLst/>
            <a:rect l="l" t="t" r="r" b="b"/>
            <a:pathLst>
              <a:path w="7516516" h="5649750">
                <a:moveTo>
                  <a:pt x="0" y="0"/>
                </a:moveTo>
                <a:lnTo>
                  <a:pt x="7516516" y="0"/>
                </a:lnTo>
                <a:lnTo>
                  <a:pt x="7516516" y="5649750"/>
                </a:lnTo>
                <a:lnTo>
                  <a:pt x="0" y="56497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GT"/>
          </a:p>
        </p:txBody>
      </p:sp>
      <p:sp>
        <p:nvSpPr>
          <p:cNvPr id="3" name="TextBox 3"/>
          <p:cNvSpPr txBox="1"/>
          <p:nvPr/>
        </p:nvSpPr>
        <p:spPr>
          <a:xfrm>
            <a:off x="1374889" y="644839"/>
            <a:ext cx="15092032" cy="8585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12"/>
              </a:lnSpc>
            </a:pPr>
            <a:r>
              <a:rPr lang="en-US" sz="5498">
                <a:solidFill>
                  <a:srgbClr val="131416"/>
                </a:solidFill>
                <a:latin typeface="Horizon"/>
                <a:ea typeface="Horizon"/>
                <a:cs typeface="Horizon"/>
                <a:sym typeface="Horizon"/>
              </a:rPr>
              <a:t>IMÁGENES MULTIESTABLES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920905" y="3355975"/>
            <a:ext cx="7632005" cy="3498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599"/>
              </a:lnSpc>
            </a:pPr>
            <a:r>
              <a:rPr lang="en-US" sz="3999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Las imágenes multiestables son ilustraciones que pueden interpretarse de más de una manera, dependiendo de cómo las perciba el observador.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A6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092128" y="1681769"/>
            <a:ext cx="7004610" cy="7779457"/>
          </a:xfrm>
          <a:custGeom>
            <a:avLst/>
            <a:gdLst/>
            <a:ahLst/>
            <a:cxnLst/>
            <a:rect l="l" t="t" r="r" b="b"/>
            <a:pathLst>
              <a:path w="7004610" h="7779457">
                <a:moveTo>
                  <a:pt x="0" y="0"/>
                </a:moveTo>
                <a:lnTo>
                  <a:pt x="7004610" y="0"/>
                </a:lnTo>
                <a:lnTo>
                  <a:pt x="7004610" y="7779457"/>
                </a:lnTo>
                <a:lnTo>
                  <a:pt x="0" y="77794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GT"/>
          </a:p>
        </p:txBody>
      </p:sp>
      <p:sp>
        <p:nvSpPr>
          <p:cNvPr id="3" name="TextBox 3"/>
          <p:cNvSpPr txBox="1"/>
          <p:nvPr/>
        </p:nvSpPr>
        <p:spPr>
          <a:xfrm>
            <a:off x="337138" y="620712"/>
            <a:ext cx="7862708" cy="787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50"/>
              </a:lnSpc>
            </a:pPr>
            <a:r>
              <a:rPr lang="en-US" sz="5000">
                <a:solidFill>
                  <a:srgbClr val="131416"/>
                </a:solidFill>
                <a:latin typeface="Horizon"/>
                <a:ea typeface="Horizon"/>
                <a:cs typeface="Horizon"/>
                <a:sym typeface="Horizon"/>
              </a:rPr>
              <a:t>EJEMPLO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A6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025184" y="2007567"/>
            <a:ext cx="6020875" cy="6813096"/>
          </a:xfrm>
          <a:custGeom>
            <a:avLst/>
            <a:gdLst/>
            <a:ahLst/>
            <a:cxnLst/>
            <a:rect l="l" t="t" r="r" b="b"/>
            <a:pathLst>
              <a:path w="6020875" h="6813096">
                <a:moveTo>
                  <a:pt x="0" y="0"/>
                </a:moveTo>
                <a:lnTo>
                  <a:pt x="6020875" y="0"/>
                </a:lnTo>
                <a:lnTo>
                  <a:pt x="6020875" y="6813095"/>
                </a:lnTo>
                <a:lnTo>
                  <a:pt x="0" y="68130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GT"/>
          </a:p>
        </p:txBody>
      </p:sp>
      <p:sp>
        <p:nvSpPr>
          <p:cNvPr id="3" name="Freeform 3"/>
          <p:cNvSpPr/>
          <p:nvPr/>
        </p:nvSpPr>
        <p:spPr>
          <a:xfrm>
            <a:off x="10229880" y="2007567"/>
            <a:ext cx="6025286" cy="6813096"/>
          </a:xfrm>
          <a:custGeom>
            <a:avLst/>
            <a:gdLst/>
            <a:ahLst/>
            <a:cxnLst/>
            <a:rect l="l" t="t" r="r" b="b"/>
            <a:pathLst>
              <a:path w="6025286" h="6813096">
                <a:moveTo>
                  <a:pt x="0" y="0"/>
                </a:moveTo>
                <a:lnTo>
                  <a:pt x="6025286" y="0"/>
                </a:lnTo>
                <a:lnTo>
                  <a:pt x="6025286" y="6813095"/>
                </a:lnTo>
                <a:lnTo>
                  <a:pt x="0" y="68130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GT"/>
          </a:p>
        </p:txBody>
      </p:sp>
      <p:sp>
        <p:nvSpPr>
          <p:cNvPr id="4" name="TextBox 4"/>
          <p:cNvSpPr txBox="1"/>
          <p:nvPr/>
        </p:nvSpPr>
        <p:spPr>
          <a:xfrm>
            <a:off x="337138" y="620712"/>
            <a:ext cx="7862708" cy="787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50"/>
              </a:lnSpc>
            </a:pPr>
            <a:r>
              <a:rPr lang="en-US" sz="5000">
                <a:solidFill>
                  <a:srgbClr val="131416"/>
                </a:solidFill>
                <a:latin typeface="Horizon"/>
                <a:ea typeface="Horizon"/>
                <a:cs typeface="Horizon"/>
                <a:sym typeface="Horizon"/>
              </a:rPr>
              <a:t>EJEMPLO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025184" y="9018313"/>
            <a:ext cx="7862708" cy="787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50"/>
              </a:lnSpc>
            </a:pPr>
            <a:r>
              <a:rPr lang="en-US" sz="5000">
                <a:solidFill>
                  <a:srgbClr val="131416"/>
                </a:solidFill>
                <a:latin typeface="Horizon"/>
                <a:ea typeface="Horizon"/>
                <a:cs typeface="Horizon"/>
                <a:sym typeface="Horizon"/>
              </a:rPr>
              <a:t>COPA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599456" y="9018313"/>
            <a:ext cx="7862708" cy="787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50"/>
              </a:lnSpc>
            </a:pPr>
            <a:r>
              <a:rPr lang="en-US" sz="5000">
                <a:solidFill>
                  <a:srgbClr val="131416"/>
                </a:solidFill>
                <a:latin typeface="Horizon"/>
                <a:ea typeface="Horizon"/>
                <a:cs typeface="Horizon"/>
                <a:sym typeface="Horizon"/>
              </a:rPr>
              <a:t>ROSTROS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A6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929585" y="2946232"/>
            <a:ext cx="7256988" cy="6312068"/>
          </a:xfrm>
          <a:custGeom>
            <a:avLst/>
            <a:gdLst/>
            <a:ahLst/>
            <a:cxnLst/>
            <a:rect l="l" t="t" r="r" b="b"/>
            <a:pathLst>
              <a:path w="7256988" h="6312068">
                <a:moveTo>
                  <a:pt x="0" y="0"/>
                </a:moveTo>
                <a:lnTo>
                  <a:pt x="7256988" y="0"/>
                </a:lnTo>
                <a:lnTo>
                  <a:pt x="7256988" y="6312068"/>
                </a:lnTo>
                <a:lnTo>
                  <a:pt x="0" y="63120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GT"/>
          </a:p>
        </p:txBody>
      </p:sp>
      <p:sp>
        <p:nvSpPr>
          <p:cNvPr id="3" name="TextBox 3"/>
          <p:cNvSpPr txBox="1"/>
          <p:nvPr/>
        </p:nvSpPr>
        <p:spPr>
          <a:xfrm>
            <a:off x="1374889" y="654364"/>
            <a:ext cx="13991174" cy="9371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890"/>
              </a:lnSpc>
            </a:pPr>
            <a:r>
              <a:rPr lang="en-US" sz="6098">
                <a:solidFill>
                  <a:srgbClr val="131416"/>
                </a:solidFill>
                <a:latin typeface="Horizon"/>
                <a:ea typeface="Horizon"/>
                <a:cs typeface="Horizon"/>
                <a:sym typeface="Horizon"/>
              </a:rPr>
              <a:t>CERTEZA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374889" y="1476235"/>
            <a:ext cx="14890621" cy="1225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900"/>
              </a:lnSpc>
            </a:pPr>
            <a:r>
              <a:rPr lang="en-US" sz="3500" spc="77">
                <a:solidFill>
                  <a:srgbClr val="15254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La actitud que implica asumir que la realidad es como uno la ve y que todo el mundo debe ver las cosas de la misma manera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A6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52333" y="834551"/>
            <a:ext cx="16406967" cy="16889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84"/>
              </a:lnSpc>
            </a:pPr>
            <a:r>
              <a:rPr lang="en-US" sz="4500">
                <a:solidFill>
                  <a:srgbClr val="131416"/>
                </a:solidFill>
                <a:latin typeface="Horizon"/>
                <a:ea typeface="Horizon"/>
                <a:cs typeface="Horizon"/>
                <a:sym typeface="Horizon"/>
              </a:rPr>
              <a:t>CONCEPTOS CLAVE APRENDIDOS </a:t>
            </a:r>
          </a:p>
          <a:p>
            <a:pPr algn="ctr">
              <a:lnSpc>
                <a:spcPts val="7797"/>
              </a:lnSpc>
            </a:pPr>
            <a:endParaRPr lang="en-US" sz="4500">
              <a:solidFill>
                <a:srgbClr val="131416"/>
              </a:solidFill>
              <a:latin typeface="Horizon"/>
              <a:ea typeface="Horizon"/>
              <a:cs typeface="Horizon"/>
              <a:sym typeface="Horizon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605703" y="1389615"/>
            <a:ext cx="14900226" cy="6920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endParaRPr/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 b="1">
                <a:solidFill>
                  <a:srgbClr val="131416"/>
                </a:solidFill>
                <a:latin typeface="Garet Bold"/>
                <a:ea typeface="Garet Bold"/>
                <a:cs typeface="Garet Bold"/>
                <a:sym typeface="Garet Bold"/>
              </a:rPr>
              <a:t>Imagenes Multiestables:</a:t>
            </a:r>
            <a:r>
              <a:rPr lang="en-US" sz="2799">
                <a:solidFill>
                  <a:srgbClr val="131416"/>
                </a:solidFill>
                <a:latin typeface="Garet"/>
                <a:ea typeface="Garet"/>
                <a:cs typeface="Garet"/>
                <a:sym typeface="Garet"/>
              </a:rPr>
              <a:t> son ilustraciones que pueden interpretarse de más de una manera.</a:t>
            </a: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 b="1">
                <a:solidFill>
                  <a:srgbClr val="131416"/>
                </a:solidFill>
                <a:latin typeface="Garet Bold"/>
                <a:ea typeface="Garet Bold"/>
                <a:cs typeface="Garet Bold"/>
                <a:sym typeface="Garet Bold"/>
              </a:rPr>
              <a:t>Falacia:</a:t>
            </a:r>
            <a:r>
              <a:rPr lang="en-US" sz="2799">
                <a:solidFill>
                  <a:srgbClr val="131416"/>
                </a:solidFill>
                <a:latin typeface="Garet"/>
                <a:ea typeface="Garet"/>
                <a:cs typeface="Garet"/>
                <a:sym typeface="Garet"/>
              </a:rPr>
              <a:t> Razonamiento inválido que pretende validez a través de elementos psicológicos (intimidación, amenaza, emoción) en lugar de conexiones lógicas. Engaña mediante manipulación emocional en vez de demostración racional.</a:t>
            </a: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 b="1">
                <a:solidFill>
                  <a:srgbClr val="131416"/>
                </a:solidFill>
                <a:latin typeface="Garet Bold"/>
                <a:ea typeface="Garet Bold"/>
                <a:cs typeface="Garet Bold"/>
                <a:sym typeface="Garet Bold"/>
              </a:rPr>
              <a:t>Paradigma:</a:t>
            </a:r>
            <a:r>
              <a:rPr lang="en-US" sz="2799">
                <a:solidFill>
                  <a:srgbClr val="131416"/>
                </a:solidFill>
                <a:latin typeface="Garet"/>
                <a:ea typeface="Garet"/>
                <a:cs typeface="Garet"/>
                <a:sym typeface="Garet"/>
              </a:rPr>
              <a:t> Modelo o patrón mental con el que vemos e interpretamos la realidad. Son los "anteojos" que determinan cómo percibimos el mundo, establecen límites y definen reglas de comportamiento.</a:t>
            </a: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 b="1">
                <a:solidFill>
                  <a:srgbClr val="131416"/>
                </a:solidFill>
                <a:latin typeface="Garet Bold"/>
                <a:ea typeface="Garet Bold"/>
                <a:cs typeface="Garet Bold"/>
                <a:sym typeface="Garet Bold"/>
              </a:rPr>
              <a:t>Formal:</a:t>
            </a:r>
            <a:r>
              <a:rPr lang="en-US" sz="2799">
                <a:solidFill>
                  <a:srgbClr val="131416"/>
                </a:solidFill>
                <a:latin typeface="Garet"/>
                <a:ea typeface="Garet"/>
                <a:cs typeface="Garet"/>
                <a:sym typeface="Garet"/>
              </a:rPr>
              <a:t> Se centra en la forma lógica y las relaciones abstractas entre variables, no en el contenido real. </a:t>
            </a:r>
          </a:p>
          <a:p>
            <a:pPr marL="604519" lvl="1" indent="-302260" algn="l">
              <a:lnSpc>
                <a:spcPts val="3919"/>
              </a:lnSpc>
              <a:buFont typeface="Arial"/>
              <a:buChar char="•"/>
            </a:pPr>
            <a:r>
              <a:rPr lang="en-US" sz="2799" b="1">
                <a:solidFill>
                  <a:srgbClr val="131416"/>
                </a:solidFill>
                <a:latin typeface="Garet Bold"/>
                <a:ea typeface="Garet Bold"/>
                <a:cs typeface="Garet Bold"/>
                <a:sym typeface="Garet Bold"/>
              </a:rPr>
              <a:t>Informal:</a:t>
            </a:r>
            <a:r>
              <a:rPr lang="en-US" sz="2799">
                <a:solidFill>
                  <a:srgbClr val="131416"/>
                </a:solidFill>
                <a:latin typeface="Garet"/>
                <a:ea typeface="Garet"/>
                <a:cs typeface="Garet"/>
                <a:sym typeface="Garet"/>
              </a:rPr>
              <a:t> Se fundamenta en el contenido y contexto real, requiere análisis de la situación concreta.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A6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493371" y="3838965"/>
            <a:ext cx="11301259" cy="5848402"/>
          </a:xfrm>
          <a:custGeom>
            <a:avLst/>
            <a:gdLst/>
            <a:ahLst/>
            <a:cxnLst/>
            <a:rect l="l" t="t" r="r" b="b"/>
            <a:pathLst>
              <a:path w="11301259" h="5848402">
                <a:moveTo>
                  <a:pt x="0" y="0"/>
                </a:moveTo>
                <a:lnTo>
                  <a:pt x="11301258" y="0"/>
                </a:lnTo>
                <a:lnTo>
                  <a:pt x="11301258" y="5848402"/>
                </a:lnTo>
                <a:lnTo>
                  <a:pt x="0" y="58484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GT"/>
          </a:p>
        </p:txBody>
      </p:sp>
      <p:sp>
        <p:nvSpPr>
          <p:cNvPr id="3" name="TextBox 3"/>
          <p:cNvSpPr txBox="1"/>
          <p:nvPr/>
        </p:nvSpPr>
        <p:spPr>
          <a:xfrm>
            <a:off x="2507390" y="1009650"/>
            <a:ext cx="13503315" cy="21915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19"/>
              </a:lnSpc>
            </a:pPr>
            <a:r>
              <a:rPr lang="en-US" sz="3999">
                <a:solidFill>
                  <a:srgbClr val="131416"/>
                </a:solidFill>
                <a:latin typeface="Horizon"/>
                <a:ea typeface="Horizon"/>
                <a:cs typeface="Horizon"/>
                <a:sym typeface="Horizon"/>
              </a:rPr>
              <a:t>EVALUACIÓN DE CONOCIMIENTOS ADQUIRIDOS </a:t>
            </a:r>
          </a:p>
          <a:p>
            <a:pPr algn="ctr">
              <a:lnSpc>
                <a:spcPts val="7797"/>
              </a:lnSpc>
            </a:pPr>
            <a:endParaRPr lang="en-US" sz="3999">
              <a:solidFill>
                <a:srgbClr val="131416"/>
              </a:solidFill>
              <a:latin typeface="Horizon"/>
              <a:ea typeface="Horizon"/>
              <a:cs typeface="Horizon"/>
              <a:sym typeface="Horizon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207032" y="2442064"/>
            <a:ext cx="16257244" cy="10915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412"/>
              </a:lnSpc>
            </a:pPr>
            <a:r>
              <a:rPr lang="en-US" sz="3151">
                <a:solidFill>
                  <a:srgbClr val="131416"/>
                </a:solidFill>
                <a:latin typeface="Garet"/>
                <a:ea typeface="Garet"/>
                <a:cs typeface="Garet"/>
                <a:sym typeface="Garet"/>
              </a:rPr>
              <a:t>Duración: 10 minutos</a:t>
            </a:r>
          </a:p>
          <a:p>
            <a:pPr algn="just">
              <a:lnSpc>
                <a:spcPts val="4412"/>
              </a:lnSpc>
            </a:pPr>
            <a:r>
              <a:rPr lang="en-US" sz="3151">
                <a:solidFill>
                  <a:srgbClr val="131416"/>
                </a:solidFill>
                <a:latin typeface="Garet"/>
                <a:ea typeface="Garet"/>
                <a:cs typeface="Garet"/>
                <a:sym typeface="Garet"/>
              </a:rPr>
              <a:t>https://create.kahoot.it/details/7c14ded6-312e-43c7-bc57-7f56edbed92a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A6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863594" y="3552048"/>
            <a:ext cx="6747466" cy="3795450"/>
          </a:xfrm>
          <a:custGeom>
            <a:avLst/>
            <a:gdLst/>
            <a:ahLst/>
            <a:cxnLst/>
            <a:rect l="l" t="t" r="r" b="b"/>
            <a:pathLst>
              <a:path w="6747466" h="3795450">
                <a:moveTo>
                  <a:pt x="0" y="0"/>
                </a:moveTo>
                <a:lnTo>
                  <a:pt x="6747466" y="0"/>
                </a:lnTo>
                <a:lnTo>
                  <a:pt x="6747466" y="3795449"/>
                </a:lnTo>
                <a:lnTo>
                  <a:pt x="0" y="379544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GT"/>
          </a:p>
        </p:txBody>
      </p:sp>
      <p:sp>
        <p:nvSpPr>
          <p:cNvPr id="3" name="TextBox 3"/>
          <p:cNvSpPr txBox="1"/>
          <p:nvPr/>
        </p:nvSpPr>
        <p:spPr>
          <a:xfrm>
            <a:off x="1028700" y="2327972"/>
            <a:ext cx="8640435" cy="64426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>
                <a:solidFill>
                  <a:srgbClr val="131416"/>
                </a:solidFill>
                <a:latin typeface="Garet"/>
                <a:ea typeface="Garet"/>
                <a:cs typeface="Garet"/>
                <a:sym typeface="Garet"/>
              </a:rPr>
              <a:t>El pensamiento crítico es esencial para este contenido porque nos permite analizar, evaluar y cuestionar la información antes de aceptarla, protegiéndonos de manipulaciones y errores de razonamiento.</a:t>
            </a:r>
          </a:p>
          <a:p>
            <a:pPr algn="l">
              <a:lnSpc>
                <a:spcPts val="3220"/>
              </a:lnSpc>
            </a:pPr>
            <a:endParaRPr lang="en-US" sz="2300">
              <a:solidFill>
                <a:srgbClr val="131416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3080"/>
              </a:lnSpc>
            </a:pPr>
            <a:r>
              <a:rPr lang="en-US" sz="2200">
                <a:solidFill>
                  <a:srgbClr val="131416"/>
                </a:solidFill>
                <a:latin typeface="Garet"/>
                <a:ea typeface="Garet"/>
                <a:cs typeface="Garet"/>
                <a:sym typeface="Garet"/>
              </a:rPr>
              <a:t>Aplicación en clase:</a:t>
            </a:r>
          </a:p>
          <a:p>
            <a:pPr marL="550898" lvl="1" indent="-275449" algn="l">
              <a:lnSpc>
                <a:spcPts val="3572"/>
              </a:lnSpc>
              <a:buFont typeface="Arial"/>
              <a:buChar char="•"/>
            </a:pPr>
            <a:r>
              <a:rPr lang="en-US" sz="2551">
                <a:solidFill>
                  <a:srgbClr val="131416"/>
                </a:solidFill>
                <a:latin typeface="Garet"/>
                <a:ea typeface="Garet"/>
                <a:cs typeface="Garet"/>
                <a:sym typeface="Garet"/>
              </a:rPr>
              <a:t>El pensamiento crítico es esencial porque nos permite identificar falacias y defendernos de argumentos que intentan manipularnos emocionalmente en lugar de convencernos lógicamente. Nos ayuda a distinguir entre razonamientos válidos e inválidos, evaluando si las premisas realmente soportan la conclusión.</a:t>
            </a:r>
          </a:p>
          <a:p>
            <a:pPr algn="l">
              <a:lnSpc>
                <a:spcPts val="3712"/>
              </a:lnSpc>
            </a:pPr>
            <a:endParaRPr lang="en-US" sz="2551">
              <a:solidFill>
                <a:srgbClr val="131416"/>
              </a:solidFill>
              <a:latin typeface="Garet"/>
              <a:ea typeface="Garet"/>
              <a:cs typeface="Garet"/>
              <a:sym typeface="Garet"/>
            </a:endParaRPr>
          </a:p>
          <a:p>
            <a:pPr algn="l">
              <a:lnSpc>
                <a:spcPts val="3712"/>
              </a:lnSpc>
            </a:pPr>
            <a:endParaRPr lang="en-US" sz="2551">
              <a:solidFill>
                <a:srgbClr val="131416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2507390" y="990600"/>
            <a:ext cx="13503315" cy="18748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28"/>
              </a:lnSpc>
            </a:pPr>
            <a:r>
              <a:rPr lang="en-US" sz="5600">
                <a:solidFill>
                  <a:srgbClr val="131416"/>
                </a:solidFill>
                <a:latin typeface="Horizon"/>
                <a:ea typeface="Horizon"/>
                <a:cs typeface="Horizon"/>
                <a:sym typeface="Horizon"/>
              </a:rPr>
              <a:t>PENSAMIENTO CRÍTICO</a:t>
            </a:r>
          </a:p>
          <a:p>
            <a:pPr algn="ctr">
              <a:lnSpc>
                <a:spcPts val="7797"/>
              </a:lnSpc>
            </a:pPr>
            <a:endParaRPr lang="en-US" sz="5600">
              <a:solidFill>
                <a:srgbClr val="131416"/>
              </a:solidFill>
              <a:latin typeface="Horizon"/>
              <a:ea typeface="Horizon"/>
              <a:cs typeface="Horizon"/>
              <a:sym typeface="Horizon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A6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507390" y="1000125"/>
            <a:ext cx="13503315" cy="10709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797"/>
              </a:lnSpc>
            </a:pPr>
            <a:r>
              <a:rPr lang="en-US" sz="6900">
                <a:solidFill>
                  <a:srgbClr val="131416"/>
                </a:solidFill>
                <a:latin typeface="Horizon"/>
                <a:ea typeface="Horizon"/>
                <a:cs typeface="Horizon"/>
                <a:sym typeface="Horizon"/>
              </a:rPr>
              <a:t>REFERENCIAS 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2404151"/>
            <a:ext cx="16358685" cy="59823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just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131416"/>
                </a:solidFill>
                <a:latin typeface="Garet"/>
                <a:ea typeface="Garet"/>
                <a:cs typeface="Garet"/>
                <a:sym typeface="Garet"/>
              </a:rPr>
              <a:t>  Silva, S. M. (2007). Modelos mentales y aprendizaje de la ciencia: El caso de las transformaciones geométricas. Investigaciones en Enseñanza de las Ciencias, 12(2), 209-228. Recuperado de https://ienci.if.ufrgs.br/index.php/ienci/article/download/517/314/1040</a:t>
            </a:r>
          </a:p>
          <a:p>
            <a:pPr algn="just">
              <a:lnSpc>
                <a:spcPts val="3919"/>
              </a:lnSpc>
            </a:pPr>
            <a:endParaRPr lang="en-US" sz="2799">
              <a:solidFill>
                <a:srgbClr val="131416"/>
              </a:solidFill>
              <a:latin typeface="Garet"/>
              <a:ea typeface="Garet"/>
              <a:cs typeface="Garet"/>
              <a:sym typeface="Garet"/>
            </a:endParaRPr>
          </a:p>
          <a:p>
            <a:pPr marL="604519" lvl="1" indent="-302260" algn="just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131416"/>
                </a:solidFill>
                <a:latin typeface="Garet"/>
                <a:ea typeface="Garet"/>
                <a:cs typeface="Garet"/>
                <a:sym typeface="Garet"/>
              </a:rPr>
              <a:t>Torres Ruiz, A. (2025). Los modelos mentales: cómo construimos y experimentamos nuestra realidad. Recuperado de https://ethics.live/certeza/</a:t>
            </a:r>
          </a:p>
          <a:p>
            <a:pPr algn="just">
              <a:lnSpc>
                <a:spcPts val="3919"/>
              </a:lnSpc>
            </a:pPr>
            <a:endParaRPr lang="en-US" sz="2799">
              <a:solidFill>
                <a:srgbClr val="131416"/>
              </a:solidFill>
              <a:latin typeface="Garet"/>
              <a:ea typeface="Garet"/>
              <a:cs typeface="Garet"/>
              <a:sym typeface="Garet"/>
            </a:endParaRPr>
          </a:p>
          <a:p>
            <a:pPr marL="604519" lvl="1" indent="-302260" algn="just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131416"/>
                </a:solidFill>
                <a:latin typeface="Garet"/>
                <a:ea typeface="Garet"/>
                <a:cs typeface="Garet"/>
                <a:sym typeface="Garet"/>
              </a:rPr>
              <a:t>Universidad de San Carlos de Guatemala. (s.f.). Unidad 6: Modelos Mentales y Paradigmas [Material del curso Lógica de Sistemas, Facultad de Ingeniería]. Plataforma UEDI.</a:t>
            </a:r>
          </a:p>
          <a:p>
            <a:pPr algn="ctr">
              <a:lnSpc>
                <a:spcPts val="4412"/>
              </a:lnSpc>
            </a:pPr>
            <a:endParaRPr lang="en-US" sz="2799">
              <a:solidFill>
                <a:srgbClr val="131416"/>
              </a:solidFill>
              <a:latin typeface="Garet"/>
              <a:ea typeface="Garet"/>
              <a:cs typeface="Garet"/>
              <a:sym typeface="Garet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A6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437795" y="3389104"/>
            <a:ext cx="8658828" cy="24956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343"/>
              </a:lnSpc>
            </a:pPr>
            <a:r>
              <a:rPr lang="en-US" sz="6099">
                <a:solidFill>
                  <a:srgbClr val="131416"/>
                </a:solidFill>
                <a:latin typeface="Horizon"/>
                <a:ea typeface="Horizon"/>
                <a:cs typeface="Horizon"/>
                <a:sym typeface="Horizon"/>
              </a:rPr>
              <a:t>¡GRACIAS POR SU  ATENCIÓN!</a:t>
            </a:r>
          </a:p>
          <a:p>
            <a:pPr algn="just">
              <a:lnSpc>
                <a:spcPts val="6343"/>
              </a:lnSpc>
            </a:pPr>
            <a:endParaRPr lang="en-US" sz="6099">
              <a:solidFill>
                <a:srgbClr val="131416"/>
              </a:solidFill>
              <a:latin typeface="Horizon"/>
              <a:ea typeface="Horizon"/>
              <a:cs typeface="Horizon"/>
              <a:sym typeface="Horizon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5414714" y="5958103"/>
            <a:ext cx="6704991" cy="898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400"/>
              </a:lnSpc>
            </a:pPr>
            <a:r>
              <a:rPr lang="en-US" sz="5000" spc="1160">
                <a:solidFill>
                  <a:srgbClr val="131416"/>
                </a:solidFill>
                <a:latin typeface="Garet"/>
                <a:ea typeface="Garet"/>
                <a:cs typeface="Garet"/>
                <a:sym typeface="Garet"/>
              </a:rPr>
              <a:t>DUDAS</a:t>
            </a:r>
          </a:p>
        </p:txBody>
      </p:sp>
      <p:sp>
        <p:nvSpPr>
          <p:cNvPr id="4" name="Freeform 4"/>
          <p:cNvSpPr/>
          <p:nvPr/>
        </p:nvSpPr>
        <p:spPr>
          <a:xfrm>
            <a:off x="13963751" y="1028700"/>
            <a:ext cx="2757268" cy="3770970"/>
          </a:xfrm>
          <a:custGeom>
            <a:avLst/>
            <a:gdLst/>
            <a:ahLst/>
            <a:cxnLst/>
            <a:rect l="l" t="t" r="r" b="b"/>
            <a:pathLst>
              <a:path w="2757268" h="3770970">
                <a:moveTo>
                  <a:pt x="0" y="0"/>
                </a:moveTo>
                <a:lnTo>
                  <a:pt x="2757268" y="0"/>
                </a:lnTo>
                <a:lnTo>
                  <a:pt x="2757268" y="3770970"/>
                </a:lnTo>
                <a:lnTo>
                  <a:pt x="0" y="37709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GT"/>
          </a:p>
        </p:txBody>
      </p:sp>
      <p:sp>
        <p:nvSpPr>
          <p:cNvPr id="5" name="TextBox 5"/>
          <p:cNvSpPr txBox="1"/>
          <p:nvPr/>
        </p:nvSpPr>
        <p:spPr>
          <a:xfrm>
            <a:off x="2411098" y="7899735"/>
            <a:ext cx="13465804" cy="719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60"/>
              </a:lnSpc>
            </a:pPr>
            <a:r>
              <a:rPr lang="en-US" sz="2000" spc="464">
                <a:solidFill>
                  <a:srgbClr val="131416"/>
                </a:solidFill>
                <a:latin typeface="Garet"/>
                <a:ea typeface="Garet"/>
                <a:cs typeface="Garet"/>
                <a:sym typeface="Garet"/>
              </a:rPr>
              <a:t>RECUERDA QUE TENEMOS NUESTRO FORO SEMANAL DONDE PUEDES CONSULTAR CUALQUIER DUDA QUE TE SURJA EN LA SEMANA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1281</Words>
  <Application>Microsoft Office PowerPoint</Application>
  <PresentationFormat>Personalizado</PresentationFormat>
  <Paragraphs>199</Paragraphs>
  <Slides>30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10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30</vt:i4>
      </vt:variant>
    </vt:vector>
  </HeadingPairs>
  <TitlesOfParts>
    <vt:vector size="41" baseType="lpstr">
      <vt:lpstr>Open Sans</vt:lpstr>
      <vt:lpstr>Calibri</vt:lpstr>
      <vt:lpstr>Arial</vt:lpstr>
      <vt:lpstr>Garet</vt:lpstr>
      <vt:lpstr>Glacial Indifference</vt:lpstr>
      <vt:lpstr>Garet Bold</vt:lpstr>
      <vt:lpstr>Horizon</vt:lpstr>
      <vt:lpstr>Open Sans Bold</vt:lpstr>
      <vt:lpstr>Playlist Script</vt:lpstr>
      <vt:lpstr>Arial Bold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Semana 11: 1S2026</dc:title>
  <cp:lastModifiedBy>Gerson Ruiz</cp:lastModifiedBy>
  <cp:revision>2</cp:revision>
  <dcterms:created xsi:type="dcterms:W3CDTF">2006-08-16T00:00:00Z</dcterms:created>
  <dcterms:modified xsi:type="dcterms:W3CDTF">2025-11-05T03:24:26Z</dcterms:modified>
  <dc:identifier>DAG3C7wLoz0</dc:identifier>
</cp:coreProperties>
</file>