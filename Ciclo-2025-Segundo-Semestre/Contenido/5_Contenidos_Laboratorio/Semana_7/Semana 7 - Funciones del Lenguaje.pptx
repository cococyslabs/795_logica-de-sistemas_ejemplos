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rial Bold" charset="1" panose="020B0704020202020204"/>
      <p:regular r:id="rId23"/>
    </p:embeddedFont>
    <p:embeddedFont>
      <p:font typeface="Garet Bold" charset="1" panose="00000000000000000000"/>
      <p:regular r:id="rId24"/>
    </p:embeddedFont>
    <p:embeddedFont>
      <p:font typeface="Open Sans Bold" charset="1" panose="020B0806030504020204"/>
      <p:regular r:id="rId25"/>
    </p:embeddedFont>
    <p:embeddedFont>
      <p:font typeface="Open Sans" charset="1" panose="020B0606030504020204"/>
      <p:regular r:id="rId26"/>
    </p:embeddedFont>
    <p:embeddedFont>
      <p:font typeface="Garet" charset="1" panose="00000000000000000000"/>
      <p:regular r:id="rId27"/>
    </p:embeddedFont>
    <p:embeddedFont>
      <p:font typeface="Playlist Script" charset="1" panose="00000000000000000000"/>
      <p:regular r:id="rId28"/>
    </p:embeddedFont>
    <p:embeddedFont>
      <p:font typeface="Arimo" charset="1" panose="020B0604020202020204"/>
      <p:regular r:id="rId29"/>
    </p:embeddedFont>
    <p:embeddedFont>
      <p:font typeface="Horizon" charset="1" panose="020005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https://create.kahoot.it/details/0deb258a-508d-4754-8be2-a854adbc96b3" TargetMode="External" Type="http://schemas.openxmlformats.org/officeDocument/2006/relationships/hyperlink"/><Relationship Id="rId7" Target="https://youtu.be/Pxb3MPDzDt0"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309860"/>
          </a:xfrm>
          <a:custGeom>
            <a:avLst/>
            <a:gdLst/>
            <a:ahLst/>
            <a:cxnLst/>
            <a:rect r="r" b="b" t="t" l="l"/>
            <a:pathLst>
              <a:path h="10309860" w="18288000">
                <a:moveTo>
                  <a:pt x="0" y="0"/>
                </a:moveTo>
                <a:lnTo>
                  <a:pt x="18288000" y="0"/>
                </a:lnTo>
                <a:lnTo>
                  <a:pt x="18288000" y="10309860"/>
                </a:lnTo>
                <a:lnTo>
                  <a:pt x="0" y="10309860"/>
                </a:lnTo>
                <a:lnTo>
                  <a:pt x="0" y="0"/>
                </a:lnTo>
                <a:close/>
              </a:path>
            </a:pathLst>
          </a:custGeom>
          <a:blipFill>
            <a:blip r:embed="rId2"/>
            <a:stretch>
              <a:fillRect l="0" t="0" r="0" b="0"/>
            </a:stretch>
          </a:blipFill>
          <a:ln cap="sq">
            <a:noFill/>
            <a:prstDash val="solid"/>
            <a:miter/>
          </a:ln>
        </p:spPr>
      </p:sp>
      <p:graphicFrame>
        <p:nvGraphicFramePr>
          <p:cNvPr name="Table 3" id="3"/>
          <p:cNvGraphicFramePr>
            <a:graphicFrameLocks noGrp="true"/>
          </p:cNvGraphicFramePr>
          <p:nvPr/>
        </p:nvGraphicFramePr>
        <p:xfrm>
          <a:off x="8459661" y="2087779"/>
          <a:ext cx="9268437" cy="2162175"/>
        </p:xfrm>
        <a:graphic>
          <a:graphicData uri="http://schemas.openxmlformats.org/drawingml/2006/table">
            <a:tbl>
              <a:tblPr/>
              <a:tblGrid>
                <a:gridCol w="4350920"/>
                <a:gridCol w="4917518"/>
              </a:tblGrid>
              <a:tr h="1124719">
                <a:tc>
                  <a:txBody>
                    <a:bodyPr anchor="t" rtlCol="false"/>
                    <a:lstStyle/>
                    <a:p>
                      <a:pPr algn="ctr">
                        <a:lnSpc>
                          <a:spcPts val="4619"/>
                        </a:lnSpc>
                        <a:defRPr/>
                      </a:pPr>
                      <a:r>
                        <a:rPr lang="en-US" sz="3299" b="true">
                          <a:solidFill>
                            <a:srgbClr val="000000"/>
                          </a:solidFill>
                          <a:latin typeface="Arial Bold"/>
                          <a:ea typeface="Arial Bold"/>
                          <a:cs typeface="Arial Bold"/>
                          <a:sym typeface="Arial Bold"/>
                        </a:rPr>
                        <a:t>Dia, Fecha: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7456">
                <a:tc>
                  <a:txBody>
                    <a:bodyPr anchor="t" rtlCol="false"/>
                    <a:lstStyle/>
                    <a:p>
                      <a:pPr algn="ctr">
                        <a:lnSpc>
                          <a:spcPts val="3919"/>
                        </a:lnSpc>
                        <a:defRPr/>
                      </a:pPr>
                      <a:r>
                        <a:rPr lang="en-US" sz="2799" b="true">
                          <a:solidFill>
                            <a:srgbClr val="000000"/>
                          </a:solidFill>
                          <a:latin typeface="Garet Bold"/>
                          <a:ea typeface="Garet Bold"/>
                          <a:cs typeface="Garet Bold"/>
                          <a:sym typeface="Garet Bold"/>
                        </a:rPr>
                        <a:t>Hora de inicio: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4" id="4"/>
          <p:cNvGrpSpPr/>
          <p:nvPr/>
        </p:nvGrpSpPr>
        <p:grpSpPr>
          <a:xfrm rot="0">
            <a:off x="1198672" y="5749011"/>
            <a:ext cx="8989218" cy="903865"/>
            <a:chOff x="0" y="0"/>
            <a:chExt cx="2367531" cy="238055"/>
          </a:xfrm>
        </p:grpSpPr>
        <p:sp>
          <p:nvSpPr>
            <p:cNvPr name="Freeform 5" id="5"/>
            <p:cNvSpPr/>
            <p:nvPr/>
          </p:nvSpPr>
          <p:spPr>
            <a:xfrm flipH="false" flipV="false" rot="0">
              <a:off x="0" y="0"/>
              <a:ext cx="2367530" cy="238055"/>
            </a:xfrm>
            <a:custGeom>
              <a:avLst/>
              <a:gdLst/>
              <a:ahLst/>
              <a:cxnLst/>
              <a:rect r="r" b="b" t="t" l="l"/>
              <a:pathLst>
                <a:path h="238055" w="2367530">
                  <a:moveTo>
                    <a:pt x="0" y="0"/>
                  </a:moveTo>
                  <a:lnTo>
                    <a:pt x="2367530" y="0"/>
                  </a:lnTo>
                  <a:lnTo>
                    <a:pt x="2367530" y="238055"/>
                  </a:lnTo>
                  <a:lnTo>
                    <a:pt x="0" y="238055"/>
                  </a:lnTo>
                  <a:close/>
                </a:path>
              </a:pathLst>
            </a:custGeom>
            <a:solidFill>
              <a:srgbClr val="FFF3C2"/>
            </a:solidFill>
          </p:spPr>
        </p:sp>
        <p:sp>
          <p:nvSpPr>
            <p:cNvPr name="TextBox 6" id="6"/>
            <p:cNvSpPr txBox="true"/>
            <p:nvPr/>
          </p:nvSpPr>
          <p:spPr>
            <a:xfrm>
              <a:off x="0" y="-76200"/>
              <a:ext cx="2367531" cy="314255"/>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ns Bold"/>
                  <a:ea typeface="Open Sans Bold"/>
                  <a:cs typeface="Open Sans Bold"/>
                  <a:sym typeface="Open Sans Bold"/>
                </a:rPr>
                <a:t>Lógica de Sistemas Sección </a:t>
              </a:r>
            </a:p>
          </p:txBody>
        </p:sp>
      </p:grpSp>
      <p:grpSp>
        <p:nvGrpSpPr>
          <p:cNvPr name="Group 7" id="7"/>
          <p:cNvGrpSpPr/>
          <p:nvPr/>
        </p:nvGrpSpPr>
        <p:grpSpPr>
          <a:xfrm rot="0">
            <a:off x="1977804" y="7160164"/>
            <a:ext cx="7166196" cy="894134"/>
            <a:chOff x="0" y="0"/>
            <a:chExt cx="1887393" cy="235492"/>
          </a:xfrm>
        </p:grpSpPr>
        <p:sp>
          <p:nvSpPr>
            <p:cNvPr name="Freeform 8" id="8"/>
            <p:cNvSpPr/>
            <p:nvPr/>
          </p:nvSpPr>
          <p:spPr>
            <a:xfrm flipH="false" flipV="false" rot="0">
              <a:off x="0" y="0"/>
              <a:ext cx="1887393" cy="235492"/>
            </a:xfrm>
            <a:custGeom>
              <a:avLst/>
              <a:gdLst/>
              <a:ahLst/>
              <a:cxnLst/>
              <a:rect r="r" b="b" t="t" l="l"/>
              <a:pathLst>
                <a:path h="235492" w="1887393">
                  <a:moveTo>
                    <a:pt x="0" y="0"/>
                  </a:moveTo>
                  <a:lnTo>
                    <a:pt x="1887393" y="0"/>
                  </a:lnTo>
                  <a:lnTo>
                    <a:pt x="1887393" y="235492"/>
                  </a:lnTo>
                  <a:lnTo>
                    <a:pt x="0" y="235492"/>
                  </a:lnTo>
                  <a:close/>
                </a:path>
              </a:pathLst>
            </a:custGeom>
            <a:solidFill>
              <a:srgbClr val="FFF3C2"/>
            </a:solidFill>
          </p:spPr>
        </p:sp>
        <p:sp>
          <p:nvSpPr>
            <p:cNvPr name="TextBox 9" id="9"/>
            <p:cNvSpPr txBox="true"/>
            <p:nvPr/>
          </p:nvSpPr>
          <p:spPr>
            <a:xfrm>
              <a:off x="0" y="-57150"/>
              <a:ext cx="1887393" cy="292642"/>
            </a:xfrm>
            <a:prstGeom prst="rect">
              <a:avLst/>
            </a:prstGeom>
          </p:spPr>
          <p:txBody>
            <a:bodyPr anchor="ctr" rtlCol="false" tIns="50800" lIns="50800" bIns="50800" rIns="50800"/>
            <a:lstStyle/>
            <a:p>
              <a:pPr algn="ctr">
                <a:lnSpc>
                  <a:spcPts val="3919"/>
                </a:lnSpc>
              </a:pPr>
              <a:r>
                <a:rPr lang="en-US" sz="2799">
                  <a:solidFill>
                    <a:srgbClr val="000000"/>
                  </a:solidFill>
                  <a:latin typeface="Open Sans"/>
                  <a:ea typeface="Open Sans"/>
                  <a:cs typeface="Open Sans"/>
                  <a:sym typeface="Open Sans"/>
                </a:rPr>
                <a:t>NOMBRE DEL TUTOR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TextBox 3" id="3"/>
          <p:cNvSpPr txBox="true"/>
          <p:nvPr/>
        </p:nvSpPr>
        <p:spPr>
          <a:xfrm rot="0">
            <a:off x="1063303" y="7833952"/>
            <a:ext cx="5953683" cy="863674"/>
          </a:xfrm>
          <a:prstGeom prst="rect">
            <a:avLst/>
          </a:prstGeom>
        </p:spPr>
        <p:txBody>
          <a:bodyPr anchor="t" rtlCol="false" tIns="0" lIns="0" bIns="0" rIns="0">
            <a:spAutoFit/>
          </a:bodyPr>
          <a:lstStyle/>
          <a:p>
            <a:pPr algn="ctr">
              <a:lnSpc>
                <a:spcPts val="7000"/>
              </a:lnSpc>
            </a:pPr>
            <a:r>
              <a:rPr lang="en-US" sz="5000" b="true">
                <a:solidFill>
                  <a:srgbClr val="131416"/>
                </a:solidFill>
                <a:latin typeface="Open Sans Bold"/>
                <a:ea typeface="Open Sans Bold"/>
                <a:cs typeface="Open Sans Bold"/>
                <a:sym typeface="Open Sans Bold"/>
              </a:rPr>
              <a:t>Lógica de Sistemas</a:t>
            </a:r>
          </a:p>
        </p:txBody>
      </p:sp>
      <p:sp>
        <p:nvSpPr>
          <p:cNvPr name="TextBox 4" id="4"/>
          <p:cNvSpPr txBox="true"/>
          <p:nvPr/>
        </p:nvSpPr>
        <p:spPr>
          <a:xfrm rot="0">
            <a:off x="2232288" y="3915649"/>
            <a:ext cx="13285143" cy="1566507"/>
          </a:xfrm>
          <a:prstGeom prst="rect">
            <a:avLst/>
          </a:prstGeom>
        </p:spPr>
        <p:txBody>
          <a:bodyPr anchor="t" rtlCol="false" tIns="0" lIns="0" bIns="0" rIns="0">
            <a:spAutoFit/>
          </a:bodyPr>
          <a:lstStyle/>
          <a:p>
            <a:pPr algn="ctr">
              <a:lnSpc>
                <a:spcPts val="12880"/>
              </a:lnSpc>
            </a:pPr>
            <a:r>
              <a:rPr lang="en-US" sz="9200" b="true">
                <a:solidFill>
                  <a:srgbClr val="131416"/>
                </a:solidFill>
                <a:latin typeface="Open Sans Bold"/>
                <a:ea typeface="Open Sans Bold"/>
                <a:cs typeface="Open Sans Bold"/>
                <a:sym typeface="Open Sans Bold"/>
              </a:rPr>
              <a:t>Funciones del lenguaje</a:t>
            </a:r>
          </a:p>
        </p:txBody>
      </p:sp>
      <p:sp>
        <p:nvSpPr>
          <p:cNvPr name="TextBox 5" id="5"/>
          <p:cNvSpPr txBox="true"/>
          <p:nvPr/>
        </p:nvSpPr>
        <p:spPr>
          <a:xfrm rot="0">
            <a:off x="1063303" y="8745251"/>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6" id="6"/>
          <p:cNvSpPr txBox="true"/>
          <p:nvPr/>
        </p:nvSpPr>
        <p:spPr>
          <a:xfrm rot="0">
            <a:off x="1028700" y="9210675"/>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7" id="7"/>
          <p:cNvSpPr txBox="true"/>
          <p:nvPr/>
        </p:nvSpPr>
        <p:spPr>
          <a:xfrm rot="0">
            <a:off x="1028700" y="958532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619" y="4699462"/>
            <a:ext cx="4613551" cy="666407"/>
            <a:chOff x="0" y="0"/>
            <a:chExt cx="1964221" cy="283723"/>
          </a:xfrm>
        </p:grpSpPr>
        <p:sp>
          <p:nvSpPr>
            <p:cNvPr name="Freeform 3" id="3"/>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4" id="4"/>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Unidad 4</a:t>
              </a:r>
            </a:p>
          </p:txBody>
        </p:sp>
      </p:grpSp>
      <p:sp>
        <p:nvSpPr>
          <p:cNvPr name="Freeform 5" id="5"/>
          <p:cNvSpPr/>
          <p:nvPr/>
        </p:nvSpPr>
        <p:spPr>
          <a:xfrm flipH="false" flipV="false" rot="0">
            <a:off x="878654" y="4740441"/>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6989" y="3303305"/>
            <a:ext cx="4115190" cy="1267162"/>
            <a:chOff x="0" y="0"/>
            <a:chExt cx="1083836" cy="333738"/>
          </a:xfrm>
        </p:grpSpPr>
        <p:sp>
          <p:nvSpPr>
            <p:cNvPr name="Freeform 7" id="7"/>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8" id="8"/>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9" id="9"/>
          <p:cNvSpPr/>
          <p:nvPr/>
        </p:nvSpPr>
        <p:spPr>
          <a:xfrm flipH="false" flipV="false" rot="0">
            <a:off x="651754" y="3429735"/>
            <a:ext cx="753892" cy="872928"/>
          </a:xfrm>
          <a:custGeom>
            <a:avLst/>
            <a:gdLst/>
            <a:ahLst/>
            <a:cxnLst/>
            <a:rect r="r" b="b" t="t" l="l"/>
            <a:pathLst>
              <a:path h="872928" w="753892">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51754" y="-249180"/>
            <a:ext cx="6140237" cy="2980843"/>
            <a:chOff x="0" y="0"/>
            <a:chExt cx="8186982" cy="3974458"/>
          </a:xfrm>
        </p:grpSpPr>
        <p:sp>
          <p:nvSpPr>
            <p:cNvPr name="TextBox 11" id="11"/>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12" id="12"/>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grpSp>
        <p:nvGrpSpPr>
          <p:cNvPr name="Group 13" id="13"/>
          <p:cNvGrpSpPr/>
          <p:nvPr/>
        </p:nvGrpSpPr>
        <p:grpSpPr>
          <a:xfrm rot="0">
            <a:off x="11131715" y="154716"/>
            <a:ext cx="8416862" cy="2844707"/>
            <a:chOff x="0" y="0"/>
            <a:chExt cx="11222483" cy="3792943"/>
          </a:xfrm>
        </p:grpSpPr>
        <p:sp>
          <p:nvSpPr>
            <p:cNvPr name="TextBox 14" id="14"/>
            <p:cNvSpPr txBox="true"/>
            <p:nvPr/>
          </p:nvSpPr>
          <p:spPr>
            <a:xfrm rot="0">
              <a:off x="0" y="805268"/>
              <a:ext cx="11222483"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name="TextBox 15" id="15"/>
            <p:cNvSpPr txBox="true"/>
            <p:nvPr/>
          </p:nvSpPr>
          <p:spPr>
            <a:xfrm rot="0">
              <a:off x="0" y="-76200"/>
              <a:ext cx="11222483" cy="747545"/>
            </a:xfrm>
            <a:prstGeom prst="rect">
              <a:avLst/>
            </a:prstGeom>
          </p:spPr>
          <p:txBody>
            <a:bodyPr anchor="t" rtlCol="false" tIns="0" lIns="0" bIns="0" rIns="0">
              <a:spAutoFit/>
            </a:bodyPr>
            <a:lstStyle/>
            <a:p>
              <a:pPr algn="l">
                <a:lnSpc>
                  <a:spcPts val="4625"/>
                </a:lnSpc>
              </a:pPr>
            </a:p>
          </p:txBody>
        </p:sp>
      </p:grpSp>
      <p:grpSp>
        <p:nvGrpSpPr>
          <p:cNvPr name="Group 16" id="16"/>
          <p:cNvGrpSpPr/>
          <p:nvPr/>
        </p:nvGrpSpPr>
        <p:grpSpPr>
          <a:xfrm rot="0">
            <a:off x="11739805" y="3232617"/>
            <a:ext cx="5353646" cy="1267162"/>
            <a:chOff x="0" y="0"/>
            <a:chExt cx="1410014" cy="333738"/>
          </a:xfrm>
        </p:grpSpPr>
        <p:sp>
          <p:nvSpPr>
            <p:cNvPr name="Freeform 17" id="17"/>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18" id="18"/>
            <p:cNvSpPr txBox="true"/>
            <p:nvPr/>
          </p:nvSpPr>
          <p:spPr>
            <a:xfrm>
              <a:off x="0" y="-114300"/>
              <a:ext cx="1295714"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del Video</a:t>
              </a:r>
            </a:p>
          </p:txBody>
        </p:sp>
      </p:grpSp>
      <p:grpSp>
        <p:nvGrpSpPr>
          <p:cNvPr name="Group 19" id="19"/>
          <p:cNvGrpSpPr/>
          <p:nvPr/>
        </p:nvGrpSpPr>
        <p:grpSpPr>
          <a:xfrm rot="0">
            <a:off x="11739805" y="5032666"/>
            <a:ext cx="5353646" cy="1267162"/>
            <a:chOff x="0" y="0"/>
            <a:chExt cx="1410014" cy="333738"/>
          </a:xfrm>
        </p:grpSpPr>
        <p:sp>
          <p:nvSpPr>
            <p:cNvPr name="Freeform 20" id="20"/>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21" id="21"/>
            <p:cNvSpPr txBox="true"/>
            <p:nvPr/>
          </p:nvSpPr>
          <p:spPr>
            <a:xfrm>
              <a:off x="0" y="-114300"/>
              <a:ext cx="1295714"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 Quizziz</a:t>
              </a:r>
            </a:p>
          </p:txBody>
        </p:sp>
      </p:grpSp>
      <p:sp>
        <p:nvSpPr>
          <p:cNvPr name="TextBox 22" id="22"/>
          <p:cNvSpPr txBox="true"/>
          <p:nvPr/>
        </p:nvSpPr>
        <p:spPr>
          <a:xfrm rot="0">
            <a:off x="9229069" y="6461754"/>
            <a:ext cx="8952191" cy="895348"/>
          </a:xfrm>
          <a:prstGeom prst="rect">
            <a:avLst/>
          </a:prstGeom>
        </p:spPr>
        <p:txBody>
          <a:bodyPr anchor="t" rtlCol="false" tIns="0" lIns="0" bIns="0" rIns="0">
            <a:spAutoFit/>
          </a:bodyPr>
          <a:lstStyle/>
          <a:p>
            <a:pPr algn="l">
              <a:lnSpc>
                <a:spcPts val="3552"/>
              </a:lnSpc>
            </a:pPr>
            <a:r>
              <a:rPr lang="en-US" sz="2537" u="sng">
                <a:solidFill>
                  <a:srgbClr val="5271FF"/>
                </a:solidFill>
                <a:latin typeface="Arimo"/>
                <a:ea typeface="Arimo"/>
                <a:cs typeface="Arimo"/>
                <a:sym typeface="Arimo"/>
                <a:hlinkClick r:id="rId6" tooltip="https://create.kahoot.it/details/0deb258a-508d-4754-8be2-a854adbc96b3"/>
              </a:rPr>
              <a:t>https://create.kahoot.it/details/0deb258a-508d-4754-8be2-a854adbc96b3</a:t>
            </a:r>
          </a:p>
        </p:txBody>
      </p:sp>
      <p:sp>
        <p:nvSpPr>
          <p:cNvPr name="TextBox 23" id="23"/>
          <p:cNvSpPr txBox="true"/>
          <p:nvPr/>
        </p:nvSpPr>
        <p:spPr>
          <a:xfrm rot="0">
            <a:off x="9144000" y="4188362"/>
            <a:ext cx="7987047" cy="807085"/>
          </a:xfrm>
          <a:prstGeom prst="rect">
            <a:avLst/>
          </a:prstGeom>
        </p:spPr>
        <p:txBody>
          <a:bodyPr anchor="t" rtlCol="false" tIns="0" lIns="0" bIns="0" rIns="0">
            <a:spAutoFit/>
          </a:bodyPr>
          <a:lstStyle/>
          <a:p>
            <a:pPr algn="l">
              <a:lnSpc>
                <a:spcPts val="6439"/>
              </a:lnSpc>
            </a:pPr>
            <a:r>
              <a:rPr lang="en-US" sz="4599" u="sng">
                <a:solidFill>
                  <a:srgbClr val="5271FF"/>
                </a:solidFill>
                <a:latin typeface="Arimo"/>
                <a:ea typeface="Arimo"/>
                <a:cs typeface="Arimo"/>
                <a:sym typeface="Arimo"/>
                <a:hlinkClick r:id="rId7" tooltip="https://youtu.be/Pxb3MPDzDt0"/>
              </a:rPr>
              <a:t>https://youtu.be/Pxb3MPDzDt0</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4889" y="1009650"/>
            <a:ext cx="13991174" cy="1801020"/>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name="TextBox 3" id="3"/>
          <p:cNvSpPr txBox="true"/>
          <p:nvPr/>
        </p:nvSpPr>
        <p:spPr>
          <a:xfrm rot="0">
            <a:off x="1145765" y="3501886"/>
            <a:ext cx="16255693" cy="6223492"/>
          </a:xfrm>
          <a:prstGeom prst="rect">
            <a:avLst/>
          </a:prstGeom>
        </p:spPr>
        <p:txBody>
          <a:bodyPr anchor="t" rtlCol="false" tIns="0" lIns="0" bIns="0" rIns="0">
            <a:spAutoFit/>
          </a:bodyPr>
          <a:lstStyle/>
          <a:p>
            <a:pPr algn="just">
              <a:lnSpc>
                <a:spcPts val="6196"/>
              </a:lnSpc>
            </a:pPr>
            <a:r>
              <a:rPr lang="en-US" sz="4426" b="true">
                <a:solidFill>
                  <a:srgbClr val="131416"/>
                </a:solidFill>
                <a:latin typeface="Open Sans Bold"/>
                <a:ea typeface="Open Sans Bold"/>
                <a:cs typeface="Open Sans Bold"/>
                <a:sym typeface="Open Sans Bold"/>
              </a:rPr>
              <a:t>Comprende las diferencias entre lógica formal, matemática y sistémica a través del análisis comparativo </a:t>
            </a:r>
          </a:p>
          <a:p>
            <a:pPr algn="just">
              <a:lnSpc>
                <a:spcPts val="6196"/>
              </a:lnSpc>
            </a:pPr>
            <a:r>
              <a:rPr lang="en-US" sz="4426" b="true">
                <a:solidFill>
                  <a:srgbClr val="131416"/>
                </a:solidFill>
                <a:latin typeface="Open Sans Bold"/>
                <a:ea typeface="Open Sans Bold"/>
                <a:cs typeface="Open Sans Bold"/>
                <a:sym typeface="Open Sans Bold"/>
              </a:rPr>
              <a:t>en ejercicios y situaciones académicas.</a:t>
            </a:r>
          </a:p>
          <a:p>
            <a:pPr algn="just">
              <a:lnSpc>
                <a:spcPts val="6196"/>
              </a:lnSpc>
            </a:pPr>
          </a:p>
          <a:p>
            <a:pPr algn="just">
              <a:lnSpc>
                <a:spcPts val="6196"/>
              </a:lnSpc>
            </a:pPr>
            <a:r>
              <a:rPr lang="en-US" sz="4426" b="true">
                <a:solidFill>
                  <a:srgbClr val="131416"/>
                </a:solidFill>
                <a:latin typeface="Open Sans Bold"/>
                <a:ea typeface="Open Sans Bold"/>
                <a:cs typeface="Open Sans Bold"/>
                <a:sym typeface="Open Sans Bold"/>
              </a:rPr>
              <a:t>Analiza proposiciones y razonamientos en el lenguaje identificando premisas, conclusiones y sus relaciones lógicas dentro de textos y enunciados</a:t>
            </a:r>
          </a:p>
          <a:p>
            <a:pPr algn="just">
              <a:lnSpc>
                <a:spcPts val="6196"/>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48413" y="1000125"/>
            <a:ext cx="13991174" cy="1757558"/>
          </a:xfrm>
          <a:prstGeom prst="rect">
            <a:avLst/>
          </a:prstGeom>
        </p:spPr>
        <p:txBody>
          <a:bodyPr anchor="t" rtlCol="false" tIns="0" lIns="0" bIns="0" rIns="0">
            <a:spAutoFit/>
          </a:bodyPr>
          <a:lstStyle/>
          <a:p>
            <a:pPr algn="just">
              <a:lnSpc>
                <a:spcPts val="6664"/>
              </a:lnSpc>
            </a:pPr>
            <a:r>
              <a:rPr lang="en-US" sz="5898">
                <a:solidFill>
                  <a:srgbClr val="131416"/>
                </a:solidFill>
                <a:latin typeface="Horizon"/>
                <a:ea typeface="Horizon"/>
                <a:cs typeface="Horizon"/>
                <a:sym typeface="Horizon"/>
              </a:rPr>
              <a:t>¿QUÉ ES EL LENGUAJE?</a:t>
            </a:r>
          </a:p>
          <a:p>
            <a:pPr algn="just">
              <a:lnSpc>
                <a:spcPts val="6664"/>
              </a:lnSpc>
            </a:pPr>
            <a:r>
              <a:rPr lang="en-US" sz="5898">
                <a:solidFill>
                  <a:srgbClr val="131416"/>
                </a:solidFill>
                <a:latin typeface="Horizon"/>
                <a:ea typeface="Horizon"/>
                <a:cs typeface="Horizon"/>
                <a:sym typeface="Horizon"/>
              </a:rPr>
              <a:t>EN LOGICA</a:t>
            </a:r>
          </a:p>
        </p:txBody>
      </p:sp>
      <p:sp>
        <p:nvSpPr>
          <p:cNvPr name="TextBox 3" id="3"/>
          <p:cNvSpPr txBox="true"/>
          <p:nvPr/>
        </p:nvSpPr>
        <p:spPr>
          <a:xfrm rot="0">
            <a:off x="951877" y="3651532"/>
            <a:ext cx="16384246" cy="1944753"/>
          </a:xfrm>
          <a:prstGeom prst="rect">
            <a:avLst/>
          </a:prstGeom>
        </p:spPr>
        <p:txBody>
          <a:bodyPr anchor="t" rtlCol="false" tIns="0" lIns="0" bIns="0" rIns="0">
            <a:spAutoFit/>
          </a:bodyPr>
          <a:lstStyle/>
          <a:p>
            <a:pPr algn="just">
              <a:lnSpc>
                <a:spcPts val="3861"/>
              </a:lnSpc>
              <a:spcBef>
                <a:spcPct val="0"/>
              </a:spcBef>
            </a:pPr>
            <a:r>
              <a:rPr lang="en-US" sz="3417">
                <a:solidFill>
                  <a:srgbClr val="131416"/>
                </a:solidFill>
                <a:latin typeface="Open Sans"/>
                <a:ea typeface="Open Sans"/>
                <a:cs typeface="Open Sans"/>
                <a:sym typeface="Open Sans"/>
              </a:rPr>
              <a:t>El</a:t>
            </a:r>
            <a:r>
              <a:rPr lang="en-US" sz="3417">
                <a:solidFill>
                  <a:srgbClr val="131416"/>
                </a:solidFill>
                <a:latin typeface="Open Sans"/>
                <a:ea typeface="Open Sans"/>
                <a:cs typeface="Open Sans"/>
                <a:sym typeface="Open Sans"/>
              </a:rPr>
              <a:t> lenguaje es un sistema de signos que utilizamos para comunicar pensamientos, sentimientos, órdenes o información. Es una herramienta esencial en la vida humana, ya que nos permite relacionarnos, transmitir conocimientos, expresar emociones y construir cultura.</a:t>
            </a:r>
          </a:p>
        </p:txBody>
      </p:sp>
      <p:sp>
        <p:nvSpPr>
          <p:cNvPr name="TextBox 4" id="4"/>
          <p:cNvSpPr txBox="true"/>
          <p:nvPr/>
        </p:nvSpPr>
        <p:spPr>
          <a:xfrm rot="0">
            <a:off x="1028700" y="6158260"/>
            <a:ext cx="16230600" cy="2380913"/>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D</a:t>
            </a:r>
            <a:r>
              <a:rPr lang="en-US" sz="3399">
                <a:solidFill>
                  <a:srgbClr val="131416"/>
                </a:solidFill>
                <a:latin typeface="Open Sans"/>
                <a:ea typeface="Open Sans"/>
                <a:cs typeface="Open Sans"/>
                <a:sym typeface="Open Sans"/>
              </a:rPr>
              <a:t>esde el punto de vista lógico, el lenguaje es también el medio mediante el cual se expresan proposiciones, es decir, afirmaciones que pueden ser verdaderas o falsas. Pero no todo lenguaje cumple esta función lógica: dependiendo de su intención, puede ser informativo, expresivo, directivo o mixto.</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48413" y="1000125"/>
            <a:ext cx="13991174"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FUNCIONES DEL LENGUAJE</a:t>
            </a:r>
          </a:p>
        </p:txBody>
      </p:sp>
      <p:sp>
        <p:nvSpPr>
          <p:cNvPr name="TextBox 3" id="3"/>
          <p:cNvSpPr txBox="true"/>
          <p:nvPr/>
        </p:nvSpPr>
        <p:spPr>
          <a:xfrm rot="0">
            <a:off x="1521495" y="2056289"/>
            <a:ext cx="15737805" cy="2753045"/>
          </a:xfrm>
          <a:prstGeom prst="rect">
            <a:avLst/>
          </a:prstGeom>
        </p:spPr>
        <p:txBody>
          <a:bodyPr anchor="t" rtlCol="false" tIns="0" lIns="0" bIns="0" rIns="0">
            <a:spAutoFit/>
          </a:bodyPr>
          <a:lstStyle/>
          <a:p>
            <a:pPr algn="l">
              <a:lnSpc>
                <a:spcPts val="3616"/>
              </a:lnSpc>
            </a:pPr>
            <a:r>
              <a:rPr lang="en-US" sz="3200">
                <a:solidFill>
                  <a:srgbClr val="131416"/>
                </a:solidFill>
                <a:latin typeface="Open Sans"/>
                <a:ea typeface="Open Sans"/>
                <a:cs typeface="Open Sans"/>
                <a:sym typeface="Open Sans"/>
              </a:rPr>
              <a:t>El lenguaje cumpl</a:t>
            </a:r>
            <a:r>
              <a:rPr lang="en-US" sz="3200">
                <a:solidFill>
                  <a:srgbClr val="131416"/>
                </a:solidFill>
                <a:latin typeface="Open Sans"/>
                <a:ea typeface="Open Sans"/>
                <a:cs typeface="Open Sans"/>
                <a:sym typeface="Open Sans"/>
              </a:rPr>
              <a:t>e distintas funciones según la intención del hablante y el contexto en que se utiliza. Cada función responde a una necesidad comunicativa distinta y nos permite expresar desde hechos objetivos hasta emociones profundas o instrucciones precisas.</a:t>
            </a:r>
          </a:p>
          <a:p>
            <a:pPr algn="l">
              <a:lnSpc>
                <a:spcPts val="3616"/>
              </a:lnSpc>
            </a:pPr>
            <a:r>
              <a:rPr lang="en-US" sz="3200">
                <a:solidFill>
                  <a:srgbClr val="131416"/>
                </a:solidFill>
                <a:latin typeface="Open Sans"/>
                <a:ea typeface="Open Sans"/>
                <a:cs typeface="Open Sans"/>
                <a:sym typeface="Open Sans"/>
              </a:rPr>
              <a:t>Las principales funciones del lenguaje son:</a:t>
            </a:r>
          </a:p>
          <a:p>
            <a:pPr algn="l">
              <a:lnSpc>
                <a:spcPts val="3616"/>
              </a:lnSpc>
            </a:pPr>
          </a:p>
        </p:txBody>
      </p:sp>
      <p:sp>
        <p:nvSpPr>
          <p:cNvPr name="TextBox 4" id="4"/>
          <p:cNvSpPr txBox="true"/>
          <p:nvPr/>
        </p:nvSpPr>
        <p:spPr>
          <a:xfrm rot="0">
            <a:off x="2457051" y="4742658"/>
            <a:ext cx="13866692" cy="478151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131416"/>
                </a:solidFill>
                <a:latin typeface="Open Sans"/>
                <a:ea typeface="Open Sans"/>
                <a:cs typeface="Open Sans"/>
                <a:sym typeface="Open Sans"/>
              </a:rPr>
              <a:t>Informativa: transmite datos o conocimientos verificables. Es la base de la comunicación científica y lógica.</a:t>
            </a:r>
          </a:p>
          <a:p>
            <a:pPr algn="l" marL="734059" indent="-367030" lvl="1">
              <a:lnSpc>
                <a:spcPts val="4759"/>
              </a:lnSpc>
              <a:buFont typeface="Arial"/>
              <a:buChar char="•"/>
            </a:pPr>
            <a:r>
              <a:rPr lang="en-US" sz="3399">
                <a:solidFill>
                  <a:srgbClr val="131416"/>
                </a:solidFill>
                <a:latin typeface="Open Sans"/>
                <a:ea typeface="Open Sans"/>
                <a:cs typeface="Open Sans"/>
                <a:sym typeface="Open Sans"/>
              </a:rPr>
              <a:t>Expresiva: refleja emociones, sentimientos o estados de ánimo del hablante.</a:t>
            </a:r>
          </a:p>
          <a:p>
            <a:pPr algn="l" marL="734059" indent="-367030" lvl="1">
              <a:lnSpc>
                <a:spcPts val="4759"/>
              </a:lnSpc>
              <a:buFont typeface="Arial"/>
              <a:buChar char="•"/>
            </a:pPr>
            <a:r>
              <a:rPr lang="en-US" sz="3399">
                <a:solidFill>
                  <a:srgbClr val="131416"/>
                </a:solidFill>
                <a:latin typeface="Open Sans"/>
                <a:ea typeface="Open Sans"/>
                <a:cs typeface="Open Sans"/>
                <a:sym typeface="Open Sans"/>
              </a:rPr>
              <a:t>Directiva: busca influir en el receptor mediante órdenes, sugerencias o peticiones.</a:t>
            </a:r>
          </a:p>
          <a:p>
            <a:pPr algn="l" marL="734059" indent="-367030" lvl="1">
              <a:lnSpc>
                <a:spcPts val="4759"/>
              </a:lnSpc>
              <a:buFont typeface="Arial"/>
              <a:buChar char="•"/>
            </a:pPr>
            <a:r>
              <a:rPr lang="en-US" sz="3399">
                <a:solidFill>
                  <a:srgbClr val="131416"/>
                </a:solidFill>
                <a:latin typeface="Open Sans"/>
                <a:ea typeface="Open Sans"/>
                <a:cs typeface="Open Sans"/>
                <a:sym typeface="Open Sans"/>
              </a:rPr>
              <a:t>Mixta: combina varias funciones en una misma expresión, como ocurre en el lenguaje cotidiano, literario o publicitario.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41454" y="0"/>
            <a:ext cx="3460855" cy="3295335"/>
          </a:xfrm>
          <a:custGeom>
            <a:avLst/>
            <a:gdLst/>
            <a:ahLst/>
            <a:cxnLst/>
            <a:rect r="r" b="b" t="t" l="l"/>
            <a:pathLst>
              <a:path h="3295335" w="3460855">
                <a:moveTo>
                  <a:pt x="0" y="0"/>
                </a:moveTo>
                <a:lnTo>
                  <a:pt x="3460855" y="0"/>
                </a:lnTo>
                <a:lnTo>
                  <a:pt x="3460855" y="3295335"/>
                </a:lnTo>
                <a:lnTo>
                  <a:pt x="0" y="3295335"/>
                </a:lnTo>
                <a:lnTo>
                  <a:pt x="0" y="0"/>
                </a:lnTo>
                <a:close/>
              </a:path>
            </a:pathLst>
          </a:custGeom>
          <a:blipFill>
            <a:blip r:embed="rId2"/>
            <a:stretch>
              <a:fillRect l="0" t="0" r="0" b="0"/>
            </a:stretch>
          </a:blipFill>
        </p:spPr>
      </p:sp>
      <p:sp>
        <p:nvSpPr>
          <p:cNvPr name="TextBox 3" id="3"/>
          <p:cNvSpPr txBox="true"/>
          <p:nvPr/>
        </p:nvSpPr>
        <p:spPr>
          <a:xfrm rot="0">
            <a:off x="2148413" y="1000125"/>
            <a:ext cx="13991174"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LENGUAJE INFORMATIVO</a:t>
            </a:r>
          </a:p>
        </p:txBody>
      </p:sp>
      <p:sp>
        <p:nvSpPr>
          <p:cNvPr name="TextBox 4" id="4"/>
          <p:cNvSpPr txBox="true"/>
          <p:nvPr/>
        </p:nvSpPr>
        <p:spPr>
          <a:xfrm rot="0">
            <a:off x="1631444" y="3200085"/>
            <a:ext cx="15737805" cy="4240790"/>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El lenguaje informat</a:t>
            </a:r>
            <a:r>
              <a:rPr lang="en-US" sz="3200">
                <a:solidFill>
                  <a:srgbClr val="131416"/>
                </a:solidFill>
                <a:latin typeface="Open Sans"/>
                <a:ea typeface="Open Sans"/>
                <a:cs typeface="Open Sans"/>
                <a:sym typeface="Open Sans"/>
              </a:rPr>
              <a:t>ivo se utiliza cuando el objetivo principal es comunicar datos, hechos o conocimientos que pueden ser verificados. Es el tipo de lenguaje que predomina en textos científicos, noticias, libros escolares o informes técnicos.</a:t>
            </a:r>
          </a:p>
          <a:p>
            <a:pPr algn="l">
              <a:lnSpc>
                <a:spcPts val="4800"/>
              </a:lnSpc>
            </a:pPr>
            <a:r>
              <a:rPr lang="en-US" sz="3200">
                <a:solidFill>
                  <a:srgbClr val="131416"/>
                </a:solidFill>
                <a:latin typeface="Open Sans"/>
                <a:ea typeface="Open Sans"/>
                <a:cs typeface="Open Sans"/>
                <a:sym typeface="Open Sans"/>
              </a:rPr>
              <a:t>Este tipo de lenguaje tiene una característica clave: lo que se dice puede ser verdadero o falso, ya que se basa en afirmaciones contrastables con la realidad. Por ello, es el único tipo de lenguaje que interesa a la lógica formal.</a:t>
            </a:r>
          </a:p>
          <a:p>
            <a:pPr algn="l">
              <a:lnSpc>
                <a:spcPts val="4800"/>
              </a:lnSpc>
            </a:pPr>
          </a:p>
        </p:txBody>
      </p:sp>
      <p:sp>
        <p:nvSpPr>
          <p:cNvPr name="TextBox 5" id="5"/>
          <p:cNvSpPr txBox="true"/>
          <p:nvPr/>
        </p:nvSpPr>
        <p:spPr>
          <a:xfrm rot="0">
            <a:off x="1631444" y="7661499"/>
            <a:ext cx="15737805" cy="1381221"/>
          </a:xfrm>
          <a:prstGeom prst="rect">
            <a:avLst/>
          </a:prstGeom>
        </p:spPr>
        <p:txBody>
          <a:bodyPr anchor="t" rtlCol="false" tIns="0" lIns="0" bIns="0" rIns="0">
            <a:spAutoFit/>
          </a:bodyPr>
          <a:lstStyle/>
          <a:p>
            <a:pPr algn="l">
              <a:lnSpc>
                <a:spcPts val="3616"/>
              </a:lnSpc>
            </a:pPr>
            <a:r>
              <a:rPr lang="en-US" sz="3200">
                <a:solidFill>
                  <a:srgbClr val="131416"/>
                </a:solidFill>
                <a:latin typeface="Open Sans"/>
                <a:ea typeface="Open Sans"/>
                <a:cs typeface="Open Sans"/>
                <a:sym typeface="Open Sans"/>
              </a:rPr>
              <a:t>Este tipo de lenguaje tiene una característica clave: lo que se dice puede ser verdadero o falso, ya que se basa en afirmaciones contrastables con la realidad. Por ello, es el único tipo de lenguaje que interesa a la lógica formal.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994494" y="2594994"/>
            <a:ext cx="5018409" cy="2810309"/>
          </a:xfrm>
          <a:custGeom>
            <a:avLst/>
            <a:gdLst/>
            <a:ahLst/>
            <a:cxnLst/>
            <a:rect r="r" b="b" t="t" l="l"/>
            <a:pathLst>
              <a:path h="2810309" w="5018409">
                <a:moveTo>
                  <a:pt x="0" y="0"/>
                </a:moveTo>
                <a:lnTo>
                  <a:pt x="5018409" y="0"/>
                </a:lnTo>
                <a:lnTo>
                  <a:pt x="5018409" y="2810309"/>
                </a:lnTo>
                <a:lnTo>
                  <a:pt x="0" y="2810309"/>
                </a:lnTo>
                <a:lnTo>
                  <a:pt x="0" y="0"/>
                </a:lnTo>
                <a:close/>
              </a:path>
            </a:pathLst>
          </a:custGeom>
          <a:blipFill>
            <a:blip r:embed="rId2"/>
            <a:stretch>
              <a:fillRect l="0" t="0" r="0" b="0"/>
            </a:stretch>
          </a:blipFill>
        </p:spPr>
      </p:sp>
      <p:sp>
        <p:nvSpPr>
          <p:cNvPr name="TextBox 3" id="3"/>
          <p:cNvSpPr txBox="true"/>
          <p:nvPr/>
        </p:nvSpPr>
        <p:spPr>
          <a:xfrm rot="0">
            <a:off x="2148413" y="835201"/>
            <a:ext cx="13991174"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EJEMPLOS DE</a:t>
            </a:r>
          </a:p>
          <a:p>
            <a:pPr algn="just">
              <a:lnSpc>
                <a:spcPts val="5760"/>
              </a:lnSpc>
            </a:pPr>
            <a:r>
              <a:rPr lang="en-US" sz="5098">
                <a:solidFill>
                  <a:srgbClr val="131416"/>
                </a:solidFill>
                <a:latin typeface="Horizon"/>
                <a:ea typeface="Horizon"/>
                <a:cs typeface="Horizon"/>
                <a:sym typeface="Horizon"/>
              </a:rPr>
              <a:t>LENGUAJE INFORMATIVO</a:t>
            </a:r>
          </a:p>
        </p:txBody>
      </p:sp>
      <p:sp>
        <p:nvSpPr>
          <p:cNvPr name="TextBox 4" id="4"/>
          <p:cNvSpPr txBox="true"/>
          <p:nvPr/>
        </p:nvSpPr>
        <p:spPr>
          <a:xfrm rot="0">
            <a:off x="1631444" y="3200085"/>
            <a:ext cx="15737805" cy="582967"/>
          </a:xfrm>
          <a:prstGeom prst="rect">
            <a:avLst/>
          </a:prstGeom>
        </p:spPr>
        <p:txBody>
          <a:bodyPr anchor="t" rtlCol="false" tIns="0" lIns="0" bIns="0" rIns="0">
            <a:spAutoFit/>
          </a:bodyPr>
          <a:lstStyle/>
          <a:p>
            <a:pPr algn="l">
              <a:lnSpc>
                <a:spcPts val="4800"/>
              </a:lnSpc>
            </a:pPr>
          </a:p>
        </p:txBody>
      </p:sp>
      <p:sp>
        <p:nvSpPr>
          <p:cNvPr name="TextBox 5" id="5"/>
          <p:cNvSpPr txBox="true"/>
          <p:nvPr/>
        </p:nvSpPr>
        <p:spPr>
          <a:xfrm rot="0">
            <a:off x="1521495" y="3430723"/>
            <a:ext cx="15737805" cy="1974580"/>
          </a:xfrm>
          <a:prstGeom prst="rect">
            <a:avLst/>
          </a:prstGeom>
        </p:spPr>
        <p:txBody>
          <a:bodyPr anchor="t" rtlCol="false" tIns="0" lIns="0" bIns="0" rIns="0">
            <a:spAutoFit/>
          </a:bodyPr>
          <a:lstStyle/>
          <a:p>
            <a:pPr algn="l">
              <a:lnSpc>
                <a:spcPts val="5197"/>
              </a:lnSpc>
            </a:pPr>
            <a:r>
              <a:rPr lang="en-US" sz="4599">
                <a:solidFill>
                  <a:srgbClr val="131416"/>
                </a:solidFill>
                <a:latin typeface="Open Sans"/>
                <a:ea typeface="Open Sans"/>
                <a:cs typeface="Open Sans"/>
                <a:sym typeface="Open Sans"/>
              </a:rPr>
              <a:t>“</a:t>
            </a:r>
            <a:r>
              <a:rPr lang="en-US" sz="4599">
                <a:solidFill>
                  <a:srgbClr val="131416"/>
                </a:solidFill>
                <a:latin typeface="Open Sans"/>
                <a:ea typeface="Open Sans"/>
                <a:cs typeface="Open Sans"/>
                <a:sym typeface="Open Sans"/>
              </a:rPr>
              <a:t>El agua hierve a 100 grados Celsius.”</a:t>
            </a:r>
          </a:p>
          <a:p>
            <a:pPr algn="l">
              <a:lnSpc>
                <a:spcPts val="5197"/>
              </a:lnSpc>
            </a:pPr>
            <a:r>
              <a:rPr lang="en-US" sz="4599">
                <a:solidFill>
                  <a:srgbClr val="131416"/>
                </a:solidFill>
                <a:latin typeface="Open Sans"/>
                <a:ea typeface="Open Sans"/>
                <a:cs typeface="Open Sans"/>
                <a:sym typeface="Open Sans"/>
              </a:rPr>
              <a:t>“Guatemala está en América Central.”</a:t>
            </a:r>
          </a:p>
          <a:p>
            <a:pPr algn="l">
              <a:lnSpc>
                <a:spcPts val="5197"/>
              </a:lnSpc>
            </a:pPr>
            <a:r>
              <a:rPr lang="en-US" sz="4599">
                <a:solidFill>
                  <a:srgbClr val="131416"/>
                </a:solidFill>
                <a:latin typeface="Open Sans"/>
                <a:ea typeface="Open Sans"/>
                <a:cs typeface="Open Sans"/>
                <a:sym typeface="Open Sans"/>
              </a:rPr>
              <a:t>“El corazón humano tiene cuatro cavidades.”</a:t>
            </a:r>
          </a:p>
        </p:txBody>
      </p:sp>
      <p:sp>
        <p:nvSpPr>
          <p:cNvPr name="TextBox 6" id="6"/>
          <p:cNvSpPr txBox="true"/>
          <p:nvPr/>
        </p:nvSpPr>
        <p:spPr>
          <a:xfrm rot="0">
            <a:off x="1275097" y="6332463"/>
            <a:ext cx="15737805" cy="1802242"/>
          </a:xfrm>
          <a:prstGeom prst="rect">
            <a:avLst/>
          </a:prstGeom>
        </p:spPr>
        <p:txBody>
          <a:bodyPr anchor="t" rtlCol="false" tIns="0" lIns="0" bIns="0" rIns="0">
            <a:spAutoFit/>
          </a:bodyPr>
          <a:lstStyle/>
          <a:p>
            <a:pPr algn="just">
              <a:lnSpc>
                <a:spcPts val="4800"/>
              </a:lnSpc>
            </a:pPr>
            <a:r>
              <a:rPr lang="en-US" sz="3200">
                <a:solidFill>
                  <a:srgbClr val="131416"/>
                </a:solidFill>
                <a:latin typeface="Open Sans"/>
                <a:ea typeface="Open Sans"/>
                <a:cs typeface="Open Sans"/>
                <a:sym typeface="Open Sans"/>
              </a:rPr>
              <a:t>Estas frases no expresan sentimientos ni buscan influir directamente en el receptor; simplemente informan. Esto las hace aptas para ser analizadas lógicamente mediante proposiciones.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383155" y="228284"/>
            <a:ext cx="2876145" cy="2876145"/>
          </a:xfrm>
          <a:custGeom>
            <a:avLst/>
            <a:gdLst/>
            <a:ahLst/>
            <a:cxnLst/>
            <a:rect r="r" b="b" t="t" l="l"/>
            <a:pathLst>
              <a:path h="2876145" w="2876145">
                <a:moveTo>
                  <a:pt x="0" y="0"/>
                </a:moveTo>
                <a:lnTo>
                  <a:pt x="2876145" y="0"/>
                </a:lnTo>
                <a:lnTo>
                  <a:pt x="2876145" y="2876146"/>
                </a:lnTo>
                <a:lnTo>
                  <a:pt x="0" y="2876146"/>
                </a:lnTo>
                <a:lnTo>
                  <a:pt x="0" y="0"/>
                </a:lnTo>
                <a:close/>
              </a:path>
            </a:pathLst>
          </a:custGeom>
          <a:blipFill>
            <a:blip r:embed="rId2"/>
            <a:stretch>
              <a:fillRect l="0" t="0" r="0" b="0"/>
            </a:stretch>
          </a:blipFill>
        </p:spPr>
      </p:sp>
      <p:sp>
        <p:nvSpPr>
          <p:cNvPr name="TextBox 3" id="3"/>
          <p:cNvSpPr txBox="true"/>
          <p:nvPr/>
        </p:nvSpPr>
        <p:spPr>
          <a:xfrm rot="0">
            <a:off x="2148413" y="1000125"/>
            <a:ext cx="13991174"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LENGUAJE EXPRESIVO</a:t>
            </a:r>
          </a:p>
        </p:txBody>
      </p:sp>
      <p:sp>
        <p:nvSpPr>
          <p:cNvPr name="TextBox 4" id="4"/>
          <p:cNvSpPr txBox="true"/>
          <p:nvPr/>
        </p:nvSpPr>
        <p:spPr>
          <a:xfrm rot="0">
            <a:off x="1631444" y="3200085"/>
            <a:ext cx="15737805" cy="2411879"/>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El lenguaje expres</a:t>
            </a:r>
            <a:r>
              <a:rPr lang="en-US" sz="3200">
                <a:solidFill>
                  <a:srgbClr val="131416"/>
                </a:solidFill>
                <a:latin typeface="Open Sans"/>
                <a:ea typeface="Open Sans"/>
                <a:cs typeface="Open Sans"/>
                <a:sym typeface="Open Sans"/>
              </a:rPr>
              <a:t>ivo tiene como objetivo manifestar emociones, sentimientos, estados de ánimo o experiencias personales. A diferencia del lenguaje informativo, no busca transmitir datos verificables, sino reflejar lo que siente o piensa el hablante en un momento determinado.</a:t>
            </a:r>
          </a:p>
        </p:txBody>
      </p:sp>
      <p:sp>
        <p:nvSpPr>
          <p:cNvPr name="TextBox 5" id="5"/>
          <p:cNvSpPr txBox="true"/>
          <p:nvPr/>
        </p:nvSpPr>
        <p:spPr>
          <a:xfrm rot="0">
            <a:off x="1631444" y="6264459"/>
            <a:ext cx="15737805" cy="1802242"/>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Este tipo de lenguaje no puede clasificarse como verdadero o falso, ya que no describe hechos objetivos, sino percepciones o emociones. Por eso, la lógica no lo considera relevante para el análisis de proposiciones.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458641" y="761902"/>
            <a:ext cx="11590617"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CARACTERÍSTICAS DEL LENGUAJE EXPRESIVO</a:t>
            </a:r>
          </a:p>
        </p:txBody>
      </p:sp>
      <p:sp>
        <p:nvSpPr>
          <p:cNvPr name="TextBox 3" id="3"/>
          <p:cNvSpPr txBox="true"/>
          <p:nvPr/>
        </p:nvSpPr>
        <p:spPr>
          <a:xfrm rot="0">
            <a:off x="1631444" y="2961862"/>
            <a:ext cx="15737805" cy="1802242"/>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El lenguaje expres</a:t>
            </a:r>
            <a:r>
              <a:rPr lang="en-US" sz="3200">
                <a:solidFill>
                  <a:srgbClr val="131416"/>
                </a:solidFill>
                <a:latin typeface="Open Sans"/>
                <a:ea typeface="Open Sans"/>
                <a:cs typeface="Open Sans"/>
                <a:sym typeface="Open Sans"/>
              </a:rPr>
              <a:t>ivo se caracteriza por reflejar el mundo interior del hablante. No tiene como fin informar ni ordenar, sino comunicar sentimientos, sensaciones o valoraciones subjetivas.</a:t>
            </a:r>
          </a:p>
        </p:txBody>
      </p:sp>
      <p:sp>
        <p:nvSpPr>
          <p:cNvPr name="TextBox 4" id="4"/>
          <p:cNvSpPr txBox="true"/>
          <p:nvPr/>
        </p:nvSpPr>
        <p:spPr>
          <a:xfrm rot="0">
            <a:off x="1631444" y="5201617"/>
            <a:ext cx="15737805" cy="4240790"/>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Principale</a:t>
            </a:r>
            <a:r>
              <a:rPr lang="en-US" sz="3200">
                <a:solidFill>
                  <a:srgbClr val="131416"/>
                </a:solidFill>
                <a:latin typeface="Open Sans"/>
                <a:ea typeface="Open Sans"/>
                <a:cs typeface="Open Sans"/>
                <a:sym typeface="Open Sans"/>
              </a:rPr>
              <a:t>s características:</a:t>
            </a:r>
          </a:p>
          <a:p>
            <a:pPr algn="l" marL="690881" indent="-345440" lvl="1">
              <a:lnSpc>
                <a:spcPts val="4800"/>
              </a:lnSpc>
              <a:buFont typeface="Arial"/>
              <a:buChar char="•"/>
            </a:pPr>
            <a:r>
              <a:rPr lang="en-US" b="true" sz="3200">
                <a:solidFill>
                  <a:srgbClr val="131416"/>
                </a:solidFill>
                <a:latin typeface="Open Sans Bold"/>
                <a:ea typeface="Open Sans Bold"/>
                <a:cs typeface="Open Sans Bold"/>
                <a:sym typeface="Open Sans Bold"/>
              </a:rPr>
              <a:t>Subjetividad</a:t>
            </a:r>
            <a:r>
              <a:rPr lang="en-US" sz="3200">
                <a:solidFill>
                  <a:srgbClr val="131416"/>
                </a:solidFill>
                <a:latin typeface="Open Sans"/>
                <a:ea typeface="Open Sans"/>
                <a:cs typeface="Open Sans"/>
                <a:sym typeface="Open Sans"/>
              </a:rPr>
              <a:t>: El mensaje parte de la experiencia personal del emisor.</a:t>
            </a:r>
          </a:p>
          <a:p>
            <a:pPr algn="l" marL="690881" indent="-345440" lvl="1">
              <a:lnSpc>
                <a:spcPts val="4800"/>
              </a:lnSpc>
              <a:buFont typeface="Arial"/>
              <a:buChar char="•"/>
            </a:pPr>
            <a:r>
              <a:rPr lang="en-US" b="true" sz="3200">
                <a:solidFill>
                  <a:srgbClr val="131416"/>
                </a:solidFill>
                <a:latin typeface="Open Sans Bold"/>
                <a:ea typeface="Open Sans Bold"/>
                <a:cs typeface="Open Sans Bold"/>
                <a:sym typeface="Open Sans Bold"/>
              </a:rPr>
              <a:t>Emotividad</a:t>
            </a:r>
            <a:r>
              <a:rPr lang="en-US" sz="3200">
                <a:solidFill>
                  <a:srgbClr val="131416"/>
                </a:solidFill>
                <a:latin typeface="Open Sans"/>
                <a:ea typeface="Open Sans"/>
                <a:cs typeface="Open Sans"/>
                <a:sym typeface="Open Sans"/>
              </a:rPr>
              <a:t>: Tiene carga emocional, ya sea de alegría, tristeza, enojo, amor, etc.</a:t>
            </a:r>
          </a:p>
          <a:p>
            <a:pPr algn="l" marL="690881" indent="-345440" lvl="1">
              <a:lnSpc>
                <a:spcPts val="4800"/>
              </a:lnSpc>
              <a:buFont typeface="Arial"/>
              <a:buChar char="•"/>
            </a:pPr>
            <a:r>
              <a:rPr lang="en-US" b="true" sz="3200">
                <a:solidFill>
                  <a:srgbClr val="131416"/>
                </a:solidFill>
                <a:latin typeface="Open Sans Bold"/>
                <a:ea typeface="Open Sans Bold"/>
                <a:cs typeface="Open Sans Bold"/>
                <a:sym typeface="Open Sans Bold"/>
              </a:rPr>
              <a:t>Sinceridad en lugar de verdad</a:t>
            </a:r>
            <a:r>
              <a:rPr lang="en-US" sz="3200">
                <a:solidFill>
                  <a:srgbClr val="131416"/>
                </a:solidFill>
                <a:latin typeface="Open Sans"/>
                <a:ea typeface="Open Sans"/>
                <a:cs typeface="Open Sans"/>
                <a:sym typeface="Open Sans"/>
              </a:rPr>
              <a:t>: No se evalúa si es verdadero o falso, sino si es coherente con el sentir del hablante.</a:t>
            </a:r>
          </a:p>
          <a:p>
            <a:pPr algn="l">
              <a:lnSpc>
                <a:spcPts val="4800"/>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275392" y="633628"/>
            <a:ext cx="1173721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LENGUAJE DIRECTIVO Y LENGUAJE MIXTO</a:t>
            </a:r>
          </a:p>
        </p:txBody>
      </p:sp>
      <p:sp>
        <p:nvSpPr>
          <p:cNvPr name="TextBox 3" id="3"/>
          <p:cNvSpPr txBox="true"/>
          <p:nvPr/>
        </p:nvSpPr>
        <p:spPr>
          <a:xfrm rot="0">
            <a:off x="1631444" y="3200085"/>
            <a:ext cx="15737805" cy="2411879"/>
          </a:xfrm>
          <a:prstGeom prst="rect">
            <a:avLst/>
          </a:prstGeom>
        </p:spPr>
        <p:txBody>
          <a:bodyPr anchor="t" rtlCol="false" tIns="0" lIns="0" bIns="0" rIns="0">
            <a:spAutoFit/>
          </a:bodyPr>
          <a:lstStyle/>
          <a:p>
            <a:pPr algn="l">
              <a:lnSpc>
                <a:spcPts val="4800"/>
              </a:lnSpc>
            </a:pPr>
            <a:r>
              <a:rPr lang="en-US" sz="3200" b="true">
                <a:solidFill>
                  <a:srgbClr val="131416"/>
                </a:solidFill>
                <a:latin typeface="Open Sans Bold"/>
                <a:ea typeface="Open Sans Bold"/>
                <a:cs typeface="Open Sans Bold"/>
                <a:sym typeface="Open Sans Bold"/>
              </a:rPr>
              <a:t> Lenguaje Direct</a:t>
            </a:r>
            <a:r>
              <a:rPr lang="en-US" sz="3200" b="true">
                <a:solidFill>
                  <a:srgbClr val="131416"/>
                </a:solidFill>
                <a:latin typeface="Open Sans Bold"/>
                <a:ea typeface="Open Sans Bold"/>
                <a:cs typeface="Open Sans Bold"/>
                <a:sym typeface="Open Sans Bold"/>
              </a:rPr>
              <a:t>ivo:</a:t>
            </a:r>
          </a:p>
          <a:p>
            <a:pPr algn="l">
              <a:lnSpc>
                <a:spcPts val="4800"/>
              </a:lnSpc>
            </a:pPr>
            <a:r>
              <a:rPr lang="en-US" sz="3200">
                <a:solidFill>
                  <a:srgbClr val="131416"/>
                </a:solidFill>
                <a:latin typeface="Open Sans"/>
                <a:ea typeface="Open Sans"/>
                <a:cs typeface="Open Sans"/>
                <a:sym typeface="Open Sans"/>
              </a:rPr>
              <a:t> Se utiliza para influir en el comportamiento del receptor. Su objetivo no es transmitir información ni expresar emociones, sino dar órdenes, instrucciones o sugerencias. Ejemplo “</a:t>
            </a:r>
            <a:r>
              <a:rPr lang="en-US" b="true" sz="3200">
                <a:solidFill>
                  <a:srgbClr val="131416"/>
                </a:solidFill>
                <a:latin typeface="Open Sans Bold"/>
                <a:ea typeface="Open Sans Bold"/>
                <a:cs typeface="Open Sans Bold"/>
                <a:sym typeface="Open Sans Bold"/>
              </a:rPr>
              <a:t>Cierra la ventana</a:t>
            </a:r>
            <a:r>
              <a:rPr lang="en-US" sz="3200">
                <a:solidFill>
                  <a:srgbClr val="131416"/>
                </a:solidFill>
                <a:latin typeface="Open Sans"/>
                <a:ea typeface="Open Sans"/>
                <a:cs typeface="Open Sans"/>
                <a:sym typeface="Open Sans"/>
              </a:rPr>
              <a:t>.”</a:t>
            </a:r>
          </a:p>
        </p:txBody>
      </p:sp>
      <p:sp>
        <p:nvSpPr>
          <p:cNvPr name="TextBox 4" id="4"/>
          <p:cNvSpPr txBox="true"/>
          <p:nvPr/>
        </p:nvSpPr>
        <p:spPr>
          <a:xfrm rot="0">
            <a:off x="1631444" y="6351650"/>
            <a:ext cx="15737805" cy="3021516"/>
          </a:xfrm>
          <a:prstGeom prst="rect">
            <a:avLst/>
          </a:prstGeom>
        </p:spPr>
        <p:txBody>
          <a:bodyPr anchor="t" rtlCol="false" tIns="0" lIns="0" bIns="0" rIns="0">
            <a:spAutoFit/>
          </a:bodyPr>
          <a:lstStyle/>
          <a:p>
            <a:pPr algn="l">
              <a:lnSpc>
                <a:spcPts val="4800"/>
              </a:lnSpc>
            </a:pPr>
            <a:r>
              <a:rPr lang="en-US" sz="3200" b="true">
                <a:solidFill>
                  <a:srgbClr val="131416"/>
                </a:solidFill>
                <a:latin typeface="Open Sans Bold"/>
                <a:ea typeface="Open Sans Bold"/>
                <a:cs typeface="Open Sans Bold"/>
                <a:sym typeface="Open Sans Bold"/>
              </a:rPr>
              <a:t>L</a:t>
            </a:r>
            <a:r>
              <a:rPr lang="en-US" sz="3200" b="true">
                <a:solidFill>
                  <a:srgbClr val="131416"/>
                </a:solidFill>
                <a:latin typeface="Open Sans Bold"/>
                <a:ea typeface="Open Sans Bold"/>
                <a:cs typeface="Open Sans Bold"/>
                <a:sym typeface="Open Sans Bold"/>
              </a:rPr>
              <a:t>enguaje Mixto:</a:t>
            </a:r>
          </a:p>
          <a:p>
            <a:pPr algn="l">
              <a:lnSpc>
                <a:spcPts val="4800"/>
              </a:lnSpc>
            </a:pPr>
            <a:r>
              <a:rPr lang="en-US" sz="3200">
                <a:solidFill>
                  <a:srgbClr val="131416"/>
                </a:solidFill>
                <a:latin typeface="Open Sans"/>
                <a:ea typeface="Open Sans"/>
                <a:cs typeface="Open Sans"/>
                <a:sym typeface="Open Sans"/>
              </a:rPr>
              <a:t> A menudo, en la vida cotidiana, combinamos varias funciones del lenguaje en un mismo mensaje. Cuando un enunciado transmite información y además expresa una emoción o una instrucción, estamos ante un lenguaje mixto.</a:t>
            </a:r>
          </a:p>
          <a:p>
            <a:pPr algn="l">
              <a:lnSpc>
                <a:spcPts val="4800"/>
              </a:lnSpc>
            </a:pPr>
            <a:r>
              <a:rPr lang="en-US" sz="3200">
                <a:solidFill>
                  <a:srgbClr val="131416"/>
                </a:solidFill>
                <a:latin typeface="Open Sans"/>
                <a:ea typeface="Open Sans"/>
                <a:cs typeface="Open Sans"/>
                <a:sym typeface="Open Sans"/>
              </a:rPr>
              <a:t>Ejemplo “</a:t>
            </a:r>
            <a:r>
              <a:rPr lang="en-US" b="true" sz="3200">
                <a:solidFill>
                  <a:srgbClr val="131416"/>
                </a:solidFill>
                <a:latin typeface="Open Sans Bold"/>
                <a:ea typeface="Open Sans Bold"/>
                <a:cs typeface="Open Sans Bold"/>
                <a:sym typeface="Open Sans Bold"/>
              </a:rPr>
              <a:t>Estoy feliz porque aprobé el examen</a:t>
            </a:r>
            <a:r>
              <a:rPr lang="en-US" sz="3200">
                <a:solidFill>
                  <a:srgbClr val="131416"/>
                </a:solidFill>
                <a:latin typeface="Open Sans"/>
                <a:ea typeface="Open Sans"/>
                <a:cs typeface="Open Sans"/>
                <a:sym typeface="Open Sans"/>
              </a:rPr>
              <a:t>.” (</a:t>
            </a:r>
            <a:r>
              <a:rPr lang="en-US" b="true" sz="3200">
                <a:solidFill>
                  <a:srgbClr val="131416"/>
                </a:solidFill>
                <a:latin typeface="Open Sans Bold"/>
                <a:ea typeface="Open Sans Bold"/>
                <a:cs typeface="Open Sans Bold"/>
                <a:sym typeface="Open Sans Bold"/>
              </a:rPr>
              <a:t>expresivo </a:t>
            </a:r>
            <a:r>
              <a:rPr lang="en-US" sz="3200">
                <a:solidFill>
                  <a:srgbClr val="131416"/>
                </a:solidFill>
                <a:latin typeface="Open Sans"/>
                <a:ea typeface="Open Sans"/>
                <a:cs typeface="Open Sans"/>
                <a:sym typeface="Open Sans"/>
              </a:rPr>
              <a:t>+ </a:t>
            </a:r>
            <a:r>
              <a:rPr lang="en-US" b="true" sz="3200">
                <a:solidFill>
                  <a:srgbClr val="131416"/>
                </a:solidFill>
                <a:latin typeface="Open Sans Bold"/>
                <a:ea typeface="Open Sans Bold"/>
                <a:cs typeface="Open Sans Bold"/>
                <a:sym typeface="Open Sans Bold"/>
              </a:rPr>
              <a:t>informativo</a:t>
            </a:r>
            <a:r>
              <a:rPr lang="en-US" sz="3200">
                <a:solidFill>
                  <a:srgbClr val="131416"/>
                </a:solidFill>
                <a:latin typeface="Open Sans"/>
                <a:ea typeface="Open Sans"/>
                <a:cs typeface="Open Sans"/>
                <a:sym typeface="Open Sans"/>
              </a:rPr>
              <a:t>)</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275392" y="633628"/>
            <a:ext cx="1173721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RELACIÓN ENTRE EL LENGUAJE Y LA LÓGICA</a:t>
            </a:r>
          </a:p>
        </p:txBody>
      </p:sp>
      <p:sp>
        <p:nvSpPr>
          <p:cNvPr name="TextBox 3" id="3"/>
          <p:cNvSpPr txBox="true"/>
          <p:nvPr/>
        </p:nvSpPr>
        <p:spPr>
          <a:xfrm rot="0">
            <a:off x="1028700" y="2478613"/>
            <a:ext cx="16415825" cy="6829425"/>
          </a:xfrm>
          <a:prstGeom prst="rect">
            <a:avLst/>
          </a:prstGeom>
        </p:spPr>
        <p:txBody>
          <a:bodyPr anchor="t" rtlCol="false" tIns="0" lIns="0" bIns="0" rIns="0">
            <a:spAutoFit/>
          </a:bodyPr>
          <a:lstStyle/>
          <a:p>
            <a:pPr algn="l">
              <a:lnSpc>
                <a:spcPts val="4500"/>
              </a:lnSpc>
            </a:pPr>
            <a:r>
              <a:rPr lang="en-US" sz="3000">
                <a:solidFill>
                  <a:srgbClr val="131416"/>
                </a:solidFill>
                <a:latin typeface="Open Sans"/>
                <a:ea typeface="Open Sans"/>
                <a:cs typeface="Open Sans"/>
                <a:sym typeface="Open Sans"/>
              </a:rPr>
              <a:t>La lógica estudia el razonamiento correct</a:t>
            </a:r>
            <a:r>
              <a:rPr lang="en-US" sz="3000">
                <a:solidFill>
                  <a:srgbClr val="131416"/>
                </a:solidFill>
                <a:latin typeface="Open Sans"/>
                <a:ea typeface="Open Sans"/>
                <a:cs typeface="Open Sans"/>
                <a:sym typeface="Open Sans"/>
              </a:rPr>
              <a:t>o, y para hacerlo necesita expresiones claras, verificables y estructuradas. Por eso, solo el lenguaje informativo es relevante para la lógica, ya que permite formular proposiciones: afirmaciones que pueden ser verdaderas o falsas.</a:t>
            </a:r>
          </a:p>
          <a:p>
            <a:pPr algn="l">
              <a:lnSpc>
                <a:spcPts val="4500"/>
              </a:lnSpc>
            </a:pPr>
            <a:r>
              <a:rPr lang="en-US" sz="3000">
                <a:solidFill>
                  <a:srgbClr val="131416"/>
                </a:solidFill>
                <a:latin typeface="Open Sans"/>
                <a:ea typeface="Open Sans"/>
                <a:cs typeface="Open Sans"/>
                <a:sym typeface="Open Sans"/>
              </a:rPr>
              <a:t>El lenguaje expresivo, directivo o mixto, aunque útil en la comunicación humana, no puede analizarse lógicamente porque no transmite hechos verificables, sino emociones, órdenes o combinaciones.</a:t>
            </a:r>
          </a:p>
          <a:p>
            <a:pPr algn="l">
              <a:lnSpc>
                <a:spcPts val="4500"/>
              </a:lnSpc>
            </a:pPr>
          </a:p>
          <a:p>
            <a:pPr algn="l">
              <a:lnSpc>
                <a:spcPts val="4500"/>
              </a:lnSpc>
            </a:pPr>
            <a:r>
              <a:rPr lang="en-US" sz="3000">
                <a:solidFill>
                  <a:srgbClr val="131416"/>
                </a:solidFill>
                <a:latin typeface="Open Sans"/>
                <a:ea typeface="Open Sans"/>
                <a:cs typeface="Open Sans"/>
                <a:sym typeface="Open Sans"/>
              </a:rPr>
              <a:t>En lógica:</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Solo interesan los enunciados que pueden ser evaluados como verdaderos o falsos.</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Estos enunciados se llaman proposiciones.</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Se expresan en lenguaje informativo, y a menudo se simbolizan para facilitar el análisis.</a:t>
            </a:r>
          </a:p>
          <a:p>
            <a:pPr algn="l">
              <a:lnSpc>
                <a:spcPts val="4500"/>
              </a:lnSpc>
            </a:p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13337" y="633628"/>
            <a:ext cx="1366132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¿QUÉ ES UNA PROPOSICIÓN LÓGICA?</a:t>
            </a:r>
          </a:p>
        </p:txBody>
      </p:sp>
      <p:sp>
        <p:nvSpPr>
          <p:cNvPr name="TextBox 3" id="3"/>
          <p:cNvSpPr txBox="true"/>
          <p:nvPr/>
        </p:nvSpPr>
        <p:spPr>
          <a:xfrm rot="0">
            <a:off x="1028700" y="2478613"/>
            <a:ext cx="16415825" cy="7400925"/>
          </a:xfrm>
          <a:prstGeom prst="rect">
            <a:avLst/>
          </a:prstGeom>
        </p:spPr>
        <p:txBody>
          <a:bodyPr anchor="t" rtlCol="false" tIns="0" lIns="0" bIns="0" rIns="0">
            <a:spAutoFit/>
          </a:bodyPr>
          <a:lstStyle/>
          <a:p>
            <a:pPr algn="l">
              <a:lnSpc>
                <a:spcPts val="4500"/>
              </a:lnSpc>
            </a:pPr>
            <a:r>
              <a:rPr lang="en-US" sz="3000">
                <a:solidFill>
                  <a:srgbClr val="131416"/>
                </a:solidFill>
                <a:latin typeface="Open Sans"/>
                <a:ea typeface="Open Sans"/>
                <a:cs typeface="Open Sans"/>
                <a:sym typeface="Open Sans"/>
              </a:rPr>
              <a:t>Una pr</a:t>
            </a:r>
            <a:r>
              <a:rPr lang="en-US" sz="3000">
                <a:solidFill>
                  <a:srgbClr val="131416"/>
                </a:solidFill>
                <a:latin typeface="Open Sans"/>
                <a:ea typeface="Open Sans"/>
                <a:cs typeface="Open Sans"/>
                <a:sym typeface="Open Sans"/>
              </a:rPr>
              <a:t>oposición lógica es un enunciado que afirma o niega algo y que puede ser clasificado como verdadero o falso, pero no ambos a la vez. Es el punto de partida del análisis lógico y se utiliza para construir</a:t>
            </a:r>
            <a:r>
              <a:rPr lang="en-US" sz="3000">
                <a:solidFill>
                  <a:srgbClr val="131416"/>
                </a:solidFill>
                <a:latin typeface="Open Sans"/>
                <a:ea typeface="Open Sans"/>
                <a:cs typeface="Open Sans"/>
                <a:sym typeface="Open Sans"/>
              </a:rPr>
              <a:t> argumentos, demostrar ideas y establecer conclusiones.</a:t>
            </a:r>
          </a:p>
          <a:p>
            <a:pPr algn="l">
              <a:lnSpc>
                <a:spcPts val="4500"/>
              </a:lnSpc>
            </a:pPr>
          </a:p>
          <a:p>
            <a:pPr algn="l">
              <a:lnSpc>
                <a:spcPts val="4500"/>
              </a:lnSpc>
            </a:pPr>
            <a:r>
              <a:rPr lang="en-US" sz="3000" b="true">
                <a:solidFill>
                  <a:srgbClr val="131416"/>
                </a:solidFill>
                <a:latin typeface="Open Sans Bold"/>
                <a:ea typeface="Open Sans Bold"/>
                <a:cs typeface="Open Sans Bold"/>
                <a:sym typeface="Open Sans Bold"/>
              </a:rPr>
              <a:t>Características de una proposición</a:t>
            </a:r>
            <a:r>
              <a:rPr lang="en-US" sz="3000">
                <a:solidFill>
                  <a:srgbClr val="131416"/>
                </a:solidFill>
                <a:latin typeface="Open Sans"/>
                <a:ea typeface="Open Sans"/>
                <a:cs typeface="Open Sans"/>
                <a:sym typeface="Open Sans"/>
              </a:rPr>
              <a:t>:</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Tiene valor de verdad (V o F).</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Se formula en lenguaje informativo.</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Es clara y no depende de emociones o mandatos.</a:t>
            </a:r>
          </a:p>
          <a:p>
            <a:pPr algn="l">
              <a:lnSpc>
                <a:spcPts val="4500"/>
              </a:lnSpc>
            </a:pPr>
          </a:p>
          <a:p>
            <a:pPr algn="l">
              <a:lnSpc>
                <a:spcPts val="4500"/>
              </a:lnSpc>
            </a:pPr>
            <a:r>
              <a:rPr lang="en-US" sz="3000">
                <a:solidFill>
                  <a:srgbClr val="131416"/>
                </a:solidFill>
                <a:latin typeface="Open Sans"/>
                <a:ea typeface="Open Sans"/>
                <a:cs typeface="Open Sans"/>
                <a:sym typeface="Open Sans"/>
              </a:rPr>
              <a:t>En lógica, las proposiciones se simbolizan con letras (p, q, r…) para facilitar el razonamiento formal. Solo aquellas que pueden ser verdaderas o falsas forman parte del campo lógico.</a:t>
            </a:r>
          </a:p>
          <a:p>
            <a:pPr algn="l">
              <a:lnSpc>
                <a:spcPts val="4500"/>
              </a:lnSpc>
            </a:pPr>
          </a:p>
          <a:p>
            <a:pPr algn="l">
              <a:lnSpc>
                <a:spcPts val="4500"/>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13337" y="633628"/>
            <a:ext cx="1366132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¿QUÉ SÍ Y QUÉ NO ES UNA PROPOSICIÓN LÓGICA?</a:t>
            </a:r>
          </a:p>
        </p:txBody>
      </p:sp>
      <p:sp>
        <p:nvSpPr>
          <p:cNvPr name="TextBox 3" id="3"/>
          <p:cNvSpPr txBox="true"/>
          <p:nvPr/>
        </p:nvSpPr>
        <p:spPr>
          <a:xfrm rot="0">
            <a:off x="1028700" y="2716836"/>
            <a:ext cx="16415825" cy="6257925"/>
          </a:xfrm>
          <a:prstGeom prst="rect">
            <a:avLst/>
          </a:prstGeom>
        </p:spPr>
        <p:txBody>
          <a:bodyPr anchor="t" rtlCol="false" tIns="0" lIns="0" bIns="0" rIns="0">
            <a:spAutoFit/>
          </a:bodyPr>
          <a:lstStyle/>
          <a:p>
            <a:pPr algn="l">
              <a:lnSpc>
                <a:spcPts val="4500"/>
              </a:lnSpc>
            </a:pPr>
            <a:r>
              <a:rPr lang="en-US" sz="3000">
                <a:solidFill>
                  <a:srgbClr val="131416"/>
                </a:solidFill>
                <a:latin typeface="Open Sans"/>
                <a:ea typeface="Open Sans"/>
                <a:cs typeface="Open Sans"/>
                <a:sym typeface="Open Sans"/>
              </a:rPr>
              <a:t>Par</a:t>
            </a:r>
            <a:r>
              <a:rPr lang="en-US" sz="3000">
                <a:solidFill>
                  <a:srgbClr val="131416"/>
                </a:solidFill>
                <a:latin typeface="Open Sans"/>
                <a:ea typeface="Open Sans"/>
                <a:cs typeface="Open Sans"/>
                <a:sym typeface="Open Sans"/>
              </a:rPr>
              <a:t>a aplicar correctamente el análisis lógico, es fund</a:t>
            </a:r>
            <a:r>
              <a:rPr lang="en-US" sz="3000">
                <a:solidFill>
                  <a:srgbClr val="131416"/>
                </a:solidFill>
                <a:latin typeface="Open Sans"/>
                <a:ea typeface="Open Sans"/>
                <a:cs typeface="Open Sans"/>
                <a:sym typeface="Open Sans"/>
              </a:rPr>
              <a:t>amental distingui</a:t>
            </a:r>
            <a:r>
              <a:rPr lang="en-US" sz="3000">
                <a:solidFill>
                  <a:srgbClr val="131416"/>
                </a:solidFill>
                <a:latin typeface="Open Sans"/>
                <a:ea typeface="Open Sans"/>
                <a:cs typeface="Open Sans"/>
                <a:sym typeface="Open Sans"/>
              </a:rPr>
              <a:t>r en</a:t>
            </a:r>
            <a:r>
              <a:rPr lang="en-US" sz="3000">
                <a:solidFill>
                  <a:srgbClr val="131416"/>
                </a:solidFill>
                <a:latin typeface="Open Sans"/>
                <a:ea typeface="Open Sans"/>
                <a:cs typeface="Open Sans"/>
                <a:sym typeface="Open Sans"/>
              </a:rPr>
              <a:t>t</a:t>
            </a:r>
            <a:r>
              <a:rPr lang="en-US" sz="3000">
                <a:solidFill>
                  <a:srgbClr val="131416"/>
                </a:solidFill>
                <a:latin typeface="Open Sans"/>
                <a:ea typeface="Open Sans"/>
                <a:cs typeface="Open Sans"/>
                <a:sym typeface="Open Sans"/>
              </a:rPr>
              <a:t>r</a:t>
            </a:r>
            <a:r>
              <a:rPr lang="en-US" sz="3000">
                <a:solidFill>
                  <a:srgbClr val="131416"/>
                </a:solidFill>
                <a:latin typeface="Open Sans"/>
                <a:ea typeface="Open Sans"/>
                <a:cs typeface="Open Sans"/>
                <a:sym typeface="Open Sans"/>
              </a:rPr>
              <a:t>e lo que sí constituye una proposición lógica y lo que no.</a:t>
            </a:r>
          </a:p>
          <a:p>
            <a:pPr algn="l">
              <a:lnSpc>
                <a:spcPts val="4500"/>
              </a:lnSpc>
            </a:pPr>
          </a:p>
          <a:p>
            <a:pPr algn="l">
              <a:lnSpc>
                <a:spcPts val="4500"/>
              </a:lnSpc>
            </a:pPr>
            <a:r>
              <a:rPr lang="en-US" sz="3000">
                <a:solidFill>
                  <a:srgbClr val="131416"/>
                </a:solidFill>
                <a:latin typeface="Open Sans"/>
                <a:ea typeface="Open Sans"/>
                <a:cs typeface="Open Sans"/>
                <a:sym typeface="Open Sans"/>
              </a:rPr>
              <a:t> </a:t>
            </a:r>
            <a:r>
              <a:rPr lang="en-US" sz="3000" b="true">
                <a:solidFill>
                  <a:srgbClr val="131416"/>
                </a:solidFill>
                <a:latin typeface="Open Sans Bold"/>
                <a:ea typeface="Open Sans Bold"/>
                <a:cs typeface="Open Sans Bold"/>
                <a:sym typeface="Open Sans Bold"/>
              </a:rPr>
              <a:t>Ejemplos de proposiciones lógicas</a:t>
            </a:r>
            <a:r>
              <a:rPr lang="en-US" sz="3000">
                <a:solidFill>
                  <a:srgbClr val="131416"/>
                </a:solidFill>
                <a:latin typeface="Open Sans"/>
                <a:ea typeface="Open Sans"/>
                <a:cs typeface="Open Sans"/>
                <a:sym typeface="Open Sans"/>
              </a:rPr>
              <a:t>:</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“La capital de Guatemala es Ciudad de Guatemala.” → Verdadera</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“La Luna es más grande que Marte.” → Falsa</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“Todos los mamíferos tienen corazón.” → Verdadera</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“5 es menor que 2.” → Falsa</a:t>
            </a:r>
          </a:p>
          <a:p>
            <a:pPr algn="l">
              <a:lnSpc>
                <a:spcPts val="4500"/>
              </a:lnSpc>
            </a:pPr>
          </a:p>
          <a:p>
            <a:pPr algn="l">
              <a:lnSpc>
                <a:spcPts val="4500"/>
              </a:lnSpc>
            </a:pPr>
            <a:r>
              <a:rPr lang="en-US" sz="3000">
                <a:solidFill>
                  <a:srgbClr val="131416"/>
                </a:solidFill>
                <a:latin typeface="Open Sans"/>
                <a:ea typeface="Open Sans"/>
                <a:cs typeface="Open Sans"/>
                <a:sym typeface="Open Sans"/>
              </a:rPr>
              <a:t>Estas oraciones son verificables, y por tanto, se puede asignarles un valor de verdad.</a:t>
            </a:r>
          </a:p>
          <a:p>
            <a:pPr algn="l">
              <a:lnSpc>
                <a:spcPts val="4500"/>
              </a:lnSpc>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0991"/>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name="TextBox 3" id="3"/>
          <p:cNvSpPr txBox="true"/>
          <p:nvPr/>
        </p:nvSpPr>
        <p:spPr>
          <a:xfrm rot="0">
            <a:off x="1552418" y="4033938"/>
            <a:ext cx="15183164" cy="2846208"/>
          </a:xfrm>
          <a:prstGeom prst="rect">
            <a:avLst/>
          </a:prstGeom>
        </p:spPr>
        <p:txBody>
          <a:bodyPr anchor="t" rtlCol="false" tIns="0" lIns="0" bIns="0" rIns="0">
            <a:spAutoFit/>
          </a:bodyPr>
          <a:lstStyle/>
          <a:p>
            <a:pPr algn="l" marL="745202" indent="-372601" lvl="1">
              <a:lnSpc>
                <a:spcPts val="5729"/>
              </a:lnSpc>
              <a:buFont typeface="Arial"/>
              <a:buChar char="•"/>
            </a:pPr>
            <a:r>
              <a:rPr lang="en-US" sz="3451">
                <a:solidFill>
                  <a:srgbClr val="131416"/>
                </a:solidFill>
                <a:latin typeface="Garet"/>
                <a:ea typeface="Garet"/>
                <a:cs typeface="Garet"/>
                <a:sym typeface="Garet"/>
              </a:rPr>
              <a:t>Universidad de San Carlos de Guatemala. (s.f.). Unidad 4: La Lógica [Material del curso Lógica de Sistemas, Facultad de Ingeniería].</a:t>
            </a:r>
          </a:p>
          <a:p>
            <a:pPr algn="l">
              <a:lnSpc>
                <a:spcPts val="5729"/>
              </a:lnSpc>
            </a:pP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1065"/>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EJERCICIO</a:t>
            </a:r>
          </a:p>
        </p:txBody>
      </p:sp>
      <p:sp>
        <p:nvSpPr>
          <p:cNvPr name="TextBox 3" id="3"/>
          <p:cNvSpPr txBox="true"/>
          <p:nvPr/>
        </p:nvSpPr>
        <p:spPr>
          <a:xfrm rot="0">
            <a:off x="1028700" y="2151688"/>
            <a:ext cx="16116959" cy="2656795"/>
          </a:xfrm>
          <a:prstGeom prst="rect">
            <a:avLst/>
          </a:prstGeom>
        </p:spPr>
        <p:txBody>
          <a:bodyPr anchor="t" rtlCol="false" tIns="0" lIns="0" bIns="0" rIns="0">
            <a:spAutoFit/>
          </a:bodyPr>
          <a:lstStyle/>
          <a:p>
            <a:pPr algn="l">
              <a:lnSpc>
                <a:spcPts val="3525"/>
              </a:lnSpc>
            </a:pPr>
            <a:r>
              <a:rPr lang="en-US" sz="2123">
                <a:solidFill>
                  <a:srgbClr val="131416"/>
                </a:solidFill>
                <a:latin typeface="Garet"/>
                <a:ea typeface="Garet"/>
                <a:cs typeface="Garet"/>
                <a:sym typeface="Garet"/>
              </a:rPr>
              <a:t>Instrucciones:</a:t>
            </a:r>
          </a:p>
          <a:p>
            <a:pPr algn="l" marL="458476" indent="-229238" lvl="1">
              <a:lnSpc>
                <a:spcPts val="3525"/>
              </a:lnSpc>
              <a:buAutoNum type="arabicPeriod" startAt="1"/>
            </a:pPr>
            <a:r>
              <a:rPr lang="en-US" sz="2123">
                <a:solidFill>
                  <a:srgbClr val="131416"/>
                </a:solidFill>
                <a:latin typeface="Garet"/>
                <a:ea typeface="Garet"/>
                <a:cs typeface="Garet"/>
                <a:sym typeface="Garet"/>
              </a:rPr>
              <a:t>Lee el siguiente párrafo con atención.</a:t>
            </a:r>
          </a:p>
          <a:p>
            <a:pPr algn="l" marL="458476" indent="-229238" lvl="1">
              <a:lnSpc>
                <a:spcPts val="3525"/>
              </a:lnSpc>
              <a:buAutoNum type="arabicPeriod" startAt="1"/>
            </a:pPr>
            <a:r>
              <a:rPr lang="en-US" sz="2123">
                <a:solidFill>
                  <a:srgbClr val="131416"/>
                </a:solidFill>
                <a:latin typeface="Garet"/>
                <a:ea typeface="Garet"/>
                <a:cs typeface="Garet"/>
                <a:sym typeface="Garet"/>
              </a:rPr>
              <a:t>Subraya o copia las frases que correspondan a cada tipo de lenguaje.</a:t>
            </a:r>
          </a:p>
          <a:p>
            <a:pPr algn="l" marL="458476" indent="-229238" lvl="1">
              <a:lnSpc>
                <a:spcPts val="3525"/>
              </a:lnSpc>
              <a:buAutoNum type="arabicPeriod" startAt="1"/>
            </a:pPr>
            <a:r>
              <a:rPr lang="en-US" sz="2123">
                <a:solidFill>
                  <a:srgbClr val="131416"/>
                </a:solidFill>
                <a:latin typeface="Garet"/>
                <a:ea typeface="Garet"/>
                <a:cs typeface="Garet"/>
                <a:sym typeface="Garet"/>
              </a:rPr>
              <a:t>Indica si cada una puede ser considerada una proposición lógica (es decir, si puede ser verdadera o falsa).</a:t>
            </a:r>
          </a:p>
          <a:p>
            <a:pPr algn="l" marL="458476" indent="-229238" lvl="1">
              <a:lnSpc>
                <a:spcPts val="3525"/>
              </a:lnSpc>
              <a:buAutoNum type="arabicPeriod" startAt="1"/>
            </a:pPr>
            <a:r>
              <a:rPr lang="en-US" sz="2123">
                <a:solidFill>
                  <a:srgbClr val="131416"/>
                </a:solidFill>
                <a:latin typeface="Garet"/>
                <a:ea typeface="Garet"/>
                <a:cs typeface="Garet"/>
                <a:sym typeface="Garet"/>
              </a:rPr>
              <a:t>Justifica tu clasificación brevemente.</a:t>
            </a:r>
          </a:p>
          <a:p>
            <a:pPr algn="l">
              <a:lnSpc>
                <a:spcPts val="3525"/>
              </a:lnSpc>
            </a:pPr>
          </a:p>
        </p:txBody>
      </p:sp>
      <p:sp>
        <p:nvSpPr>
          <p:cNvPr name="TextBox 4" id="4"/>
          <p:cNvSpPr txBox="true"/>
          <p:nvPr/>
        </p:nvSpPr>
        <p:spPr>
          <a:xfrm rot="0">
            <a:off x="1085521" y="5029200"/>
            <a:ext cx="16116959" cy="3384191"/>
          </a:xfrm>
          <a:prstGeom prst="rect">
            <a:avLst/>
          </a:prstGeom>
        </p:spPr>
        <p:txBody>
          <a:bodyPr anchor="t" rtlCol="false" tIns="0" lIns="0" bIns="0" rIns="0">
            <a:spAutoFit/>
          </a:bodyPr>
          <a:lstStyle/>
          <a:p>
            <a:pPr algn="l">
              <a:lnSpc>
                <a:spcPts val="4521"/>
              </a:lnSpc>
            </a:pPr>
            <a:r>
              <a:rPr lang="en-US" sz="2723" b="true">
                <a:solidFill>
                  <a:srgbClr val="131416"/>
                </a:solidFill>
                <a:latin typeface="Garet Bold"/>
                <a:ea typeface="Garet Bold"/>
                <a:cs typeface="Garet Bold"/>
                <a:sym typeface="Garet Bold"/>
              </a:rPr>
              <a:t>Párrafo a analizar:</a:t>
            </a:r>
          </a:p>
          <a:p>
            <a:pPr algn="just">
              <a:lnSpc>
                <a:spcPts val="4521"/>
              </a:lnSpc>
            </a:pPr>
            <a:r>
              <a:rPr lang="en-US" sz="2723">
                <a:solidFill>
                  <a:srgbClr val="131416"/>
                </a:solidFill>
                <a:latin typeface="Garet"/>
                <a:ea typeface="Garet"/>
                <a:cs typeface="Garet"/>
                <a:sym typeface="Garet"/>
              </a:rPr>
              <a:t>Recuerda subir tu proyecto a la plataforma antes de las 11:59 p.m., ya qu</a:t>
            </a:r>
            <a:r>
              <a:rPr lang="en-US" sz="2723">
                <a:solidFill>
                  <a:srgbClr val="131416"/>
                </a:solidFill>
                <a:latin typeface="Garet"/>
                <a:ea typeface="Garet"/>
                <a:cs typeface="Garet"/>
                <a:sym typeface="Garet"/>
              </a:rPr>
              <a:t>e el sistema se cierra automáticamente y no se aceptarán entregas posteriores. ¡Qué emoción ver cómo han mejorado sus algoritmos! El proyecto debe incluir un README con instrucciones claras de instalación. La mayoría de los grupos lograron implementar búsqueda binaria con éxito. Les aconsejo revisar el caso de uso antes de enviarlo para evitar errores tontos.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DAG3qilO2bk</dc:identifier>
  <dcterms:modified xsi:type="dcterms:W3CDTF">2011-08-01T06:04:30Z</dcterms:modified>
  <cp:revision>1</cp:revision>
  <dc:title>Semana 7 - Funciones del Lenguaje</dc:title>
</cp:coreProperties>
</file>