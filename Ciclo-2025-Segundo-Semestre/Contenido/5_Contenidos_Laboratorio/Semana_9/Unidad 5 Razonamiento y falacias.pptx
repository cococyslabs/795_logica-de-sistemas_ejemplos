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x="18288000" cy="10287000"/>
  <p:notesSz cx="6858000" cy="9144000"/>
  <p:embeddedFontLst>
    <p:embeddedFont>
      <p:font typeface="Arial Bold" charset="1" panose="020B0704020202020204"/>
      <p:regular r:id="rId47"/>
    </p:embeddedFont>
    <p:embeddedFont>
      <p:font typeface="Garet Bold" charset="1" panose="00000000000000000000"/>
      <p:regular r:id="rId48"/>
    </p:embeddedFont>
    <p:embeddedFont>
      <p:font typeface="Open Sans Bold" charset="1" panose="020B0806030504020204"/>
      <p:regular r:id="rId49"/>
    </p:embeddedFont>
    <p:embeddedFont>
      <p:font typeface="Garet" charset="1" panose="00000000000000000000"/>
      <p:regular r:id="rId50"/>
    </p:embeddedFont>
    <p:embeddedFont>
      <p:font typeface="Playlist Script" charset="1" panose="00000000000000000000"/>
      <p:regular r:id="rId51"/>
    </p:embeddedFont>
    <p:embeddedFont>
      <p:font typeface="Horizon" charset="1" panose="02000500000000000000"/>
      <p:regular r:id="rId52"/>
    </p:embeddedFont>
    <p:embeddedFont>
      <p:font typeface="Open Sans" charset="1" panose="020B0606030504020204"/>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8459661" y="2087779"/>
          <a:ext cx="9268437" cy="2162175"/>
        </p:xfrm>
        <a:graphic>
          <a:graphicData uri="http://schemas.openxmlformats.org/drawingml/2006/table">
            <a:tbl>
              <a:tblPr/>
              <a:tblGrid>
                <a:gridCol w="4350920"/>
                <a:gridCol w="4917518"/>
              </a:tblGrid>
              <a:tr h="1124719">
                <a:tc>
                  <a:txBody>
                    <a:bodyPr anchor="t" rtlCol="false"/>
                    <a:lstStyle/>
                    <a:p>
                      <a:pPr algn="ctr">
                        <a:lnSpc>
                          <a:spcPts val="4619"/>
                        </a:lnSpc>
                        <a:defRPr/>
                      </a:pPr>
                      <a:r>
                        <a:rPr lang="en-US" sz="3299" b="true">
                          <a:solidFill>
                            <a:srgbClr val="000000"/>
                          </a:solidFill>
                          <a:latin typeface="Arial Bold"/>
                          <a:ea typeface="Arial Bold"/>
                          <a:cs typeface="Arial Bold"/>
                          <a:sym typeface="Arial Bold"/>
                        </a:rPr>
                        <a:t>Dia, Fecha: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456">
                <a:tc>
                  <a:txBody>
                    <a:bodyPr anchor="t" rtlCol="false"/>
                    <a:lstStyle/>
                    <a:p>
                      <a:pPr algn="ctr">
                        <a:lnSpc>
                          <a:spcPts val="3919"/>
                        </a:lnSpc>
                        <a:defRPr/>
                      </a:pPr>
                      <a:r>
                        <a:rPr lang="en-US" sz="2799" b="true">
                          <a:solidFill>
                            <a:srgbClr val="000000"/>
                          </a:solidFill>
                          <a:latin typeface="Garet Bold"/>
                          <a:ea typeface="Garet Bold"/>
                          <a:cs typeface="Garet Bold"/>
                          <a:sym typeface="Garet Bold"/>
                        </a:rPr>
                        <a:t>Hora de inicio: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Freeform 3" id="3"/>
          <p:cNvSpPr/>
          <p:nvPr/>
        </p:nvSpPr>
        <p:spPr>
          <a:xfrm flipH="false" flipV="false" rot="0">
            <a:off x="0" y="-18008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a:ln cap="sq">
            <a:noFill/>
            <a:prstDash val="solid"/>
            <a:miter/>
          </a:ln>
        </p:spPr>
      </p:sp>
      <p:grpSp>
        <p:nvGrpSpPr>
          <p:cNvPr name="Group 4" id="4"/>
          <p:cNvGrpSpPr/>
          <p:nvPr/>
        </p:nvGrpSpPr>
        <p:grpSpPr>
          <a:xfrm rot="0">
            <a:off x="1198672" y="5749011"/>
            <a:ext cx="8989218" cy="903865"/>
            <a:chOff x="0" y="0"/>
            <a:chExt cx="2367531" cy="238055"/>
          </a:xfrm>
        </p:grpSpPr>
        <p:sp>
          <p:nvSpPr>
            <p:cNvPr name="Freeform 5" id="5"/>
            <p:cNvSpPr/>
            <p:nvPr/>
          </p:nvSpPr>
          <p:spPr>
            <a:xfrm flipH="false" flipV="false" rot="0">
              <a:off x="0" y="0"/>
              <a:ext cx="2367530" cy="238055"/>
            </a:xfrm>
            <a:custGeom>
              <a:avLst/>
              <a:gdLst/>
              <a:ahLst/>
              <a:cxnLst/>
              <a:rect r="r" b="b" t="t" l="l"/>
              <a:pathLst>
                <a:path h="238055" w="2367530">
                  <a:moveTo>
                    <a:pt x="0" y="0"/>
                  </a:moveTo>
                  <a:lnTo>
                    <a:pt x="2367530" y="0"/>
                  </a:lnTo>
                  <a:lnTo>
                    <a:pt x="2367530" y="238055"/>
                  </a:lnTo>
                  <a:lnTo>
                    <a:pt x="0" y="238055"/>
                  </a:lnTo>
                  <a:close/>
                </a:path>
              </a:pathLst>
            </a:custGeom>
            <a:solidFill>
              <a:srgbClr val="FFF3C2"/>
            </a:solidFill>
          </p:spPr>
        </p:sp>
        <p:sp>
          <p:nvSpPr>
            <p:cNvPr name="TextBox 6" id="6"/>
            <p:cNvSpPr txBox="true"/>
            <p:nvPr/>
          </p:nvSpPr>
          <p:spPr>
            <a:xfrm>
              <a:off x="0" y="-76200"/>
              <a:ext cx="2367531" cy="314255"/>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ns Bold"/>
                  <a:ea typeface="Open Sans Bold"/>
                  <a:cs typeface="Open Sans Bold"/>
                  <a:sym typeface="Open Sans Bold"/>
                </a:rPr>
                <a:t>Lógica de Sistemas Sección </a:t>
              </a:r>
            </a:p>
          </p:txBody>
        </p:sp>
      </p:grpSp>
      <p:grpSp>
        <p:nvGrpSpPr>
          <p:cNvPr name="Group 7" id="7"/>
          <p:cNvGrpSpPr/>
          <p:nvPr/>
        </p:nvGrpSpPr>
        <p:grpSpPr>
          <a:xfrm rot="0">
            <a:off x="1351072" y="5901411"/>
            <a:ext cx="8989218" cy="903865"/>
            <a:chOff x="0" y="0"/>
            <a:chExt cx="2367531" cy="238055"/>
          </a:xfrm>
        </p:grpSpPr>
        <p:sp>
          <p:nvSpPr>
            <p:cNvPr name="Freeform 8" id="8"/>
            <p:cNvSpPr/>
            <p:nvPr/>
          </p:nvSpPr>
          <p:spPr>
            <a:xfrm flipH="false" flipV="false" rot="0">
              <a:off x="0" y="0"/>
              <a:ext cx="2367530" cy="238055"/>
            </a:xfrm>
            <a:custGeom>
              <a:avLst/>
              <a:gdLst/>
              <a:ahLst/>
              <a:cxnLst/>
              <a:rect r="r" b="b" t="t" l="l"/>
              <a:pathLst>
                <a:path h="238055" w="2367530">
                  <a:moveTo>
                    <a:pt x="0" y="0"/>
                  </a:moveTo>
                  <a:lnTo>
                    <a:pt x="2367530" y="0"/>
                  </a:lnTo>
                  <a:lnTo>
                    <a:pt x="2367530" y="238055"/>
                  </a:lnTo>
                  <a:lnTo>
                    <a:pt x="0" y="238055"/>
                  </a:lnTo>
                  <a:close/>
                </a:path>
              </a:pathLst>
            </a:custGeom>
            <a:solidFill>
              <a:srgbClr val="FFF3C2"/>
            </a:solidFill>
          </p:spPr>
        </p:sp>
        <p:sp>
          <p:nvSpPr>
            <p:cNvPr name="TextBox 9" id="9"/>
            <p:cNvSpPr txBox="true"/>
            <p:nvPr/>
          </p:nvSpPr>
          <p:spPr>
            <a:xfrm>
              <a:off x="0" y="-76200"/>
              <a:ext cx="2367531" cy="314255"/>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ns Bold"/>
                  <a:ea typeface="Open Sans Bold"/>
                  <a:cs typeface="Open Sans Bold"/>
                  <a:sym typeface="Open Sans Bold"/>
                </a:rPr>
                <a:t>Lógica de Sistemas Sección </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945148" y="7834026"/>
            <a:ext cx="5953839" cy="863600"/>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192003" y="3355266"/>
            <a:ext cx="17365712" cy="1368424"/>
          </a:xfrm>
          <a:prstGeom prst="rect">
            <a:avLst/>
          </a:prstGeom>
        </p:spPr>
        <p:txBody>
          <a:bodyPr anchor="t" rtlCol="false" tIns="0" lIns="0" bIns="0" rIns="0">
            <a:spAutoFit/>
          </a:bodyPr>
          <a:lstStyle/>
          <a:p>
            <a:pPr algn="ctr">
              <a:lnSpc>
                <a:spcPts val="11200"/>
              </a:lnSpc>
            </a:pPr>
            <a:r>
              <a:rPr lang="en-US" sz="8000" b="true">
                <a:solidFill>
                  <a:srgbClr val="131416"/>
                </a:solidFill>
                <a:latin typeface="Open Sans Bold"/>
                <a:ea typeface="Open Sans Bold"/>
                <a:cs typeface="Open Sans Bold"/>
                <a:sym typeface="Open Sans Bold"/>
              </a:rPr>
              <a:t>Unidad 5: Razonamiento y falacias</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8654" y="4617787"/>
            <a:ext cx="6359344" cy="795402"/>
            <a:chOff x="0" y="0"/>
            <a:chExt cx="2707493" cy="338643"/>
          </a:xfrm>
        </p:grpSpPr>
        <p:sp>
          <p:nvSpPr>
            <p:cNvPr name="Freeform 3" id="3"/>
            <p:cNvSpPr/>
            <p:nvPr/>
          </p:nvSpPr>
          <p:spPr>
            <a:xfrm flipH="false" flipV="false" rot="0">
              <a:off x="0" y="0"/>
              <a:ext cx="2707493" cy="338643"/>
            </a:xfrm>
            <a:custGeom>
              <a:avLst/>
              <a:gdLst/>
              <a:ahLst/>
              <a:cxnLst/>
              <a:rect r="r" b="b" t="t" l="l"/>
              <a:pathLst>
                <a:path h="338643" w="2707493">
                  <a:moveTo>
                    <a:pt x="2504293" y="0"/>
                  </a:moveTo>
                  <a:lnTo>
                    <a:pt x="0" y="0"/>
                  </a:lnTo>
                  <a:lnTo>
                    <a:pt x="0" y="338643"/>
                  </a:lnTo>
                  <a:lnTo>
                    <a:pt x="2504293" y="338643"/>
                  </a:lnTo>
                  <a:lnTo>
                    <a:pt x="2707493" y="169321"/>
                  </a:lnTo>
                  <a:lnTo>
                    <a:pt x="2504293" y="0"/>
                  </a:lnTo>
                  <a:close/>
                </a:path>
              </a:pathLst>
            </a:custGeom>
            <a:solidFill>
              <a:srgbClr val="FFFFFF"/>
            </a:solidFill>
          </p:spPr>
        </p:sp>
        <p:sp>
          <p:nvSpPr>
            <p:cNvPr name="TextBox 4" id="4"/>
            <p:cNvSpPr txBox="true"/>
            <p:nvPr/>
          </p:nvSpPr>
          <p:spPr>
            <a:xfrm>
              <a:off x="0" y="-76200"/>
              <a:ext cx="2593193" cy="41484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Razonamiento y Falacias</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7237998" y="3303305"/>
            <a:ext cx="11050002" cy="1849753"/>
            <a:chOff x="0" y="0"/>
            <a:chExt cx="2910289" cy="487178"/>
          </a:xfrm>
        </p:grpSpPr>
        <p:sp>
          <p:nvSpPr>
            <p:cNvPr name="Freeform 17" id="17"/>
            <p:cNvSpPr/>
            <p:nvPr/>
          </p:nvSpPr>
          <p:spPr>
            <a:xfrm flipH="false" flipV="false" rot="0">
              <a:off x="0" y="0"/>
              <a:ext cx="2910289" cy="487178"/>
            </a:xfrm>
            <a:custGeom>
              <a:avLst/>
              <a:gdLst/>
              <a:ahLst/>
              <a:cxnLst/>
              <a:rect r="r" b="b" t="t" l="l"/>
              <a:pathLst>
                <a:path h="487178" w="2910289">
                  <a:moveTo>
                    <a:pt x="2707089" y="0"/>
                  </a:moveTo>
                  <a:lnTo>
                    <a:pt x="0" y="0"/>
                  </a:lnTo>
                  <a:lnTo>
                    <a:pt x="0" y="487178"/>
                  </a:lnTo>
                  <a:lnTo>
                    <a:pt x="2707089" y="487178"/>
                  </a:lnTo>
                  <a:lnTo>
                    <a:pt x="2910289" y="243589"/>
                  </a:lnTo>
                  <a:lnTo>
                    <a:pt x="2707089" y="0"/>
                  </a:lnTo>
                  <a:close/>
                </a:path>
              </a:pathLst>
            </a:custGeom>
            <a:solidFill>
              <a:srgbClr val="FFFFFF"/>
            </a:solidFill>
          </p:spPr>
        </p:sp>
        <p:sp>
          <p:nvSpPr>
            <p:cNvPr name="TextBox 18" id="18"/>
            <p:cNvSpPr txBox="true"/>
            <p:nvPr/>
          </p:nvSpPr>
          <p:spPr>
            <a:xfrm>
              <a:off x="0" y="-114300"/>
              <a:ext cx="2795989" cy="60147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del Video:</a:t>
              </a:r>
            </a:p>
            <a:p>
              <a:pPr algn="ctr">
                <a:lnSpc>
                  <a:spcPts val="6659"/>
                </a:lnSpc>
              </a:pPr>
              <a:r>
                <a:rPr lang="en-US" sz="4499" spc="130">
                  <a:solidFill>
                    <a:srgbClr val="000000"/>
                  </a:solidFill>
                  <a:latin typeface="Garet"/>
                  <a:ea typeface="Garet"/>
                  <a:cs typeface="Garet"/>
                  <a:sym typeface="Garet"/>
                </a:rPr>
                <a:t>https://youtu.be/patsrz0-WVU</a:t>
              </a:r>
            </a:p>
          </p:txBody>
        </p:sp>
      </p:grpSp>
      <p:grpSp>
        <p:nvGrpSpPr>
          <p:cNvPr name="Group 19" id="19"/>
          <p:cNvGrpSpPr/>
          <p:nvPr/>
        </p:nvGrpSpPr>
        <p:grpSpPr>
          <a:xfrm rot="0">
            <a:off x="7411466" y="5290535"/>
            <a:ext cx="11754886" cy="1886203"/>
            <a:chOff x="0" y="0"/>
            <a:chExt cx="3095937" cy="496778"/>
          </a:xfrm>
        </p:grpSpPr>
        <p:sp>
          <p:nvSpPr>
            <p:cNvPr name="Freeform 20" id="20"/>
            <p:cNvSpPr/>
            <p:nvPr/>
          </p:nvSpPr>
          <p:spPr>
            <a:xfrm flipH="false" flipV="false" rot="0">
              <a:off x="0" y="0"/>
              <a:ext cx="3095937" cy="496778"/>
            </a:xfrm>
            <a:custGeom>
              <a:avLst/>
              <a:gdLst/>
              <a:ahLst/>
              <a:cxnLst/>
              <a:rect r="r" b="b" t="t" l="l"/>
              <a:pathLst>
                <a:path h="496778" w="3095937">
                  <a:moveTo>
                    <a:pt x="2892737" y="0"/>
                  </a:moveTo>
                  <a:lnTo>
                    <a:pt x="0" y="0"/>
                  </a:lnTo>
                  <a:lnTo>
                    <a:pt x="0" y="496778"/>
                  </a:lnTo>
                  <a:lnTo>
                    <a:pt x="2892737" y="496778"/>
                  </a:lnTo>
                  <a:lnTo>
                    <a:pt x="3095937" y="248389"/>
                  </a:lnTo>
                  <a:lnTo>
                    <a:pt x="2892737" y="0"/>
                  </a:lnTo>
                  <a:close/>
                </a:path>
              </a:pathLst>
            </a:custGeom>
            <a:solidFill>
              <a:srgbClr val="FFFFFF"/>
            </a:solidFill>
          </p:spPr>
        </p:sp>
        <p:sp>
          <p:nvSpPr>
            <p:cNvPr name="TextBox 21" id="21"/>
            <p:cNvSpPr txBox="true"/>
            <p:nvPr/>
          </p:nvSpPr>
          <p:spPr>
            <a:xfrm>
              <a:off x="0" y="-76200"/>
              <a:ext cx="2981637" cy="572978"/>
            </a:xfrm>
            <a:prstGeom prst="rect">
              <a:avLst/>
            </a:prstGeom>
          </p:spPr>
          <p:txBody>
            <a:bodyPr anchor="ctr" rtlCol="false" tIns="50800" lIns="50800" bIns="50800" rIns="50800"/>
            <a:lstStyle/>
            <a:p>
              <a:pPr algn="l">
                <a:lnSpc>
                  <a:spcPts val="4587"/>
                </a:lnSpc>
              </a:pPr>
              <a:r>
                <a:rPr lang="en-US" sz="3099" spc="89">
                  <a:solidFill>
                    <a:srgbClr val="FF3131"/>
                  </a:solidFill>
                  <a:latin typeface="Garet"/>
                  <a:ea typeface="Garet"/>
                  <a:cs typeface="Garet"/>
                  <a:sym typeface="Garet"/>
                </a:rPr>
                <a:t>Link de Quizziz:</a:t>
              </a:r>
              <a:r>
                <a:rPr lang="en-US" sz="3099" spc="89">
                  <a:solidFill>
                    <a:srgbClr val="000000"/>
                  </a:solidFill>
                  <a:latin typeface="Garet"/>
                  <a:ea typeface="Garet"/>
                  <a:cs typeface="Garet"/>
                  <a:sym typeface="Garet"/>
                </a:rPr>
                <a:t> </a:t>
              </a:r>
              <a:r>
                <a:rPr lang="en-US" sz="3099" spc="89">
                  <a:solidFill>
                    <a:srgbClr val="2F5492"/>
                  </a:solidFill>
                  <a:latin typeface="Garet"/>
                  <a:ea typeface="Garet"/>
                  <a:cs typeface="Garet"/>
                  <a:sym typeface="Garet"/>
                </a:rPr>
                <a:t>https://create.kahoot.it/details/939554f4-e4d1-4c2c-babe-9c1448730a8b</a:t>
              </a:r>
            </a:p>
          </p:txBody>
        </p:sp>
      </p:grpSp>
      <p:grpSp>
        <p:nvGrpSpPr>
          <p:cNvPr name="Group 22" id="22"/>
          <p:cNvGrpSpPr/>
          <p:nvPr/>
        </p:nvGrpSpPr>
        <p:grpSpPr>
          <a:xfrm rot="0">
            <a:off x="878654" y="5675818"/>
            <a:ext cx="4613551" cy="666407"/>
            <a:chOff x="0" y="0"/>
            <a:chExt cx="1964221" cy="283723"/>
          </a:xfrm>
        </p:grpSpPr>
        <p:sp>
          <p:nvSpPr>
            <p:cNvPr name="Freeform 23" id="2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24" id="2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Razonamiento</a:t>
              </a:r>
            </a:p>
          </p:txBody>
        </p:sp>
      </p:grpSp>
      <p:grpSp>
        <p:nvGrpSpPr>
          <p:cNvPr name="Group 25" id="25"/>
          <p:cNvGrpSpPr/>
          <p:nvPr/>
        </p:nvGrpSpPr>
        <p:grpSpPr>
          <a:xfrm rot="0">
            <a:off x="1028700" y="6604853"/>
            <a:ext cx="4613551" cy="666407"/>
            <a:chOff x="0" y="0"/>
            <a:chExt cx="1964221" cy="283723"/>
          </a:xfrm>
        </p:grpSpPr>
        <p:sp>
          <p:nvSpPr>
            <p:cNvPr name="Freeform 26" id="26"/>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27" id="27"/>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Las Inferencias</a:t>
              </a:r>
            </a:p>
          </p:txBody>
        </p:sp>
      </p:grpSp>
      <p:grpSp>
        <p:nvGrpSpPr>
          <p:cNvPr name="Group 28" id="28"/>
          <p:cNvGrpSpPr/>
          <p:nvPr/>
        </p:nvGrpSpPr>
        <p:grpSpPr>
          <a:xfrm rot="0">
            <a:off x="176619" y="7528435"/>
            <a:ext cx="4613551" cy="666407"/>
            <a:chOff x="0" y="0"/>
            <a:chExt cx="1964221" cy="283723"/>
          </a:xfrm>
        </p:grpSpPr>
        <p:sp>
          <p:nvSpPr>
            <p:cNvPr name="Freeform 29" id="29"/>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30" id="30"/>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Falacias</a:t>
              </a:r>
            </a:p>
          </p:txBody>
        </p:sp>
      </p:grpSp>
      <p:grpSp>
        <p:nvGrpSpPr>
          <p:cNvPr name="Group 31" id="31"/>
          <p:cNvGrpSpPr/>
          <p:nvPr/>
        </p:nvGrpSpPr>
        <p:grpSpPr>
          <a:xfrm rot="0">
            <a:off x="651754" y="8597774"/>
            <a:ext cx="6378116" cy="660526"/>
            <a:chOff x="0" y="0"/>
            <a:chExt cx="2715486" cy="281219"/>
          </a:xfrm>
        </p:grpSpPr>
        <p:sp>
          <p:nvSpPr>
            <p:cNvPr name="Freeform 32" id="32"/>
            <p:cNvSpPr/>
            <p:nvPr/>
          </p:nvSpPr>
          <p:spPr>
            <a:xfrm flipH="false" flipV="false" rot="0">
              <a:off x="0" y="0"/>
              <a:ext cx="2715486" cy="281219"/>
            </a:xfrm>
            <a:custGeom>
              <a:avLst/>
              <a:gdLst/>
              <a:ahLst/>
              <a:cxnLst/>
              <a:rect r="r" b="b" t="t" l="l"/>
              <a:pathLst>
                <a:path h="281219" w="2715486">
                  <a:moveTo>
                    <a:pt x="2512286" y="0"/>
                  </a:moveTo>
                  <a:lnTo>
                    <a:pt x="0" y="0"/>
                  </a:lnTo>
                  <a:lnTo>
                    <a:pt x="0" y="281219"/>
                  </a:lnTo>
                  <a:lnTo>
                    <a:pt x="2512286" y="281219"/>
                  </a:lnTo>
                  <a:lnTo>
                    <a:pt x="2715486" y="140610"/>
                  </a:lnTo>
                  <a:lnTo>
                    <a:pt x="2512286" y="0"/>
                  </a:lnTo>
                  <a:close/>
                </a:path>
              </a:pathLst>
            </a:custGeom>
            <a:solidFill>
              <a:srgbClr val="FFFFFF"/>
            </a:solidFill>
          </p:spPr>
        </p:sp>
        <p:sp>
          <p:nvSpPr>
            <p:cNvPr name="TextBox 33" id="33"/>
            <p:cNvSpPr txBox="true"/>
            <p:nvPr/>
          </p:nvSpPr>
          <p:spPr>
            <a:xfrm>
              <a:off x="0" y="-76200"/>
              <a:ext cx="2601186" cy="357419"/>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Falacias de atingencia</a:t>
              </a:r>
            </a:p>
          </p:txBody>
        </p:sp>
      </p:grpSp>
      <p:sp>
        <p:nvSpPr>
          <p:cNvPr name="Freeform 34" id="34"/>
          <p:cNvSpPr/>
          <p:nvPr/>
        </p:nvSpPr>
        <p:spPr>
          <a:xfrm flipH="false" flipV="false" rot="0">
            <a:off x="878654" y="5623280"/>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0">
            <a:off x="878654" y="6604853"/>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6" id="36"/>
          <p:cNvSpPr/>
          <p:nvPr/>
        </p:nvSpPr>
        <p:spPr>
          <a:xfrm flipH="false" flipV="false" rot="0">
            <a:off x="878654" y="7604635"/>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7" id="37"/>
          <p:cNvSpPr/>
          <p:nvPr/>
        </p:nvSpPr>
        <p:spPr>
          <a:xfrm flipH="false" flipV="false" rot="0">
            <a:off x="878654" y="8605540"/>
            <a:ext cx="453358" cy="550094"/>
          </a:xfrm>
          <a:custGeom>
            <a:avLst/>
            <a:gdLst/>
            <a:ahLst/>
            <a:cxnLst/>
            <a:rect r="r" b="b" t="t" l="l"/>
            <a:pathLst>
              <a:path h="550094" w="453358">
                <a:moveTo>
                  <a:pt x="0" y="0"/>
                </a:moveTo>
                <a:lnTo>
                  <a:pt x="453359" y="0"/>
                </a:lnTo>
                <a:lnTo>
                  <a:pt x="453359" y="550095"/>
                </a:lnTo>
                <a:lnTo>
                  <a:pt x="0" y="5500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654364"/>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2191966" y="4432648"/>
            <a:ext cx="13448312" cy="2089150"/>
          </a:xfrm>
          <a:prstGeom prst="rect">
            <a:avLst/>
          </a:prstGeom>
        </p:spPr>
        <p:txBody>
          <a:bodyPr anchor="t" rtlCol="false" tIns="0" lIns="0" bIns="0" rIns="0">
            <a:spAutoFit/>
          </a:bodyPr>
          <a:lstStyle/>
          <a:p>
            <a:pPr algn="just">
              <a:lnSpc>
                <a:spcPts val="5599"/>
              </a:lnSpc>
            </a:pPr>
            <a:r>
              <a:rPr lang="en-US" sz="3999">
                <a:solidFill>
                  <a:srgbClr val="131416"/>
                </a:solidFill>
                <a:latin typeface="Open Sans"/>
                <a:ea typeface="Open Sans"/>
                <a:cs typeface="Open Sans"/>
                <a:sym typeface="Open Sans"/>
              </a:rPr>
              <a:t>Evalua razonamientos y falacias utilizando ejercicios escritos y discusiones dirigidas en la resolución de dilemas lógicos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0939" y="2959690"/>
            <a:ext cx="12625499" cy="5926943"/>
          </a:xfrm>
          <a:prstGeom prst="rect">
            <a:avLst/>
          </a:prstGeom>
        </p:spPr>
        <p:txBody>
          <a:bodyPr anchor="t" rtlCol="false" tIns="0" lIns="0" bIns="0" rIns="0">
            <a:spAutoFit/>
          </a:bodyPr>
          <a:lstStyle/>
          <a:p>
            <a:pPr algn="l" marL="847776" indent="-423888" lvl="1">
              <a:lnSpc>
                <a:spcPts val="6793"/>
              </a:lnSpc>
              <a:buFont typeface="Arial"/>
              <a:buChar char="•"/>
            </a:pPr>
            <a:r>
              <a:rPr lang="en-US" sz="3926">
                <a:solidFill>
                  <a:srgbClr val="131416"/>
                </a:solidFill>
                <a:latin typeface="Garet"/>
                <a:ea typeface="Garet"/>
                <a:cs typeface="Garet"/>
                <a:sym typeface="Garet"/>
              </a:rPr>
              <a:t>El razonamiento</a:t>
            </a:r>
          </a:p>
          <a:p>
            <a:pPr algn="l" marL="847776" indent="-423888" lvl="1">
              <a:lnSpc>
                <a:spcPts val="6793"/>
              </a:lnSpc>
              <a:buFont typeface="Arial"/>
              <a:buChar char="•"/>
            </a:pPr>
            <a:r>
              <a:rPr lang="en-US" sz="3926">
                <a:solidFill>
                  <a:srgbClr val="131416"/>
                </a:solidFill>
                <a:latin typeface="Garet"/>
                <a:ea typeface="Garet"/>
                <a:cs typeface="Garet"/>
                <a:sym typeface="Garet"/>
              </a:rPr>
              <a:t>Clasificación de razonamientos</a:t>
            </a:r>
          </a:p>
          <a:p>
            <a:pPr algn="l" marL="847776" indent="-423888" lvl="1">
              <a:lnSpc>
                <a:spcPts val="6793"/>
              </a:lnSpc>
              <a:buFont typeface="Arial"/>
              <a:buChar char="•"/>
            </a:pPr>
            <a:r>
              <a:rPr lang="en-US" sz="3926">
                <a:solidFill>
                  <a:srgbClr val="131416"/>
                </a:solidFill>
                <a:latin typeface="Garet"/>
                <a:ea typeface="Garet"/>
                <a:cs typeface="Garet"/>
                <a:sym typeface="Garet"/>
              </a:rPr>
              <a:t>La inferencia</a:t>
            </a:r>
          </a:p>
          <a:p>
            <a:pPr algn="l" marL="847776" indent="-423888" lvl="1">
              <a:lnSpc>
                <a:spcPts val="6793"/>
              </a:lnSpc>
              <a:buFont typeface="Arial"/>
              <a:buChar char="•"/>
            </a:pPr>
            <a:r>
              <a:rPr lang="en-US" sz="3926">
                <a:solidFill>
                  <a:srgbClr val="131416"/>
                </a:solidFill>
                <a:latin typeface="Garet"/>
                <a:ea typeface="Garet"/>
                <a:cs typeface="Garet"/>
                <a:sym typeface="Garet"/>
              </a:rPr>
              <a:t>Falacias</a:t>
            </a:r>
          </a:p>
          <a:p>
            <a:pPr algn="l" marL="847776" indent="-423888" lvl="1">
              <a:lnSpc>
                <a:spcPts val="6793"/>
              </a:lnSpc>
              <a:buFont typeface="Arial"/>
              <a:buChar char="•"/>
            </a:pPr>
            <a:r>
              <a:rPr lang="en-US" sz="3926">
                <a:solidFill>
                  <a:srgbClr val="131416"/>
                </a:solidFill>
                <a:latin typeface="Garet"/>
                <a:ea typeface="Garet"/>
                <a:cs typeface="Garet"/>
                <a:sym typeface="Garet"/>
              </a:rPr>
              <a:t>Falacias de atingencia</a:t>
            </a:r>
          </a:p>
          <a:p>
            <a:pPr algn="l" marL="847776" indent="-423888" lvl="1">
              <a:lnSpc>
                <a:spcPts val="6793"/>
              </a:lnSpc>
              <a:buFont typeface="Arial"/>
              <a:buChar char="•"/>
            </a:pPr>
            <a:r>
              <a:rPr lang="en-US" sz="3926">
                <a:solidFill>
                  <a:srgbClr val="131416"/>
                </a:solidFill>
                <a:latin typeface="Garet"/>
                <a:ea typeface="Garet"/>
                <a:cs typeface="Garet"/>
                <a:sym typeface="Garet"/>
              </a:rPr>
              <a:t>Falacias de ambigüedad </a:t>
            </a:r>
          </a:p>
          <a:p>
            <a:pPr algn="l">
              <a:lnSpc>
                <a:spcPts val="6793"/>
              </a:lnSpc>
            </a:pPr>
          </a:p>
        </p:txBody>
      </p:sp>
      <p:sp>
        <p:nvSpPr>
          <p:cNvPr name="TextBox 3" id="3"/>
          <p:cNvSpPr txBox="true"/>
          <p:nvPr/>
        </p:nvSpPr>
        <p:spPr>
          <a:xfrm rot="0">
            <a:off x="1556560" y="1009650"/>
            <a:ext cx="13991174" cy="937141"/>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CONTENIDO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47329" y="1680425"/>
            <a:ext cx="11250586" cy="6216698"/>
          </a:xfrm>
          <a:prstGeom prst="rect">
            <a:avLst/>
          </a:prstGeom>
        </p:spPr>
        <p:txBody>
          <a:bodyPr anchor="t" rtlCol="false" tIns="0" lIns="0" bIns="0" rIns="0">
            <a:spAutoFit/>
          </a:bodyPr>
          <a:lstStyle/>
          <a:p>
            <a:pPr algn="just">
              <a:lnSpc>
                <a:spcPts val="5500"/>
              </a:lnSpc>
            </a:pPr>
            <a:r>
              <a:rPr lang="en-US" sz="3928">
                <a:solidFill>
                  <a:srgbClr val="131416"/>
                </a:solidFill>
                <a:latin typeface="Open Sans"/>
                <a:ea typeface="Open Sans"/>
                <a:cs typeface="Open Sans"/>
                <a:sym typeface="Open Sans"/>
              </a:rPr>
              <a:t>En términos generales, “La premisa es la razón que se da para una</a:t>
            </a:r>
          </a:p>
          <a:p>
            <a:pPr algn="just">
              <a:lnSpc>
                <a:spcPts val="5500"/>
              </a:lnSpc>
            </a:pPr>
            <a:r>
              <a:rPr lang="en-US" sz="3928">
                <a:solidFill>
                  <a:srgbClr val="131416"/>
                </a:solidFill>
                <a:latin typeface="Open Sans"/>
                <a:ea typeface="Open Sans"/>
                <a:cs typeface="Open Sans"/>
                <a:sym typeface="Open Sans"/>
              </a:rPr>
              <a:t>conclusión”. Una premisa es cada una de las proposiciones que forman un</a:t>
            </a:r>
          </a:p>
          <a:p>
            <a:pPr algn="just">
              <a:lnSpc>
                <a:spcPts val="5500"/>
              </a:lnSpc>
            </a:pPr>
            <a:r>
              <a:rPr lang="en-US" sz="3928">
                <a:solidFill>
                  <a:srgbClr val="131416"/>
                </a:solidFill>
                <a:latin typeface="Open Sans"/>
                <a:ea typeface="Open Sans"/>
                <a:cs typeface="Open Sans"/>
                <a:sym typeface="Open Sans"/>
              </a:rPr>
              <a:t>razonamiento, el cual a su vez da lugar a una conclusión de dicho razonamiento. Las</a:t>
            </a:r>
          </a:p>
          <a:p>
            <a:pPr algn="just">
              <a:lnSpc>
                <a:spcPts val="5500"/>
              </a:lnSpc>
            </a:pPr>
            <a:r>
              <a:rPr lang="en-US" sz="3928">
                <a:solidFill>
                  <a:srgbClr val="131416"/>
                </a:solidFill>
                <a:latin typeface="Open Sans"/>
                <a:ea typeface="Open Sans"/>
                <a:cs typeface="Open Sans"/>
                <a:sym typeface="Open Sans"/>
              </a:rPr>
              <a:t>premisas son expresiones lingüísticas que afirman o niegan algo pudiendo ser estas</a:t>
            </a:r>
          </a:p>
          <a:p>
            <a:pPr algn="just">
              <a:lnSpc>
                <a:spcPts val="5500"/>
              </a:lnSpc>
            </a:pPr>
            <a:r>
              <a:rPr lang="en-US" sz="3928">
                <a:solidFill>
                  <a:srgbClr val="131416"/>
                </a:solidFill>
                <a:latin typeface="Open Sans"/>
                <a:ea typeface="Open Sans"/>
                <a:cs typeface="Open Sans"/>
                <a:sym typeface="Open Sans"/>
              </a:rPr>
              <a:t>verdaderas o falsas.</a:t>
            </a:r>
          </a:p>
        </p:txBody>
      </p:sp>
      <p:sp>
        <p:nvSpPr>
          <p:cNvPr name="Freeform 3" id="3"/>
          <p:cNvSpPr/>
          <p:nvPr/>
        </p:nvSpPr>
        <p:spPr>
          <a:xfrm flipH="false" flipV="false" rot="0">
            <a:off x="0" y="2724702"/>
            <a:ext cx="6450127" cy="4837595"/>
          </a:xfrm>
          <a:custGeom>
            <a:avLst/>
            <a:gdLst/>
            <a:ahLst/>
            <a:cxnLst/>
            <a:rect r="r" b="b" t="t" l="l"/>
            <a:pathLst>
              <a:path h="4837595" w="6450127">
                <a:moveTo>
                  <a:pt x="0" y="0"/>
                </a:moveTo>
                <a:lnTo>
                  <a:pt x="6450127" y="0"/>
                </a:lnTo>
                <a:lnTo>
                  <a:pt x="6450127" y="4837596"/>
                </a:lnTo>
                <a:lnTo>
                  <a:pt x="0" y="4837596"/>
                </a:lnTo>
                <a:lnTo>
                  <a:pt x="0" y="0"/>
                </a:lnTo>
                <a:close/>
              </a:path>
            </a:pathLst>
          </a:custGeom>
          <a:blipFill>
            <a:blip r:embed="rId2"/>
            <a:stretch>
              <a:fillRect l="0" t="0" r="0" b="0"/>
            </a:stretch>
          </a:blipFill>
        </p:spPr>
      </p:sp>
      <p:sp>
        <p:nvSpPr>
          <p:cNvPr name="TextBox 4" id="4"/>
          <p:cNvSpPr txBox="true"/>
          <p:nvPr/>
        </p:nvSpPr>
        <p:spPr>
          <a:xfrm rot="0">
            <a:off x="1374889" y="644839"/>
            <a:ext cx="13991174" cy="858503"/>
          </a:xfrm>
          <a:prstGeom prst="rect">
            <a:avLst/>
          </a:prstGeom>
        </p:spPr>
        <p:txBody>
          <a:bodyPr anchor="t" rtlCol="false" tIns="0" lIns="0" bIns="0" rIns="0">
            <a:spAutoFit/>
          </a:bodyPr>
          <a:lstStyle/>
          <a:p>
            <a:pPr algn="l">
              <a:lnSpc>
                <a:spcPts val="6212"/>
              </a:lnSpc>
            </a:pPr>
            <a:r>
              <a:rPr lang="en-US" sz="5498">
                <a:solidFill>
                  <a:srgbClr val="2F5492"/>
                </a:solidFill>
                <a:latin typeface="Horizon"/>
                <a:ea typeface="Horizon"/>
                <a:cs typeface="Horizon"/>
                <a:sym typeface="Horizon"/>
              </a:rPr>
              <a:t>¿QUÉ ES UNA PREMISA?</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680425"/>
            <a:ext cx="16869215" cy="8329833"/>
          </a:xfrm>
          <a:prstGeom prst="rect">
            <a:avLst/>
          </a:prstGeom>
        </p:spPr>
        <p:txBody>
          <a:bodyPr anchor="t" rtlCol="false" tIns="0" lIns="0" bIns="0" rIns="0">
            <a:spAutoFit/>
          </a:bodyPr>
          <a:lstStyle/>
          <a:p>
            <a:pPr algn="just" marL="848231" indent="-424116" lvl="1">
              <a:lnSpc>
                <a:spcPts val="5500"/>
              </a:lnSpc>
              <a:buFont typeface="Arial"/>
              <a:buChar char="•"/>
            </a:pPr>
            <a:r>
              <a:rPr lang="en-US" sz="3928">
                <a:solidFill>
                  <a:srgbClr val="131416"/>
                </a:solidFill>
                <a:latin typeface="Open Sans"/>
                <a:ea typeface="Open Sans"/>
                <a:cs typeface="Open Sans"/>
                <a:sym typeface="Open Sans"/>
              </a:rPr>
              <a:t>Los planetas son redondos, la Tierra es un planeta, por lo tanto; la Tierra es redonda: </a:t>
            </a:r>
          </a:p>
          <a:p>
            <a:pPr algn="just" marL="1696462" indent="-565487" lvl="2">
              <a:lnSpc>
                <a:spcPts val="5500"/>
              </a:lnSpc>
              <a:buFont typeface="Arial"/>
              <a:buChar char="⚬"/>
            </a:pPr>
            <a:r>
              <a:rPr lang="en-US" sz="3928">
                <a:solidFill>
                  <a:srgbClr val="131416"/>
                </a:solidFill>
                <a:latin typeface="Open Sans"/>
                <a:ea typeface="Open Sans"/>
                <a:cs typeface="Open Sans"/>
                <a:sym typeface="Open Sans"/>
              </a:rPr>
              <a:t>Las premisas son: “Los planetas son redondos” y “La Tierra es un planeta”</a:t>
            </a:r>
          </a:p>
          <a:p>
            <a:pPr algn="just" marL="848231" indent="-424116" lvl="1">
              <a:lnSpc>
                <a:spcPts val="5500"/>
              </a:lnSpc>
              <a:buFont typeface="Arial"/>
              <a:buChar char="•"/>
            </a:pPr>
            <a:r>
              <a:rPr lang="en-US" sz="3928">
                <a:solidFill>
                  <a:srgbClr val="131416"/>
                </a:solidFill>
                <a:latin typeface="Open Sans"/>
                <a:ea typeface="Open Sans"/>
                <a:cs typeface="Open Sans"/>
                <a:sym typeface="Open Sans"/>
              </a:rPr>
              <a:t>Los moluscos son animales de cuerpo blando envueltos en un manto, protegidos por una cubierta calcárea. El caracol y la ostra están protegidos por una cubierta calcárea; por lo tanto, el caracol y la ostra son moluscos.</a:t>
            </a:r>
          </a:p>
          <a:p>
            <a:pPr algn="just" marL="1696462" indent="-565487" lvl="2">
              <a:lnSpc>
                <a:spcPts val="5500"/>
              </a:lnSpc>
              <a:buFont typeface="Arial"/>
              <a:buChar char="⚬"/>
            </a:pPr>
            <a:r>
              <a:rPr lang="en-US" sz="3928">
                <a:solidFill>
                  <a:srgbClr val="131416"/>
                </a:solidFill>
                <a:latin typeface="Open Sans"/>
                <a:ea typeface="Open Sans"/>
                <a:cs typeface="Open Sans"/>
                <a:sym typeface="Open Sans"/>
              </a:rPr>
              <a:t>Las premisas son “Los moluscos son animales de cuerpo blando</a:t>
            </a:r>
          </a:p>
          <a:p>
            <a:pPr algn="just" marL="1696462" indent="-565487" lvl="2">
              <a:lnSpc>
                <a:spcPts val="5500"/>
              </a:lnSpc>
              <a:buFont typeface="Arial"/>
              <a:buChar char="⚬"/>
            </a:pPr>
            <a:r>
              <a:rPr lang="en-US" sz="3928">
                <a:solidFill>
                  <a:srgbClr val="131416"/>
                </a:solidFill>
                <a:latin typeface="Open Sans"/>
                <a:ea typeface="Open Sans"/>
                <a:cs typeface="Open Sans"/>
                <a:sym typeface="Open Sans"/>
              </a:rPr>
              <a:t>envueltos en un manto protegidos por una cubierta calcárea.” y “El caracol y la ostra están protegidos por una cubierta calcárea.”</a:t>
            </a:r>
          </a:p>
          <a:p>
            <a:pPr algn="just">
              <a:lnSpc>
                <a:spcPts val="5500"/>
              </a:lnSpc>
            </a:pPr>
          </a:p>
        </p:txBody>
      </p:sp>
      <p:sp>
        <p:nvSpPr>
          <p:cNvPr name="TextBox 3" id="3"/>
          <p:cNvSpPr txBox="true"/>
          <p:nvPr/>
        </p:nvSpPr>
        <p:spPr>
          <a:xfrm rot="0">
            <a:off x="1374889" y="644839"/>
            <a:ext cx="13991174" cy="858503"/>
          </a:xfrm>
          <a:prstGeom prst="rect">
            <a:avLst/>
          </a:prstGeom>
        </p:spPr>
        <p:txBody>
          <a:bodyPr anchor="t" rtlCol="false" tIns="0" lIns="0" bIns="0" rIns="0">
            <a:spAutoFit/>
          </a:bodyPr>
          <a:lstStyle/>
          <a:p>
            <a:pPr algn="l">
              <a:lnSpc>
                <a:spcPts val="6212"/>
              </a:lnSpc>
            </a:pPr>
            <a:r>
              <a:rPr lang="en-US" sz="5498">
                <a:solidFill>
                  <a:srgbClr val="2F5492"/>
                </a:solidFill>
                <a:latin typeface="Horizon"/>
                <a:ea typeface="Horizon"/>
                <a:cs typeface="Horizon"/>
                <a:sym typeface="Horizon"/>
              </a:rPr>
              <a:t>EJEMPLOS DE PREMISA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6924" y="2610531"/>
            <a:ext cx="4587116" cy="5704186"/>
          </a:xfrm>
          <a:custGeom>
            <a:avLst/>
            <a:gdLst/>
            <a:ahLst/>
            <a:cxnLst/>
            <a:rect r="r" b="b" t="t" l="l"/>
            <a:pathLst>
              <a:path h="5704186" w="4587116">
                <a:moveTo>
                  <a:pt x="0" y="0"/>
                </a:moveTo>
                <a:lnTo>
                  <a:pt x="4587116" y="0"/>
                </a:lnTo>
                <a:lnTo>
                  <a:pt x="4587116" y="5704185"/>
                </a:lnTo>
                <a:lnTo>
                  <a:pt x="0" y="5704185"/>
                </a:lnTo>
                <a:lnTo>
                  <a:pt x="0" y="0"/>
                </a:lnTo>
                <a:close/>
              </a:path>
            </a:pathLst>
          </a:custGeom>
          <a:blipFill>
            <a:blip r:embed="rId2"/>
            <a:stretch>
              <a:fillRect l="0" t="0" r="0" b="0"/>
            </a:stretch>
          </a:blipFill>
        </p:spPr>
      </p:sp>
      <p:sp>
        <p:nvSpPr>
          <p:cNvPr name="TextBox 3" id="3"/>
          <p:cNvSpPr txBox="true"/>
          <p:nvPr/>
        </p:nvSpPr>
        <p:spPr>
          <a:xfrm rot="0">
            <a:off x="342431" y="1000125"/>
            <a:ext cx="13991174" cy="858503"/>
          </a:xfrm>
          <a:prstGeom prst="rect">
            <a:avLst/>
          </a:prstGeom>
        </p:spPr>
        <p:txBody>
          <a:bodyPr anchor="t" rtlCol="false" tIns="0" lIns="0" bIns="0" rIns="0">
            <a:spAutoFit/>
          </a:bodyPr>
          <a:lstStyle/>
          <a:p>
            <a:pPr algn="l">
              <a:lnSpc>
                <a:spcPts val="6212"/>
              </a:lnSpc>
            </a:pPr>
            <a:r>
              <a:rPr lang="en-US" sz="5498">
                <a:solidFill>
                  <a:srgbClr val="2F5492"/>
                </a:solidFill>
                <a:latin typeface="Horizon"/>
                <a:ea typeface="Horizon"/>
                <a:cs typeface="Horizon"/>
                <a:sym typeface="Horizon"/>
              </a:rPr>
              <a:t>CONCLUSIÓN</a:t>
            </a:r>
          </a:p>
        </p:txBody>
      </p:sp>
      <p:sp>
        <p:nvSpPr>
          <p:cNvPr name="TextBox 4" id="4"/>
          <p:cNvSpPr txBox="true"/>
          <p:nvPr/>
        </p:nvSpPr>
        <p:spPr>
          <a:xfrm rot="0">
            <a:off x="8044678" y="382985"/>
            <a:ext cx="9338087" cy="8998704"/>
          </a:xfrm>
          <a:prstGeom prst="rect">
            <a:avLst/>
          </a:prstGeom>
        </p:spPr>
        <p:txBody>
          <a:bodyPr anchor="t" rtlCol="false" tIns="0" lIns="0" bIns="0" rIns="0">
            <a:spAutoFit/>
          </a:bodyPr>
          <a:lstStyle/>
          <a:p>
            <a:pPr algn="just">
              <a:lnSpc>
                <a:spcPts val="5979"/>
              </a:lnSpc>
            </a:pPr>
            <a:r>
              <a:rPr lang="en-US" sz="4270">
                <a:solidFill>
                  <a:srgbClr val="131416"/>
                </a:solidFill>
                <a:latin typeface="Open Sans"/>
                <a:ea typeface="Open Sans"/>
                <a:cs typeface="Open Sans"/>
                <a:sym typeface="Open Sans"/>
              </a:rPr>
              <a:t>E</a:t>
            </a:r>
            <a:r>
              <a:rPr lang="en-US" sz="4270">
                <a:solidFill>
                  <a:srgbClr val="131416"/>
                </a:solidFill>
                <a:latin typeface="Open Sans"/>
                <a:ea typeface="Open Sans"/>
                <a:cs typeface="Open Sans"/>
                <a:sym typeface="Open Sans"/>
              </a:rPr>
              <a:t>s una proposición o juicio que se infiere de la o las premisas. Al igual que estas, la conclusión puede ubicarse en cualquier lugar del razonamiento, pues su distinción no es espacial o gramatical sino lógica y su característica esencial es que en ella se expresa el punto de arribo de la o de las razones explicadas en la o las premisas del razonamiento. Puede ir separada de las premisas por adverbios.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42431" y="1000125"/>
            <a:ext cx="13991174" cy="1639553"/>
          </a:xfrm>
          <a:prstGeom prst="rect">
            <a:avLst/>
          </a:prstGeom>
        </p:spPr>
        <p:txBody>
          <a:bodyPr anchor="t" rtlCol="false" tIns="0" lIns="0" bIns="0" rIns="0">
            <a:spAutoFit/>
          </a:bodyPr>
          <a:lstStyle/>
          <a:p>
            <a:pPr algn="l">
              <a:lnSpc>
                <a:spcPts val="6212"/>
              </a:lnSpc>
            </a:pPr>
            <a:r>
              <a:rPr lang="en-US" sz="5498">
                <a:solidFill>
                  <a:srgbClr val="2F5492"/>
                </a:solidFill>
                <a:latin typeface="Horizon"/>
                <a:ea typeface="Horizon"/>
                <a:cs typeface="Horizon"/>
                <a:sym typeface="Horizon"/>
              </a:rPr>
              <a:t>EJEMPLO DE</a:t>
            </a:r>
          </a:p>
          <a:p>
            <a:pPr algn="l">
              <a:lnSpc>
                <a:spcPts val="6212"/>
              </a:lnSpc>
            </a:pPr>
            <a:r>
              <a:rPr lang="en-US" sz="5498">
                <a:solidFill>
                  <a:srgbClr val="2F5492"/>
                </a:solidFill>
                <a:latin typeface="Horizon"/>
                <a:ea typeface="Horizon"/>
                <a:cs typeface="Horizon"/>
                <a:sym typeface="Horizon"/>
              </a:rPr>
              <a:t>CONCLUSIÓN</a:t>
            </a:r>
          </a:p>
        </p:txBody>
      </p:sp>
      <p:sp>
        <p:nvSpPr>
          <p:cNvPr name="TextBox 3" id="3"/>
          <p:cNvSpPr txBox="true"/>
          <p:nvPr/>
        </p:nvSpPr>
        <p:spPr>
          <a:xfrm rot="0">
            <a:off x="7338018" y="382985"/>
            <a:ext cx="10044748" cy="8244945"/>
          </a:xfrm>
          <a:prstGeom prst="rect">
            <a:avLst/>
          </a:prstGeom>
        </p:spPr>
        <p:txBody>
          <a:bodyPr anchor="t" rtlCol="false" tIns="0" lIns="0" bIns="0" rIns="0">
            <a:spAutoFit/>
          </a:bodyPr>
          <a:lstStyle/>
          <a:p>
            <a:pPr algn="just" marL="922082" indent="-461041" lvl="1">
              <a:lnSpc>
                <a:spcPts val="5979"/>
              </a:lnSpc>
              <a:buFont typeface="Arial"/>
              <a:buChar char="•"/>
            </a:pPr>
            <a:r>
              <a:rPr lang="en-US" sz="4270">
                <a:solidFill>
                  <a:srgbClr val="131416"/>
                </a:solidFill>
                <a:latin typeface="Open Sans"/>
                <a:ea typeface="Open Sans"/>
                <a:cs typeface="Open Sans"/>
                <a:sym typeface="Open Sans"/>
              </a:rPr>
              <a:t>Los planetas son redondos, la Tierra es un planeta.</a:t>
            </a:r>
          </a:p>
          <a:p>
            <a:pPr algn="just" marL="1844164" indent="-614721" lvl="2">
              <a:lnSpc>
                <a:spcPts val="5979"/>
              </a:lnSpc>
              <a:buFont typeface="Arial"/>
              <a:buChar char="⚬"/>
            </a:pPr>
            <a:r>
              <a:rPr lang="en-US" sz="4270">
                <a:solidFill>
                  <a:srgbClr val="131416"/>
                </a:solidFill>
                <a:latin typeface="Open Sans"/>
                <a:ea typeface="Open Sans"/>
                <a:cs typeface="Open Sans"/>
                <a:sym typeface="Open Sans"/>
              </a:rPr>
              <a:t>Conclusión: la tierra es redonda.</a:t>
            </a:r>
          </a:p>
          <a:p>
            <a:pPr algn="just">
              <a:lnSpc>
                <a:spcPts val="5979"/>
              </a:lnSpc>
            </a:pPr>
          </a:p>
          <a:p>
            <a:pPr algn="just" marL="922082" indent="-461041" lvl="1">
              <a:lnSpc>
                <a:spcPts val="5979"/>
              </a:lnSpc>
              <a:buFont typeface="Arial"/>
              <a:buChar char="•"/>
            </a:pPr>
            <a:r>
              <a:rPr lang="en-US" sz="4270">
                <a:solidFill>
                  <a:srgbClr val="131416"/>
                </a:solidFill>
                <a:latin typeface="Open Sans"/>
                <a:ea typeface="Open Sans"/>
                <a:cs typeface="Open Sans"/>
                <a:sym typeface="Open Sans"/>
              </a:rPr>
              <a:t>Los moluscos son animales de cuerpo blando envueltos en un manto, protegidos por una cubierta calcárea. El caracol y la ostra están protegidos por una cubierta.</a:t>
            </a:r>
          </a:p>
          <a:p>
            <a:pPr algn="just" marL="1844164" indent="-614721" lvl="2">
              <a:lnSpc>
                <a:spcPts val="5979"/>
              </a:lnSpc>
              <a:buFont typeface="Arial"/>
              <a:buChar char="⚬"/>
            </a:pPr>
            <a:r>
              <a:rPr lang="en-US" sz="4270">
                <a:solidFill>
                  <a:srgbClr val="131416"/>
                </a:solidFill>
                <a:latin typeface="Open Sans"/>
                <a:ea typeface="Open Sans"/>
                <a:cs typeface="Open Sans"/>
                <a:sym typeface="Open Sans"/>
              </a:rPr>
              <a:t>Conclusión: el caracol y la ostra son moluscos</a:t>
            </a:r>
          </a:p>
        </p:txBody>
      </p:sp>
      <p:sp>
        <p:nvSpPr>
          <p:cNvPr name="Freeform 4" id="4"/>
          <p:cNvSpPr/>
          <p:nvPr/>
        </p:nvSpPr>
        <p:spPr>
          <a:xfrm flipH="false" flipV="false" rot="0">
            <a:off x="837919" y="2957080"/>
            <a:ext cx="6024773" cy="6024773"/>
          </a:xfrm>
          <a:custGeom>
            <a:avLst/>
            <a:gdLst/>
            <a:ahLst/>
            <a:cxnLst/>
            <a:rect r="r" b="b" t="t" l="l"/>
            <a:pathLst>
              <a:path h="6024773" w="6024773">
                <a:moveTo>
                  <a:pt x="0" y="0"/>
                </a:moveTo>
                <a:lnTo>
                  <a:pt x="6024774" y="0"/>
                </a:lnTo>
                <a:lnTo>
                  <a:pt x="6024774" y="6024773"/>
                </a:lnTo>
                <a:lnTo>
                  <a:pt x="0" y="6024773"/>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RAZONAMIENTO O ARGUMENTO</a:t>
            </a:r>
          </a:p>
        </p:txBody>
      </p:sp>
      <p:sp>
        <p:nvSpPr>
          <p:cNvPr name="TextBox 3" id="3"/>
          <p:cNvSpPr txBox="true"/>
          <p:nvPr/>
        </p:nvSpPr>
        <p:spPr>
          <a:xfrm rot="0">
            <a:off x="539675" y="1450975"/>
            <a:ext cx="17264040" cy="8645525"/>
          </a:xfrm>
          <a:prstGeom prst="rect">
            <a:avLst/>
          </a:prstGeom>
        </p:spPr>
        <p:txBody>
          <a:bodyPr anchor="t" rtlCol="false" tIns="0" lIns="0" bIns="0" rIns="0">
            <a:spAutoFit/>
          </a:bodyPr>
          <a:lstStyle/>
          <a:p>
            <a:pPr algn="just">
              <a:lnSpc>
                <a:spcPts val="4900"/>
              </a:lnSpc>
            </a:pPr>
            <a:r>
              <a:rPr lang="en-US" sz="3500">
                <a:solidFill>
                  <a:srgbClr val="131416"/>
                </a:solidFill>
                <a:latin typeface="Open Sans"/>
                <a:ea typeface="Open Sans"/>
                <a:cs typeface="Open Sans"/>
                <a:sym typeface="Open Sans"/>
              </a:rPr>
              <a:t>Es una estructura lógica formada por una o más premisas y conclusión. Si una estructura no posee conclusión, sea explicita o no, no es un argumento. De igual forma si tenemos conclusión sin premisa, tampoco es un argumento.</a:t>
            </a:r>
          </a:p>
          <a:p>
            <a:pPr algn="just">
              <a:lnSpc>
                <a:spcPts val="4900"/>
              </a:lnSpc>
            </a:pPr>
          </a:p>
          <a:p>
            <a:pPr algn="just">
              <a:lnSpc>
                <a:spcPts val="4900"/>
              </a:lnSpc>
            </a:pPr>
            <a:r>
              <a:rPr lang="en-US" sz="3500">
                <a:solidFill>
                  <a:srgbClr val="131416"/>
                </a:solidFill>
                <a:latin typeface="Open Sans"/>
                <a:ea typeface="Open Sans"/>
                <a:cs typeface="Open Sans"/>
                <a:sym typeface="Open Sans"/>
              </a:rPr>
              <a:t>Los razonamientos pueden ser válidos o inválidos y no verdaderos o falsos. </a:t>
            </a:r>
            <a:r>
              <a:rPr lang="en-US" sz="3500" b="true">
                <a:solidFill>
                  <a:srgbClr val="FF3131"/>
                </a:solidFill>
                <a:latin typeface="Open Sans Bold"/>
                <a:ea typeface="Open Sans Bold"/>
                <a:cs typeface="Open Sans Bold"/>
                <a:sym typeface="Open Sans Bold"/>
              </a:rPr>
              <a:t>Ejemplo:</a:t>
            </a:r>
          </a:p>
          <a:p>
            <a:pPr algn="just">
              <a:lnSpc>
                <a:spcPts val="4900"/>
              </a:lnSpc>
            </a:pP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Los planetas son redondos, la Tierra es un planeta, por lo tanto; la Tierra es redonda</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Los moluscos son animales de cuerpo blando envueltos en un manto, protegidos por una cubierta calcárea.</a:t>
            </a:r>
          </a:p>
          <a:p>
            <a:pPr algn="just">
              <a:lnSpc>
                <a:spcPts val="4900"/>
              </a:lnSpc>
            </a:pPr>
          </a:p>
          <a:p>
            <a:pPr algn="just">
              <a:lnSpc>
                <a:spcPts val="4900"/>
              </a:lnSpc>
            </a:pPr>
          </a:p>
          <a:p>
            <a:pPr algn="just">
              <a:lnSpc>
                <a:spcPts val="490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850129"/>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CLASIFICACIÓN DE RAZONAMIENTO</a:t>
            </a:r>
          </a:p>
        </p:txBody>
      </p:sp>
      <p:sp>
        <p:nvSpPr>
          <p:cNvPr name="TextBox 3" id="3"/>
          <p:cNvSpPr txBox="true"/>
          <p:nvPr/>
        </p:nvSpPr>
        <p:spPr>
          <a:xfrm rot="0">
            <a:off x="1028700" y="2650161"/>
            <a:ext cx="6478613" cy="6118225"/>
          </a:xfrm>
          <a:prstGeom prst="rect">
            <a:avLst/>
          </a:prstGeom>
        </p:spPr>
        <p:txBody>
          <a:bodyPr anchor="t" rtlCol="false" tIns="0" lIns="0" bIns="0" rIns="0">
            <a:spAutoFit/>
          </a:bodyPr>
          <a:lstStyle/>
          <a:p>
            <a:pPr algn="just">
              <a:lnSpc>
                <a:spcPts val="3499"/>
              </a:lnSpc>
            </a:pPr>
            <a:r>
              <a:rPr lang="en-US" sz="2499" b="true">
                <a:solidFill>
                  <a:srgbClr val="131416"/>
                </a:solidFill>
                <a:latin typeface="Open Sans Bold"/>
                <a:ea typeface="Open Sans Bold"/>
                <a:cs typeface="Open Sans Bold"/>
                <a:sym typeface="Open Sans Bold"/>
              </a:rPr>
              <a:t>Según su estructura formal:</a:t>
            </a:r>
          </a:p>
          <a:p>
            <a:pPr algn="just">
              <a:lnSpc>
                <a:spcPts val="3499"/>
              </a:lnSpc>
            </a:pPr>
            <a:r>
              <a:rPr lang="en-US" sz="2499">
                <a:solidFill>
                  <a:srgbClr val="131416"/>
                </a:solidFill>
                <a:latin typeface="Open Sans"/>
                <a:ea typeface="Open Sans"/>
                <a:cs typeface="Open Sans"/>
                <a:sym typeface="Open Sans"/>
              </a:rPr>
              <a:t>Formal: Este razonamiento se da cuando nuestro interés es puramente formal, es</a:t>
            </a:r>
          </a:p>
          <a:p>
            <a:pPr algn="just">
              <a:lnSpc>
                <a:spcPts val="3499"/>
              </a:lnSpc>
            </a:pPr>
            <a:r>
              <a:rPr lang="en-US" sz="2499">
                <a:solidFill>
                  <a:srgbClr val="131416"/>
                </a:solidFill>
                <a:latin typeface="Open Sans"/>
                <a:ea typeface="Open Sans"/>
                <a:cs typeface="Open Sans"/>
                <a:sym typeface="Open Sans"/>
              </a:rPr>
              <a:t>decir, las formas de los razonamientos y no sus contenidos. </a:t>
            </a:r>
            <a:r>
              <a:rPr lang="en-US" sz="2499" b="true">
                <a:solidFill>
                  <a:srgbClr val="FF3131"/>
                </a:solidFill>
                <a:latin typeface="Open Sans Bold"/>
                <a:ea typeface="Open Sans Bold"/>
                <a:cs typeface="Open Sans Bold"/>
                <a:sym typeface="Open Sans Bold"/>
              </a:rPr>
              <a:t>Ejemplo:</a:t>
            </a:r>
          </a:p>
          <a:p>
            <a:pPr algn="just">
              <a:lnSpc>
                <a:spcPts val="3499"/>
              </a:lnSpc>
            </a:pPr>
          </a:p>
          <a:p>
            <a:pPr algn="just">
              <a:lnSpc>
                <a:spcPts val="3499"/>
              </a:lnSpc>
            </a:pPr>
            <a:r>
              <a:rPr lang="en-US" sz="2499">
                <a:solidFill>
                  <a:srgbClr val="131416"/>
                </a:solidFill>
                <a:latin typeface="Open Sans"/>
                <a:ea typeface="Open Sans"/>
                <a:cs typeface="Open Sans"/>
                <a:sym typeface="Open Sans"/>
              </a:rPr>
              <a:t>P--&gt; Q, P :. Q</a:t>
            </a:r>
          </a:p>
          <a:p>
            <a:pPr algn="just">
              <a:lnSpc>
                <a:spcPts val="3499"/>
              </a:lnSpc>
            </a:pPr>
          </a:p>
          <a:p>
            <a:pPr algn="just">
              <a:lnSpc>
                <a:spcPts val="3499"/>
              </a:lnSpc>
            </a:pPr>
            <a:r>
              <a:rPr lang="en-US" sz="2499">
                <a:solidFill>
                  <a:srgbClr val="131416"/>
                </a:solidFill>
                <a:latin typeface="Open Sans"/>
                <a:ea typeface="Open Sans"/>
                <a:cs typeface="Open Sans"/>
                <a:sym typeface="Open Sans"/>
              </a:rPr>
              <a:t>La expresión no define nada explícito por lo que lo único que nos muestra es la relación</a:t>
            </a:r>
          </a:p>
          <a:p>
            <a:pPr algn="just">
              <a:lnSpc>
                <a:spcPts val="3499"/>
              </a:lnSpc>
            </a:pPr>
            <a:r>
              <a:rPr lang="en-US" sz="2499">
                <a:solidFill>
                  <a:srgbClr val="131416"/>
                </a:solidFill>
                <a:latin typeface="Open Sans"/>
                <a:ea typeface="Open Sans"/>
                <a:cs typeface="Open Sans"/>
                <a:sym typeface="Open Sans"/>
              </a:rPr>
              <a:t>entre P y Q, en este caso importa nada más la forma de la expresión y no el contenido</a:t>
            </a:r>
          </a:p>
          <a:p>
            <a:pPr algn="just">
              <a:lnSpc>
                <a:spcPts val="3499"/>
              </a:lnSpc>
            </a:pPr>
            <a:r>
              <a:rPr lang="en-US" sz="2499">
                <a:solidFill>
                  <a:srgbClr val="131416"/>
                </a:solidFill>
                <a:latin typeface="Open Sans"/>
                <a:ea typeface="Open Sans"/>
                <a:cs typeface="Open Sans"/>
                <a:sym typeface="Open Sans"/>
              </a:rPr>
              <a:t>de la misma.</a:t>
            </a:r>
          </a:p>
          <a:p>
            <a:pPr algn="just">
              <a:lnSpc>
                <a:spcPts val="3499"/>
              </a:lnSpc>
            </a:pPr>
          </a:p>
        </p:txBody>
      </p:sp>
      <p:sp>
        <p:nvSpPr>
          <p:cNvPr name="TextBox 4" id="4"/>
          <p:cNvSpPr txBox="true"/>
          <p:nvPr/>
        </p:nvSpPr>
        <p:spPr>
          <a:xfrm rot="0">
            <a:off x="8978604" y="2650161"/>
            <a:ext cx="8821679" cy="4365625"/>
          </a:xfrm>
          <a:prstGeom prst="rect">
            <a:avLst/>
          </a:prstGeom>
        </p:spPr>
        <p:txBody>
          <a:bodyPr anchor="t" rtlCol="false" tIns="0" lIns="0" bIns="0" rIns="0">
            <a:spAutoFit/>
          </a:bodyPr>
          <a:lstStyle/>
          <a:p>
            <a:pPr algn="just">
              <a:lnSpc>
                <a:spcPts val="3499"/>
              </a:lnSpc>
            </a:pPr>
            <a:r>
              <a:rPr lang="en-US" sz="2499" b="true">
                <a:solidFill>
                  <a:srgbClr val="131416"/>
                </a:solidFill>
                <a:latin typeface="Open Sans Bold"/>
                <a:ea typeface="Open Sans Bold"/>
                <a:cs typeface="Open Sans Bold"/>
                <a:sym typeface="Open Sans Bold"/>
              </a:rPr>
              <a:t>Según su Estructura:</a:t>
            </a:r>
          </a:p>
          <a:p>
            <a:pPr algn="just">
              <a:lnSpc>
                <a:spcPts val="3499"/>
              </a:lnSpc>
            </a:pPr>
            <a:r>
              <a:rPr lang="en-US" sz="2499">
                <a:solidFill>
                  <a:srgbClr val="131416"/>
                </a:solidFill>
                <a:latin typeface="Open Sans"/>
                <a:ea typeface="Open Sans"/>
                <a:cs typeface="Open Sans"/>
                <a:sym typeface="Open Sans"/>
              </a:rPr>
              <a:t>E</a:t>
            </a:r>
            <a:r>
              <a:rPr lang="en-US" sz="2499">
                <a:solidFill>
                  <a:srgbClr val="131416"/>
                </a:solidFill>
                <a:latin typeface="Open Sans"/>
                <a:ea typeface="Open Sans"/>
                <a:cs typeface="Open Sans"/>
                <a:sym typeface="Open Sans"/>
              </a:rPr>
              <a:t>ste razonamiento fundamenta su funcionamiento en el contenido haciendo una abstracción de la forma.</a:t>
            </a:r>
            <a:r>
              <a:rPr lang="en-US" sz="2499" b="true">
                <a:solidFill>
                  <a:srgbClr val="131416"/>
                </a:solidFill>
                <a:latin typeface="Open Sans Bold"/>
                <a:ea typeface="Open Sans Bold"/>
                <a:cs typeface="Open Sans Bold"/>
                <a:sym typeface="Open Sans Bold"/>
              </a:rPr>
              <a:t> </a:t>
            </a:r>
            <a:r>
              <a:rPr lang="en-US" sz="2499" b="true">
                <a:solidFill>
                  <a:srgbClr val="FF3131"/>
                </a:solidFill>
                <a:latin typeface="Open Sans Bold"/>
                <a:ea typeface="Open Sans Bold"/>
                <a:cs typeface="Open Sans Bold"/>
                <a:sym typeface="Open Sans Bold"/>
              </a:rPr>
              <a:t>Ejemplo:</a:t>
            </a:r>
          </a:p>
          <a:p>
            <a:pPr algn="just">
              <a:lnSpc>
                <a:spcPts val="3499"/>
              </a:lnSpc>
            </a:pPr>
          </a:p>
          <a:p>
            <a:pPr algn="just">
              <a:lnSpc>
                <a:spcPts val="3499"/>
              </a:lnSpc>
            </a:pPr>
            <a:r>
              <a:rPr lang="en-US" sz="2499">
                <a:solidFill>
                  <a:srgbClr val="131416"/>
                </a:solidFill>
                <a:latin typeface="Open Sans"/>
                <a:ea typeface="Open Sans"/>
                <a:cs typeface="Open Sans"/>
                <a:sym typeface="Open Sans"/>
              </a:rPr>
              <a:t>El mosquito es un insecto tan conocido como molesto, Dentro de la trompa del mosquito hay piezas delgadas y afiladas, las cuales resultan de la transformación de las mandíbulas que le sirven para picar y chupar sangre. Por lo tanto, cualquier mosquito chupa de la sangre de sus víctimas.</a:t>
            </a:r>
          </a:p>
        </p:txBody>
      </p:sp>
      <p:sp>
        <p:nvSpPr>
          <p:cNvPr name="TextBox 5" id="5"/>
          <p:cNvSpPr txBox="true"/>
          <p:nvPr/>
        </p:nvSpPr>
        <p:spPr>
          <a:xfrm rot="0">
            <a:off x="1374889" y="1811740"/>
            <a:ext cx="9816593" cy="422275"/>
          </a:xfrm>
          <a:prstGeom prst="rect">
            <a:avLst/>
          </a:prstGeom>
        </p:spPr>
        <p:txBody>
          <a:bodyPr anchor="t" rtlCol="false" tIns="0" lIns="0" bIns="0" rIns="0">
            <a:spAutoFit/>
          </a:bodyPr>
          <a:lstStyle/>
          <a:p>
            <a:pPr algn="just">
              <a:lnSpc>
                <a:spcPts val="3499"/>
              </a:lnSpc>
            </a:pPr>
            <a:r>
              <a:rPr lang="en-US" sz="2499">
                <a:solidFill>
                  <a:srgbClr val="131416"/>
                </a:solidFill>
                <a:latin typeface="Open Sans"/>
                <a:ea typeface="Open Sans"/>
                <a:cs typeface="Open Sans"/>
                <a:sym typeface="Open Sans"/>
              </a:rPr>
              <a:t>El razonamiento se puede clasificar de las siguientes formas: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61433" y="2315043"/>
            <a:ext cx="9838113" cy="5656915"/>
          </a:xfrm>
          <a:custGeom>
            <a:avLst/>
            <a:gdLst/>
            <a:ahLst/>
            <a:cxnLst/>
            <a:rect r="r" b="b" t="t" l="l"/>
            <a:pathLst>
              <a:path h="5656915" w="9838113">
                <a:moveTo>
                  <a:pt x="0" y="0"/>
                </a:moveTo>
                <a:lnTo>
                  <a:pt x="9838113" y="0"/>
                </a:lnTo>
                <a:lnTo>
                  <a:pt x="9838113" y="5656914"/>
                </a:lnTo>
                <a:lnTo>
                  <a:pt x="0" y="5656914"/>
                </a:lnTo>
                <a:lnTo>
                  <a:pt x="0" y="0"/>
                </a:lnTo>
                <a:close/>
              </a:path>
            </a:pathLst>
          </a:custGeom>
          <a:blipFill>
            <a:blip r:embed="rId2"/>
            <a:stretch>
              <a:fillRect l="0" t="0" r="0" b="0"/>
            </a:stretch>
          </a:blipFill>
        </p:spPr>
      </p:sp>
      <p:sp>
        <p:nvSpPr>
          <p:cNvPr name="Freeform 3" id="3"/>
          <p:cNvSpPr/>
          <p:nvPr/>
        </p:nvSpPr>
        <p:spPr>
          <a:xfrm flipH="false" flipV="false" rot="0">
            <a:off x="3606536" y="7766492"/>
            <a:ext cx="9593010" cy="1624556"/>
          </a:xfrm>
          <a:custGeom>
            <a:avLst/>
            <a:gdLst/>
            <a:ahLst/>
            <a:cxnLst/>
            <a:rect r="r" b="b" t="t" l="l"/>
            <a:pathLst>
              <a:path h="1624556" w="9593010">
                <a:moveTo>
                  <a:pt x="0" y="0"/>
                </a:moveTo>
                <a:lnTo>
                  <a:pt x="9593010" y="0"/>
                </a:lnTo>
                <a:lnTo>
                  <a:pt x="9593010" y="1624556"/>
                </a:lnTo>
                <a:lnTo>
                  <a:pt x="0" y="1624556"/>
                </a:lnTo>
                <a:lnTo>
                  <a:pt x="0" y="0"/>
                </a:lnTo>
                <a:close/>
              </a:path>
            </a:pathLst>
          </a:custGeom>
          <a:blipFill>
            <a:blip r:embed="rId3"/>
            <a:stretch>
              <a:fillRect l="0" t="0" r="-17807" b="0"/>
            </a:stretch>
          </a:blipFill>
        </p:spPr>
      </p:sp>
      <p:sp>
        <p:nvSpPr>
          <p:cNvPr name="TextBox 4" id="4"/>
          <p:cNvSpPr txBox="true"/>
          <p:nvPr/>
        </p:nvSpPr>
        <p:spPr>
          <a:xfrm rot="0">
            <a:off x="1260864" y="695280"/>
            <a:ext cx="17756100" cy="1501775"/>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DIFERENTES FORMAS DE RAZONAMIENTO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2736" y="2106593"/>
            <a:ext cx="5778062" cy="5778062"/>
          </a:xfrm>
          <a:custGeom>
            <a:avLst/>
            <a:gdLst/>
            <a:ahLst/>
            <a:cxnLst/>
            <a:rect r="r" b="b" t="t" l="l"/>
            <a:pathLst>
              <a:path h="5778062" w="5778062">
                <a:moveTo>
                  <a:pt x="0" y="0"/>
                </a:moveTo>
                <a:lnTo>
                  <a:pt x="5778062" y="0"/>
                </a:lnTo>
                <a:lnTo>
                  <a:pt x="5778062" y="5778062"/>
                </a:lnTo>
                <a:lnTo>
                  <a:pt x="0" y="5778062"/>
                </a:lnTo>
                <a:lnTo>
                  <a:pt x="0" y="0"/>
                </a:lnTo>
                <a:close/>
              </a:path>
            </a:pathLst>
          </a:custGeom>
          <a:blipFill>
            <a:blip r:embed="rId2"/>
            <a:stretch>
              <a:fillRect l="0" t="0" r="0" b="0"/>
            </a:stretch>
          </a:blipFill>
        </p:spPr>
      </p:sp>
      <p:sp>
        <p:nvSpPr>
          <p:cNvPr name="TextBox 3" id="3"/>
          <p:cNvSpPr txBox="true"/>
          <p:nvPr/>
        </p:nvSpPr>
        <p:spPr>
          <a:xfrm rot="0">
            <a:off x="9893392" y="263525"/>
            <a:ext cx="7862708" cy="1501775"/>
          </a:xfrm>
          <a:prstGeom prst="rect">
            <a:avLst/>
          </a:prstGeom>
        </p:spPr>
        <p:txBody>
          <a:bodyPr anchor="t" rtlCol="false" tIns="0" lIns="0" bIns="0" rIns="0">
            <a:spAutoFit/>
          </a:bodyPr>
          <a:lstStyle/>
          <a:p>
            <a:pPr algn="l">
              <a:lnSpc>
                <a:spcPts val="5650"/>
              </a:lnSpc>
            </a:pPr>
            <a:r>
              <a:rPr lang="en-US" sz="5000">
                <a:solidFill>
                  <a:srgbClr val="131416"/>
                </a:solidFill>
                <a:latin typeface="Horizon"/>
                <a:ea typeface="Horizon"/>
                <a:cs typeface="Horizon"/>
                <a:sym typeface="Horizon"/>
              </a:rPr>
              <a:t>SEGÚN SU TIPO DE INFERENCIA</a:t>
            </a:r>
          </a:p>
        </p:txBody>
      </p:sp>
      <p:sp>
        <p:nvSpPr>
          <p:cNvPr name="TextBox 4" id="4"/>
          <p:cNvSpPr txBox="true"/>
          <p:nvPr/>
        </p:nvSpPr>
        <p:spPr>
          <a:xfrm rot="0">
            <a:off x="9676691" y="2503665"/>
            <a:ext cx="8296109" cy="5380990"/>
          </a:xfrm>
          <a:prstGeom prst="rect">
            <a:avLst/>
          </a:prstGeom>
        </p:spPr>
        <p:txBody>
          <a:bodyPr anchor="t" rtlCol="false" tIns="0" lIns="0" bIns="0" rIns="0">
            <a:spAutoFit/>
          </a:bodyPr>
          <a:lstStyle/>
          <a:p>
            <a:pPr algn="just">
              <a:lnSpc>
                <a:spcPts val="4759"/>
              </a:lnSpc>
            </a:pPr>
            <a:r>
              <a:rPr lang="en-US" sz="3399" b="true">
                <a:solidFill>
                  <a:srgbClr val="FF3131"/>
                </a:solidFill>
                <a:latin typeface="Open Sans Bold"/>
                <a:ea typeface="Open Sans Bold"/>
                <a:cs typeface="Open Sans Bold"/>
                <a:sym typeface="Open Sans Bold"/>
              </a:rPr>
              <a:t>D</a:t>
            </a:r>
            <a:r>
              <a:rPr lang="en-US" b="true" sz="3399">
                <a:solidFill>
                  <a:srgbClr val="FF3131"/>
                </a:solidFill>
                <a:latin typeface="Open Sans Bold"/>
                <a:ea typeface="Open Sans Bold"/>
                <a:cs typeface="Open Sans Bold"/>
                <a:sym typeface="Open Sans Bold"/>
              </a:rPr>
              <a:t>eductivo:</a:t>
            </a:r>
            <a:r>
              <a:rPr lang="en-US" b="true" sz="3399">
                <a:solidFill>
                  <a:srgbClr val="131416"/>
                </a:solidFill>
                <a:latin typeface="Open Sans Bold"/>
                <a:ea typeface="Open Sans Bold"/>
                <a:cs typeface="Open Sans Bold"/>
                <a:sym typeface="Open Sans Bold"/>
              </a:rPr>
              <a:t> </a:t>
            </a:r>
            <a:r>
              <a:rPr lang="en-US" sz="3399">
                <a:solidFill>
                  <a:srgbClr val="131416"/>
                </a:solidFill>
                <a:latin typeface="Open Sans"/>
                <a:ea typeface="Open Sans"/>
                <a:cs typeface="Open Sans"/>
                <a:sym typeface="Open Sans"/>
              </a:rPr>
              <a:t>Es aquel en que concluimos </a:t>
            </a:r>
            <a:r>
              <a:rPr lang="en-US" sz="3399">
                <a:solidFill>
                  <a:srgbClr val="FF3131"/>
                </a:solidFill>
                <a:latin typeface="Open Sans"/>
                <a:ea typeface="Open Sans"/>
                <a:cs typeface="Open Sans"/>
                <a:sym typeface="Open Sans"/>
              </a:rPr>
              <a:t>ciertos pensamientos particula</a:t>
            </a:r>
            <a:r>
              <a:rPr lang="en-US" sz="3399">
                <a:solidFill>
                  <a:srgbClr val="FF3131"/>
                </a:solidFill>
                <a:latin typeface="Open Sans"/>
                <a:ea typeface="Open Sans"/>
                <a:cs typeface="Open Sans"/>
                <a:sym typeface="Open Sans"/>
              </a:rPr>
              <a:t>res a</a:t>
            </a:r>
          </a:p>
          <a:p>
            <a:pPr algn="just">
              <a:lnSpc>
                <a:spcPts val="4759"/>
              </a:lnSpc>
            </a:pPr>
            <a:r>
              <a:rPr lang="en-US" sz="3399">
                <a:solidFill>
                  <a:srgbClr val="FF3131"/>
                </a:solidFill>
                <a:latin typeface="Open Sans"/>
                <a:ea typeface="Open Sans"/>
                <a:cs typeface="Open Sans"/>
                <a:sym typeface="Open Sans"/>
              </a:rPr>
              <a:t>partir de otros generales. </a:t>
            </a:r>
          </a:p>
          <a:p>
            <a:pPr algn="just">
              <a:lnSpc>
                <a:spcPts val="4759"/>
              </a:lnSpc>
            </a:pPr>
          </a:p>
          <a:p>
            <a:pPr algn="just">
              <a:lnSpc>
                <a:spcPts val="4759"/>
              </a:lnSpc>
            </a:pPr>
            <a:r>
              <a:rPr lang="en-US" b="true" sz="3399">
                <a:solidFill>
                  <a:srgbClr val="FF3131"/>
                </a:solidFill>
                <a:latin typeface="Open Sans Bold"/>
                <a:ea typeface="Open Sans Bold"/>
                <a:cs typeface="Open Sans Bold"/>
                <a:sym typeface="Open Sans Bold"/>
              </a:rPr>
              <a:t>Inductivo:</a:t>
            </a:r>
            <a:r>
              <a:rPr lang="en-US" sz="3399">
                <a:solidFill>
                  <a:srgbClr val="131416"/>
                </a:solidFill>
                <a:latin typeface="Open Sans"/>
                <a:ea typeface="Open Sans"/>
                <a:cs typeface="Open Sans"/>
                <a:sym typeface="Open Sans"/>
              </a:rPr>
              <a:t> En este razonamiento, a partir de un número de observaciones</a:t>
            </a:r>
          </a:p>
          <a:p>
            <a:pPr algn="just">
              <a:lnSpc>
                <a:spcPts val="4759"/>
              </a:lnSpc>
            </a:pPr>
            <a:r>
              <a:rPr lang="en-US" sz="3399">
                <a:solidFill>
                  <a:srgbClr val="131416"/>
                </a:solidFill>
                <a:latin typeface="Open Sans"/>
                <a:ea typeface="Open Sans"/>
                <a:cs typeface="Open Sans"/>
                <a:sym typeface="Open Sans"/>
              </a:rPr>
              <a:t>particulares, se concluyen leyes generales; o sea aquel en que los casos</a:t>
            </a:r>
          </a:p>
          <a:p>
            <a:pPr algn="just">
              <a:lnSpc>
                <a:spcPts val="4759"/>
              </a:lnSpc>
            </a:pPr>
            <a:r>
              <a:rPr lang="en-US" sz="3399">
                <a:solidFill>
                  <a:srgbClr val="131416"/>
                </a:solidFill>
                <a:latin typeface="Open Sans"/>
                <a:ea typeface="Open Sans"/>
                <a:cs typeface="Open Sans"/>
                <a:sym typeface="Open Sans"/>
              </a:rPr>
              <a:t>particulares conducen a ideas generales.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10153" y="1876287"/>
            <a:ext cx="5769080" cy="5746003"/>
          </a:xfrm>
          <a:custGeom>
            <a:avLst/>
            <a:gdLst/>
            <a:ahLst/>
            <a:cxnLst/>
            <a:rect r="r" b="b" t="t" l="l"/>
            <a:pathLst>
              <a:path h="5746003" w="5769080">
                <a:moveTo>
                  <a:pt x="0" y="0"/>
                </a:moveTo>
                <a:lnTo>
                  <a:pt x="5769080" y="0"/>
                </a:lnTo>
                <a:lnTo>
                  <a:pt x="5769080" y="5746003"/>
                </a:lnTo>
                <a:lnTo>
                  <a:pt x="0" y="5746003"/>
                </a:lnTo>
                <a:lnTo>
                  <a:pt x="0" y="0"/>
                </a:lnTo>
                <a:close/>
              </a:path>
            </a:pathLst>
          </a:custGeom>
          <a:blipFill>
            <a:blip r:embed="rId2"/>
            <a:stretch>
              <a:fillRect l="0" t="0" r="0" b="0"/>
            </a:stretch>
          </a:blipFill>
        </p:spPr>
      </p:sp>
      <p:sp>
        <p:nvSpPr>
          <p:cNvPr name="TextBox 3" id="3"/>
          <p:cNvSpPr txBox="true"/>
          <p:nvPr/>
        </p:nvSpPr>
        <p:spPr>
          <a:xfrm rot="0">
            <a:off x="8917250" y="1000125"/>
            <a:ext cx="786270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LA INFERENCIA</a:t>
            </a:r>
          </a:p>
        </p:txBody>
      </p:sp>
      <p:sp>
        <p:nvSpPr>
          <p:cNvPr name="TextBox 4" id="4"/>
          <p:cNvSpPr txBox="true"/>
          <p:nvPr/>
        </p:nvSpPr>
        <p:spPr>
          <a:xfrm rot="0">
            <a:off x="9676691" y="2503665"/>
            <a:ext cx="8296109" cy="358076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 una oper</a:t>
            </a:r>
            <a:r>
              <a:rPr lang="en-US" sz="3399">
                <a:solidFill>
                  <a:srgbClr val="131416"/>
                </a:solidFill>
                <a:latin typeface="Open Sans"/>
                <a:ea typeface="Open Sans"/>
                <a:cs typeface="Open Sans"/>
                <a:sym typeface="Open Sans"/>
              </a:rPr>
              <a:t>ación lógica que se efectúa en el razonamiento, la cual consiste en derivar o inducir una conclusión a partir de una o varias premisas. Se pueden clasificar de acuerdo co</a:t>
            </a:r>
            <a:r>
              <a:rPr lang="en-US" sz="3399">
                <a:solidFill>
                  <a:srgbClr val="131416"/>
                </a:solidFill>
                <a:latin typeface="Open Sans"/>
                <a:ea typeface="Open Sans"/>
                <a:cs typeface="Open Sans"/>
                <a:sym typeface="Open Sans"/>
              </a:rPr>
              <a:t>n el número de premisas que contenga el razonamiento.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0041" y="2930845"/>
            <a:ext cx="7997393" cy="4124960"/>
          </a:xfrm>
          <a:custGeom>
            <a:avLst/>
            <a:gdLst/>
            <a:ahLst/>
            <a:cxnLst/>
            <a:rect r="r" b="b" t="t" l="l"/>
            <a:pathLst>
              <a:path h="4124960" w="7997393">
                <a:moveTo>
                  <a:pt x="0" y="0"/>
                </a:moveTo>
                <a:lnTo>
                  <a:pt x="7997393" y="0"/>
                </a:lnTo>
                <a:lnTo>
                  <a:pt x="7997393" y="4124959"/>
                </a:lnTo>
                <a:lnTo>
                  <a:pt x="0" y="4124959"/>
                </a:lnTo>
                <a:lnTo>
                  <a:pt x="0" y="0"/>
                </a:lnTo>
                <a:close/>
              </a:path>
            </a:pathLst>
          </a:custGeom>
          <a:blipFill>
            <a:blip r:embed="rId2"/>
            <a:stretch>
              <a:fillRect l="0" t="0" r="-41311" b="0"/>
            </a:stretch>
          </a:blipFill>
        </p:spPr>
      </p:sp>
      <p:sp>
        <p:nvSpPr>
          <p:cNvPr name="TextBox 3" id="3"/>
          <p:cNvSpPr txBox="true"/>
          <p:nvPr/>
        </p:nvSpPr>
        <p:spPr>
          <a:xfrm rot="0">
            <a:off x="620041" y="263525"/>
            <a:ext cx="17136058" cy="1501775"/>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REGLAS DE INFERENCIA</a:t>
            </a:r>
          </a:p>
          <a:p>
            <a:pPr algn="l">
              <a:lnSpc>
                <a:spcPts val="5650"/>
              </a:lnSpc>
            </a:pPr>
            <a:r>
              <a:rPr lang="en-US" sz="5000">
                <a:solidFill>
                  <a:srgbClr val="2F5492"/>
                </a:solidFill>
                <a:latin typeface="Horizon"/>
                <a:ea typeface="Horizon"/>
                <a:cs typeface="Horizon"/>
                <a:sym typeface="Horizon"/>
              </a:rPr>
              <a:t>MODUS PONENDO PONEN (PP)</a:t>
            </a:r>
          </a:p>
        </p:txBody>
      </p:sp>
      <p:sp>
        <p:nvSpPr>
          <p:cNvPr name="TextBox 4" id="4"/>
          <p:cNvSpPr txBox="true"/>
          <p:nvPr/>
        </p:nvSpPr>
        <p:spPr>
          <a:xfrm rot="0">
            <a:off x="9676691" y="2503665"/>
            <a:ext cx="8296109" cy="598106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Esta regl</a:t>
            </a:r>
            <a:r>
              <a:rPr lang="en-US" sz="3399">
                <a:solidFill>
                  <a:srgbClr val="131416"/>
                </a:solidFill>
                <a:latin typeface="Open Sans"/>
                <a:ea typeface="Open Sans"/>
                <a:cs typeface="Open Sans"/>
                <a:sym typeface="Open Sans"/>
              </a:rPr>
              <a:t>a indica que dos proposiciones de la forma (p=&gt;qy p, se puede deducir</a:t>
            </a:r>
          </a:p>
          <a:p>
            <a:pPr algn="just">
              <a:lnSpc>
                <a:spcPts val="4759"/>
              </a:lnSpc>
            </a:pPr>
            <a:r>
              <a:rPr lang="en-US" sz="3399">
                <a:solidFill>
                  <a:srgbClr val="131416"/>
                </a:solidFill>
                <a:latin typeface="Open Sans"/>
                <a:ea typeface="Open Sans"/>
                <a:cs typeface="Open Sans"/>
                <a:sym typeface="Open Sans"/>
              </a:rPr>
              <a:t>q.) Esta regla se aplica a la forma de las proposiciones, no importa el contenido de p o de q, ya que si tenemos una proposición condicional (p =&gt; q) y su antecedente (p) suce</a:t>
            </a:r>
            <a:r>
              <a:rPr lang="en-US" sz="3399">
                <a:solidFill>
                  <a:srgbClr val="131416"/>
                </a:solidFill>
                <a:latin typeface="Open Sans"/>
                <a:ea typeface="Open Sans"/>
                <a:cs typeface="Open Sans"/>
                <a:sym typeface="Open Sans"/>
              </a:rPr>
              <a:t>de, entonces sobreviene el consecuente (q). Tanto p como q pueden ser proposiciones moleculares o compuestas.</a:t>
            </a:r>
            <a:r>
              <a:rPr lang="en-US" b="true" sz="3399">
                <a:solidFill>
                  <a:srgbClr val="131416"/>
                </a:solidFill>
                <a:latin typeface="Open Sans Bold"/>
                <a:ea typeface="Open Sans Bold"/>
                <a:cs typeface="Open Sans Bold"/>
                <a:sym typeface="Open Sans Bold"/>
              </a:rPr>
              <a:t> </a:t>
            </a:r>
            <a:r>
              <a:rPr lang="en-US" b="true" sz="3399">
                <a:solidFill>
                  <a:srgbClr val="FF3131"/>
                </a:solidFill>
                <a:latin typeface="Open Sans Bold"/>
                <a:ea typeface="Open Sans Bold"/>
                <a:cs typeface="Open Sans Bold"/>
                <a:sym typeface="Open Sans Bold"/>
              </a:rPr>
              <a:t>Ejemplo: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0706" y="7506093"/>
            <a:ext cx="2974288" cy="2353283"/>
          </a:xfrm>
          <a:custGeom>
            <a:avLst/>
            <a:gdLst/>
            <a:ahLst/>
            <a:cxnLst/>
            <a:rect r="r" b="b" t="t" l="l"/>
            <a:pathLst>
              <a:path h="2353283" w="2974288">
                <a:moveTo>
                  <a:pt x="0" y="0"/>
                </a:moveTo>
                <a:lnTo>
                  <a:pt x="2974289" y="0"/>
                </a:lnTo>
                <a:lnTo>
                  <a:pt x="2974289" y="2353283"/>
                </a:lnTo>
                <a:lnTo>
                  <a:pt x="0" y="2353283"/>
                </a:lnTo>
                <a:lnTo>
                  <a:pt x="0" y="0"/>
                </a:lnTo>
                <a:close/>
              </a:path>
            </a:pathLst>
          </a:custGeom>
          <a:blipFill>
            <a:blip r:embed="rId2"/>
            <a:stretch>
              <a:fillRect l="0" t="0" r="0" b="0"/>
            </a:stretch>
          </a:blipFill>
        </p:spPr>
      </p:sp>
      <p:sp>
        <p:nvSpPr>
          <p:cNvPr name="TextBox 3" id="3"/>
          <p:cNvSpPr txBox="true"/>
          <p:nvPr/>
        </p:nvSpPr>
        <p:spPr>
          <a:xfrm rot="0">
            <a:off x="620041" y="263525"/>
            <a:ext cx="1713605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MODUS TOLLENDOTOLLENS (TT)</a:t>
            </a:r>
          </a:p>
        </p:txBody>
      </p:sp>
      <p:sp>
        <p:nvSpPr>
          <p:cNvPr name="TextBox 4" id="4"/>
          <p:cNvSpPr txBox="true"/>
          <p:nvPr/>
        </p:nvSpPr>
        <p:spPr>
          <a:xfrm rot="0">
            <a:off x="9676691" y="2503665"/>
            <a:ext cx="8296109" cy="5380990"/>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Esta regl</a:t>
            </a:r>
            <a:r>
              <a:rPr lang="en-US" sz="3399">
                <a:solidFill>
                  <a:srgbClr val="131416"/>
                </a:solidFill>
                <a:latin typeface="Open Sans"/>
                <a:ea typeface="Open Sans"/>
                <a:cs typeface="Open Sans"/>
                <a:sym typeface="Open Sans"/>
              </a:rPr>
              <a:t>a permite pasar a dos premisas (1), una premisa condicional y (2) una</a:t>
            </a:r>
          </a:p>
          <a:p>
            <a:pPr algn="just">
              <a:lnSpc>
                <a:spcPts val="4759"/>
              </a:lnSpc>
            </a:pPr>
            <a:r>
              <a:rPr lang="en-US" sz="3399">
                <a:solidFill>
                  <a:srgbClr val="131416"/>
                </a:solidFill>
                <a:latin typeface="Open Sans"/>
                <a:ea typeface="Open Sans"/>
                <a:cs typeface="Open Sans"/>
                <a:sym typeface="Open Sans"/>
              </a:rPr>
              <a:t>proposición que niega el consecuente, a una conclusión donde le antecedente que</a:t>
            </a:r>
            <a:r>
              <a:rPr lang="en-US" sz="3399">
                <a:solidFill>
                  <a:srgbClr val="131416"/>
                </a:solidFill>
                <a:latin typeface="Open Sans"/>
                <a:ea typeface="Open Sans"/>
                <a:cs typeface="Open Sans"/>
                <a:sym typeface="Open Sans"/>
              </a:rPr>
              <a:t>da negado. Tanto el antecedente como el consecuente pueden ser proposiciones simples o compuestas.</a:t>
            </a:r>
          </a:p>
          <a:p>
            <a:pPr algn="just">
              <a:lnSpc>
                <a:spcPts val="4759"/>
              </a:lnSpc>
            </a:pPr>
            <a:r>
              <a:rPr lang="en-US" sz="3399">
                <a:solidFill>
                  <a:srgbClr val="131416"/>
                </a:solidFill>
                <a:latin typeface="Open Sans"/>
                <a:ea typeface="Open Sans"/>
                <a:cs typeface="Open Sans"/>
                <a:sym typeface="Open Sans"/>
              </a:rPr>
              <a:t>Esta regla es de la forma:</a:t>
            </a:r>
          </a:p>
          <a:p>
            <a:pPr algn="just">
              <a:lnSpc>
                <a:spcPts val="4759"/>
              </a:lnSpc>
            </a:pPr>
          </a:p>
        </p:txBody>
      </p:sp>
      <p:sp>
        <p:nvSpPr>
          <p:cNvPr name="TextBox 5" id="5"/>
          <p:cNvSpPr txBox="true"/>
          <p:nvPr/>
        </p:nvSpPr>
        <p:spPr>
          <a:xfrm rot="0">
            <a:off x="1212760" y="2419667"/>
            <a:ext cx="8296109" cy="4780915"/>
          </a:xfrm>
          <a:prstGeom prst="rect">
            <a:avLst/>
          </a:prstGeom>
        </p:spPr>
        <p:txBody>
          <a:bodyPr anchor="t" rtlCol="false" tIns="0" lIns="0" bIns="0" rIns="0">
            <a:spAutoFit/>
          </a:bodyPr>
          <a:lstStyle/>
          <a:p>
            <a:pPr algn="just">
              <a:lnSpc>
                <a:spcPts val="4759"/>
              </a:lnSpc>
            </a:pPr>
            <a:r>
              <a:rPr lang="en-US" b="true" sz="3399">
                <a:solidFill>
                  <a:srgbClr val="FF3131"/>
                </a:solidFill>
                <a:latin typeface="Open Sans Bold"/>
                <a:ea typeface="Open Sans Bold"/>
                <a:cs typeface="Open Sans Bold"/>
                <a:sym typeface="Open Sans Bold"/>
              </a:rPr>
              <a:t>Ejemplo:</a:t>
            </a:r>
          </a:p>
          <a:p>
            <a:pPr algn="just">
              <a:lnSpc>
                <a:spcPts val="4759"/>
              </a:lnSpc>
            </a:pP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Si como harinas, entonces engordo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No Engordo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No como harinas</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Si me pagan, voy al Puerto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No voy al puerto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No me pagan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72283" y="6751109"/>
            <a:ext cx="10015717" cy="2507191"/>
          </a:xfrm>
          <a:custGeom>
            <a:avLst/>
            <a:gdLst/>
            <a:ahLst/>
            <a:cxnLst/>
            <a:rect r="r" b="b" t="t" l="l"/>
            <a:pathLst>
              <a:path h="2507191" w="10015717">
                <a:moveTo>
                  <a:pt x="0" y="0"/>
                </a:moveTo>
                <a:lnTo>
                  <a:pt x="10015717" y="0"/>
                </a:lnTo>
                <a:lnTo>
                  <a:pt x="10015717" y="2507191"/>
                </a:lnTo>
                <a:lnTo>
                  <a:pt x="0" y="2507191"/>
                </a:lnTo>
                <a:lnTo>
                  <a:pt x="0" y="0"/>
                </a:lnTo>
                <a:close/>
              </a:path>
            </a:pathLst>
          </a:custGeom>
          <a:blipFill>
            <a:blip r:embed="rId2"/>
            <a:stretch>
              <a:fillRect l="0" t="0" r="-8795" b="0"/>
            </a:stretch>
          </a:blipFill>
        </p:spPr>
      </p:sp>
      <p:sp>
        <p:nvSpPr>
          <p:cNvPr name="TextBox 3" id="3"/>
          <p:cNvSpPr txBox="true"/>
          <p:nvPr/>
        </p:nvSpPr>
        <p:spPr>
          <a:xfrm rot="0">
            <a:off x="620041" y="263525"/>
            <a:ext cx="1713605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MODUS TOLLENDO PONENS (TT)</a:t>
            </a:r>
          </a:p>
        </p:txBody>
      </p:sp>
      <p:sp>
        <p:nvSpPr>
          <p:cNvPr name="TextBox 4" id="4"/>
          <p:cNvSpPr txBox="true"/>
          <p:nvPr/>
        </p:nvSpPr>
        <p:spPr>
          <a:xfrm rot="0">
            <a:off x="9676691" y="2503665"/>
            <a:ext cx="8296109" cy="358076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Esta regl</a:t>
            </a:r>
            <a:r>
              <a:rPr lang="en-US" sz="3399">
                <a:solidFill>
                  <a:srgbClr val="131416"/>
                </a:solidFill>
                <a:latin typeface="Open Sans"/>
                <a:ea typeface="Open Sans"/>
                <a:cs typeface="Open Sans"/>
                <a:sym typeface="Open Sans"/>
              </a:rPr>
              <a:t>a indica que al negar un miembro de una disyunción, se afirma el otro miembro. Est</a:t>
            </a:r>
            <a:r>
              <a:rPr lang="en-US" sz="3399">
                <a:solidFill>
                  <a:srgbClr val="131416"/>
                </a:solidFill>
                <a:latin typeface="Open Sans"/>
                <a:ea typeface="Open Sans"/>
                <a:cs typeface="Open Sans"/>
                <a:sym typeface="Open Sans"/>
              </a:rPr>
              <a:t>a regla no está limitada a proposiciones simples, p y q pueden ser proposiciones s compuestas. </a:t>
            </a:r>
            <a:r>
              <a:rPr lang="en-US" sz="3399">
                <a:solidFill>
                  <a:srgbClr val="131416"/>
                </a:solidFill>
                <a:latin typeface="Open Sans"/>
                <a:ea typeface="Open Sans"/>
                <a:cs typeface="Open Sans"/>
                <a:sym typeface="Open Sans"/>
              </a:rPr>
              <a:t>Esta regla es de la forma siguiente:</a:t>
            </a:r>
          </a:p>
        </p:txBody>
      </p:sp>
      <p:sp>
        <p:nvSpPr>
          <p:cNvPr name="TextBox 5" id="5"/>
          <p:cNvSpPr txBox="true"/>
          <p:nvPr/>
        </p:nvSpPr>
        <p:spPr>
          <a:xfrm rot="0">
            <a:off x="1212760" y="2419667"/>
            <a:ext cx="8296109" cy="2980690"/>
          </a:xfrm>
          <a:prstGeom prst="rect">
            <a:avLst/>
          </a:prstGeom>
        </p:spPr>
        <p:txBody>
          <a:bodyPr anchor="t" rtlCol="false" tIns="0" lIns="0" bIns="0" rIns="0">
            <a:spAutoFit/>
          </a:bodyPr>
          <a:lstStyle/>
          <a:p>
            <a:pPr algn="just">
              <a:lnSpc>
                <a:spcPts val="4759"/>
              </a:lnSpc>
            </a:pPr>
            <a:r>
              <a:rPr lang="en-US" b="true" sz="3399">
                <a:solidFill>
                  <a:srgbClr val="FF3131"/>
                </a:solidFill>
                <a:latin typeface="Open Sans Bold"/>
                <a:ea typeface="Open Sans Bold"/>
                <a:cs typeface="Open Sans Bold"/>
                <a:sym typeface="Open Sans Bold"/>
              </a:rPr>
              <a:t>Ejemplo:</a:t>
            </a:r>
          </a:p>
          <a:p>
            <a:pPr algn="just">
              <a:lnSpc>
                <a:spcPts val="4759"/>
              </a:lnSpc>
            </a:pPr>
          </a:p>
          <a:p>
            <a:pPr algn="just">
              <a:lnSpc>
                <a:spcPts val="4759"/>
              </a:lnSpc>
            </a:pPr>
            <a:r>
              <a:rPr lang="en-US" sz="3399">
                <a:solidFill>
                  <a:srgbClr val="131416"/>
                </a:solidFill>
                <a:latin typeface="Open Sans"/>
                <a:ea typeface="Open Sans"/>
                <a:cs typeface="Open Sans"/>
                <a:sym typeface="Open Sans"/>
              </a:rPr>
              <a:t>Hoy iré al futbol o al teatro</a:t>
            </a:r>
          </a:p>
          <a:p>
            <a:pPr algn="just">
              <a:lnSpc>
                <a:spcPts val="4759"/>
              </a:lnSpc>
            </a:pPr>
            <a:r>
              <a:rPr lang="en-US" sz="3399" u="sng">
                <a:solidFill>
                  <a:srgbClr val="131416"/>
                </a:solidFill>
                <a:latin typeface="Open Sans"/>
                <a:ea typeface="Open Sans"/>
                <a:cs typeface="Open Sans"/>
                <a:sym typeface="Open Sans"/>
              </a:rPr>
              <a:t>No fui al futbol</a:t>
            </a:r>
          </a:p>
          <a:p>
            <a:pPr algn="just">
              <a:lnSpc>
                <a:spcPts val="4759"/>
              </a:lnSpc>
            </a:pPr>
            <a:r>
              <a:rPr lang="en-US" sz="3399">
                <a:solidFill>
                  <a:srgbClr val="131416"/>
                </a:solidFill>
                <a:latin typeface="Open Sans"/>
                <a:ea typeface="Open Sans"/>
                <a:cs typeface="Open Sans"/>
                <a:sym typeface="Open Sans"/>
              </a:rPr>
              <a:t>Implica que fui al teatro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638586" y="6937355"/>
            <a:ext cx="6372319" cy="1351059"/>
          </a:xfrm>
          <a:custGeom>
            <a:avLst/>
            <a:gdLst/>
            <a:ahLst/>
            <a:cxnLst/>
            <a:rect r="r" b="b" t="t" l="l"/>
            <a:pathLst>
              <a:path h="1351059" w="6372319">
                <a:moveTo>
                  <a:pt x="0" y="0"/>
                </a:moveTo>
                <a:lnTo>
                  <a:pt x="6372319" y="0"/>
                </a:lnTo>
                <a:lnTo>
                  <a:pt x="6372319" y="1351060"/>
                </a:lnTo>
                <a:lnTo>
                  <a:pt x="0" y="1351060"/>
                </a:lnTo>
                <a:lnTo>
                  <a:pt x="0" y="0"/>
                </a:lnTo>
                <a:close/>
              </a:path>
            </a:pathLst>
          </a:custGeom>
          <a:blipFill>
            <a:blip r:embed="rId2"/>
            <a:stretch>
              <a:fillRect l="0" t="0" r="0" b="0"/>
            </a:stretch>
          </a:blipFill>
        </p:spPr>
      </p:sp>
      <p:sp>
        <p:nvSpPr>
          <p:cNvPr name="TextBox 3" id="3"/>
          <p:cNvSpPr txBox="true"/>
          <p:nvPr/>
        </p:nvSpPr>
        <p:spPr>
          <a:xfrm rot="0">
            <a:off x="620041" y="263525"/>
            <a:ext cx="1713605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DOBLE NEGACIÓN</a:t>
            </a:r>
          </a:p>
        </p:txBody>
      </p:sp>
      <p:sp>
        <p:nvSpPr>
          <p:cNvPr name="TextBox 4" id="4"/>
          <p:cNvSpPr txBox="true"/>
          <p:nvPr/>
        </p:nvSpPr>
        <p:spPr>
          <a:xfrm rot="0">
            <a:off x="9676691" y="2503665"/>
            <a:ext cx="8296109" cy="4180840"/>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Esta regl</a:t>
            </a:r>
            <a:r>
              <a:rPr lang="en-US" sz="3399">
                <a:solidFill>
                  <a:srgbClr val="131416"/>
                </a:solidFill>
                <a:latin typeface="Open Sans"/>
                <a:ea typeface="Open Sans"/>
                <a:cs typeface="Open Sans"/>
                <a:sym typeface="Open Sans"/>
              </a:rPr>
              <a:t>a permite pasar de una premis</a:t>
            </a:r>
            <a:r>
              <a:rPr lang="en-US" sz="3399">
                <a:solidFill>
                  <a:srgbClr val="131416"/>
                </a:solidFill>
                <a:latin typeface="Open Sans"/>
                <a:ea typeface="Open Sans"/>
                <a:cs typeface="Open Sans"/>
                <a:sym typeface="Open Sans"/>
              </a:rPr>
              <a:t>a única a la conclusión. La premisa puede ser compuesta.</a:t>
            </a:r>
          </a:p>
          <a:p>
            <a:pPr algn="just">
              <a:lnSpc>
                <a:spcPts val="4759"/>
              </a:lnSpc>
            </a:pPr>
          </a:p>
          <a:p>
            <a:pPr algn="just">
              <a:lnSpc>
                <a:spcPts val="4759"/>
              </a:lnSpc>
            </a:pPr>
            <a:r>
              <a:rPr lang="en-US" sz="3399">
                <a:solidFill>
                  <a:srgbClr val="131416"/>
                </a:solidFill>
                <a:latin typeface="Open Sans"/>
                <a:ea typeface="Open Sans"/>
                <a:cs typeface="Open Sans"/>
                <a:sym typeface="Open Sans"/>
              </a:rPr>
              <a:t>Simbolizamos ambos casos de la siguiente manera:</a:t>
            </a:r>
          </a:p>
          <a:p>
            <a:pPr algn="just">
              <a:lnSpc>
                <a:spcPts val="4759"/>
              </a:lnSpc>
            </a:pPr>
          </a:p>
        </p:txBody>
      </p:sp>
      <p:sp>
        <p:nvSpPr>
          <p:cNvPr name="TextBox 5" id="5"/>
          <p:cNvSpPr txBox="true"/>
          <p:nvPr/>
        </p:nvSpPr>
        <p:spPr>
          <a:xfrm rot="0">
            <a:off x="620041" y="2119630"/>
            <a:ext cx="8296109" cy="5981065"/>
          </a:xfrm>
          <a:prstGeom prst="rect">
            <a:avLst/>
          </a:prstGeom>
        </p:spPr>
        <p:txBody>
          <a:bodyPr anchor="t" rtlCol="false" tIns="0" lIns="0" bIns="0" rIns="0">
            <a:spAutoFit/>
          </a:bodyPr>
          <a:lstStyle/>
          <a:p>
            <a:pPr algn="just">
              <a:lnSpc>
                <a:spcPts val="4759"/>
              </a:lnSpc>
            </a:pPr>
            <a:r>
              <a:rPr lang="en-US" b="true" sz="3399">
                <a:solidFill>
                  <a:srgbClr val="FF3131"/>
                </a:solidFill>
                <a:latin typeface="Open Sans Bold"/>
                <a:ea typeface="Open Sans Bold"/>
                <a:cs typeface="Open Sans Bold"/>
                <a:sym typeface="Open Sans Bold"/>
              </a:rPr>
              <a:t>Ejemplo:</a:t>
            </a:r>
          </a:p>
          <a:p>
            <a:pPr algn="just">
              <a:lnSpc>
                <a:spcPts val="4759"/>
              </a:lnSpc>
            </a:pP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No es cierto que Carlos no tiene novia</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La conclusión que podemos obtener es: Carl</a:t>
            </a:r>
            <a:r>
              <a:rPr lang="en-US" sz="3399" u="none">
                <a:solidFill>
                  <a:srgbClr val="131416"/>
                </a:solidFill>
                <a:latin typeface="Open Sans"/>
                <a:ea typeface="Open Sans"/>
                <a:cs typeface="Open Sans"/>
                <a:sym typeface="Open Sans"/>
              </a:rPr>
              <a:t>o</a:t>
            </a:r>
            <a:r>
              <a:rPr lang="en-US" sz="3399">
                <a:solidFill>
                  <a:srgbClr val="131416"/>
                </a:solidFill>
                <a:latin typeface="Open Sans"/>
                <a:ea typeface="Open Sans"/>
                <a:cs typeface="Open Sans"/>
                <a:sym typeface="Open Sans"/>
              </a:rPr>
              <a:t>s</a:t>
            </a:r>
            <a:r>
              <a:rPr lang="en-US" sz="3399" u="none">
                <a:solidFill>
                  <a:srgbClr val="131416"/>
                </a:solidFill>
                <a:latin typeface="Open Sans"/>
                <a:ea typeface="Open Sans"/>
                <a:cs typeface="Open Sans"/>
                <a:sym typeface="Open Sans"/>
              </a:rPr>
              <a:t> </a:t>
            </a:r>
            <a:r>
              <a:rPr lang="en-US" sz="3399">
                <a:solidFill>
                  <a:srgbClr val="131416"/>
                </a:solidFill>
                <a:latin typeface="Open Sans"/>
                <a:ea typeface="Open Sans"/>
                <a:cs typeface="Open Sans"/>
                <a:sym typeface="Open Sans"/>
              </a:rPr>
              <a:t>t</a:t>
            </a:r>
            <a:r>
              <a:rPr lang="en-US" sz="3399" u="none">
                <a:solidFill>
                  <a:srgbClr val="131416"/>
                </a:solidFill>
                <a:latin typeface="Open Sans"/>
                <a:ea typeface="Open Sans"/>
                <a:cs typeface="Open Sans"/>
                <a:sym typeface="Open Sans"/>
              </a:rPr>
              <a:t>i</a:t>
            </a:r>
            <a:r>
              <a:rPr lang="en-US" sz="3399">
                <a:solidFill>
                  <a:srgbClr val="131416"/>
                </a:solidFill>
                <a:latin typeface="Open Sans"/>
                <a:ea typeface="Open Sans"/>
                <a:cs typeface="Open Sans"/>
                <a:sym typeface="Open Sans"/>
              </a:rPr>
              <a:t>ene</a:t>
            </a:r>
            <a:r>
              <a:rPr lang="en-US" sz="3399" u="none">
                <a:solidFill>
                  <a:srgbClr val="131416"/>
                </a:solidFill>
                <a:latin typeface="Open Sans"/>
                <a:ea typeface="Open Sans"/>
                <a:cs typeface="Open Sans"/>
                <a:sym typeface="Open Sans"/>
              </a:rPr>
              <a:t> </a:t>
            </a:r>
            <a:r>
              <a:rPr lang="en-US" sz="3399">
                <a:solidFill>
                  <a:srgbClr val="131416"/>
                </a:solidFill>
                <a:latin typeface="Open Sans"/>
                <a:ea typeface="Open Sans"/>
                <a:cs typeface="Open Sans"/>
                <a:sym typeface="Open Sans"/>
              </a:rPr>
              <a:t>novi</a:t>
            </a:r>
            <a:r>
              <a:rPr lang="en-US" sz="3399" u="none">
                <a:solidFill>
                  <a:srgbClr val="131416"/>
                </a:solidFill>
                <a:latin typeface="Open Sans"/>
                <a:ea typeface="Open Sans"/>
                <a:cs typeface="Open Sans"/>
                <a:sym typeface="Open Sans"/>
              </a:rPr>
              <a:t>a</a:t>
            </a:r>
            <a:r>
              <a:rPr lang="en-US" sz="3399">
                <a:solidFill>
                  <a:srgbClr val="131416"/>
                </a:solidFill>
                <a:latin typeface="Open Sans"/>
                <a:ea typeface="Open Sans"/>
                <a:cs typeface="Open Sans"/>
                <a:sym typeface="Open Sans"/>
              </a:rPr>
              <a:t>.</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Ar</a:t>
            </a:r>
            <a:r>
              <a:rPr lang="en-US" sz="3399" u="none">
                <a:solidFill>
                  <a:srgbClr val="131416"/>
                </a:solidFill>
                <a:latin typeface="Open Sans"/>
                <a:ea typeface="Open Sans"/>
                <a:cs typeface="Open Sans"/>
                <a:sym typeface="Open Sans"/>
              </a:rPr>
              <a:t>t</a:t>
            </a:r>
            <a:r>
              <a:rPr lang="en-US" sz="3399">
                <a:solidFill>
                  <a:srgbClr val="131416"/>
                </a:solidFill>
                <a:latin typeface="Open Sans"/>
                <a:ea typeface="Open Sans"/>
                <a:cs typeface="Open Sans"/>
                <a:sym typeface="Open Sans"/>
              </a:rPr>
              <a:t>ur</a:t>
            </a:r>
            <a:r>
              <a:rPr lang="en-US" sz="3399" u="none">
                <a:solidFill>
                  <a:srgbClr val="131416"/>
                </a:solidFill>
                <a:latin typeface="Open Sans"/>
                <a:ea typeface="Open Sans"/>
                <a:cs typeface="Open Sans"/>
                <a:sym typeface="Open Sans"/>
              </a:rPr>
              <a:t>o</a:t>
            </a:r>
            <a:r>
              <a:rPr lang="en-US" sz="3399">
                <a:solidFill>
                  <a:srgbClr val="131416"/>
                </a:solidFill>
                <a:latin typeface="Open Sans"/>
                <a:ea typeface="Open Sans"/>
                <a:cs typeface="Open Sans"/>
                <a:sym typeface="Open Sans"/>
              </a:rPr>
              <a:t> es casado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Se puede concluir que: Es falso que Arturo no es casado.</a:t>
            </a:r>
          </a:p>
          <a:p>
            <a:pPr algn="just">
              <a:lnSpc>
                <a:spcPts val="4759"/>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896490" y="5708853"/>
            <a:ext cx="5855411" cy="3314701"/>
          </a:xfrm>
          <a:custGeom>
            <a:avLst/>
            <a:gdLst/>
            <a:ahLst/>
            <a:cxnLst/>
            <a:rect r="r" b="b" t="t" l="l"/>
            <a:pathLst>
              <a:path h="3314701" w="5855411">
                <a:moveTo>
                  <a:pt x="0" y="0"/>
                </a:moveTo>
                <a:lnTo>
                  <a:pt x="5855412" y="0"/>
                </a:lnTo>
                <a:lnTo>
                  <a:pt x="5855412" y="3314701"/>
                </a:lnTo>
                <a:lnTo>
                  <a:pt x="0" y="3314701"/>
                </a:lnTo>
                <a:lnTo>
                  <a:pt x="0" y="0"/>
                </a:lnTo>
                <a:close/>
              </a:path>
            </a:pathLst>
          </a:custGeom>
          <a:blipFill>
            <a:blip r:embed="rId2"/>
            <a:stretch>
              <a:fillRect l="0" t="0" r="0" b="0"/>
            </a:stretch>
          </a:blipFill>
        </p:spPr>
      </p:sp>
      <p:sp>
        <p:nvSpPr>
          <p:cNvPr name="TextBox 3" id="3"/>
          <p:cNvSpPr txBox="true"/>
          <p:nvPr/>
        </p:nvSpPr>
        <p:spPr>
          <a:xfrm rot="0">
            <a:off x="620041" y="263525"/>
            <a:ext cx="1713605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CONJUNCIÓN</a:t>
            </a:r>
          </a:p>
        </p:txBody>
      </p:sp>
      <p:sp>
        <p:nvSpPr>
          <p:cNvPr name="TextBox 4" id="4"/>
          <p:cNvSpPr txBox="true"/>
          <p:nvPr/>
        </p:nvSpPr>
        <p:spPr>
          <a:xfrm rot="0">
            <a:off x="9676141" y="2411224"/>
            <a:ext cx="8296109" cy="2980690"/>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Esta regla dice que si unimos dos proposiciones verdaderas (p,q) mediante el conectivo </a:t>
            </a:r>
            <a:r>
              <a:rPr lang="en-US" sz="3399">
                <a:solidFill>
                  <a:srgbClr val="131416"/>
                </a:solidFill>
                <a:latin typeface="Open Sans"/>
                <a:ea typeface="Open Sans"/>
                <a:cs typeface="Open Sans"/>
                <a:sym typeface="Open Sans"/>
              </a:rPr>
              <a:t>“y” obtenemos las proposición verdadera p ^ q.</a:t>
            </a:r>
          </a:p>
          <a:p>
            <a:pPr algn="just">
              <a:lnSpc>
                <a:spcPts val="4759"/>
              </a:lnSpc>
            </a:pPr>
          </a:p>
        </p:txBody>
      </p:sp>
      <p:sp>
        <p:nvSpPr>
          <p:cNvPr name="TextBox 5" id="5"/>
          <p:cNvSpPr txBox="true"/>
          <p:nvPr/>
        </p:nvSpPr>
        <p:spPr>
          <a:xfrm rot="0">
            <a:off x="620041" y="2119630"/>
            <a:ext cx="8296109" cy="6581140"/>
          </a:xfrm>
          <a:prstGeom prst="rect">
            <a:avLst/>
          </a:prstGeom>
        </p:spPr>
        <p:txBody>
          <a:bodyPr anchor="t" rtlCol="false" tIns="0" lIns="0" bIns="0" rIns="0">
            <a:spAutoFit/>
          </a:bodyPr>
          <a:lstStyle/>
          <a:p>
            <a:pPr algn="just">
              <a:lnSpc>
                <a:spcPts val="4759"/>
              </a:lnSpc>
            </a:pPr>
            <a:r>
              <a:rPr lang="en-US" b="true" sz="3399">
                <a:solidFill>
                  <a:srgbClr val="FF3131"/>
                </a:solidFill>
                <a:latin typeface="Open Sans Bold"/>
                <a:ea typeface="Open Sans Bold"/>
                <a:cs typeface="Open Sans Bold"/>
                <a:sym typeface="Open Sans Bold"/>
              </a:rPr>
              <a:t>Ejemplo:</a:t>
            </a:r>
          </a:p>
          <a:p>
            <a:pPr algn="just">
              <a:lnSpc>
                <a:spcPts val="4759"/>
              </a:lnSpc>
            </a:pP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P: soy alto</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Q: soy fuerte</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Conclusión: Soy alto y fuerte es verdadera.</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R: Esta casa es antigua</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S: Esta casa es azul</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Conclusión: Esta casa es antigua y azul</a:t>
            </a:r>
          </a:p>
          <a:p>
            <a:pPr algn="just">
              <a:lnSpc>
                <a:spcPts val="475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07812" y="7275346"/>
            <a:ext cx="4796219" cy="2205976"/>
          </a:xfrm>
          <a:custGeom>
            <a:avLst/>
            <a:gdLst/>
            <a:ahLst/>
            <a:cxnLst/>
            <a:rect r="r" b="b" t="t" l="l"/>
            <a:pathLst>
              <a:path h="2205976" w="4796219">
                <a:moveTo>
                  <a:pt x="0" y="0"/>
                </a:moveTo>
                <a:lnTo>
                  <a:pt x="4796219" y="0"/>
                </a:lnTo>
                <a:lnTo>
                  <a:pt x="4796219" y="2205976"/>
                </a:lnTo>
                <a:lnTo>
                  <a:pt x="0" y="2205976"/>
                </a:lnTo>
                <a:lnTo>
                  <a:pt x="0" y="0"/>
                </a:lnTo>
                <a:close/>
              </a:path>
            </a:pathLst>
          </a:custGeom>
          <a:blipFill>
            <a:blip r:embed="rId2"/>
            <a:stretch>
              <a:fillRect l="0" t="0" r="0" b="0"/>
            </a:stretch>
          </a:blipFill>
        </p:spPr>
      </p:sp>
      <p:sp>
        <p:nvSpPr>
          <p:cNvPr name="TextBox 3" id="3"/>
          <p:cNvSpPr txBox="true"/>
          <p:nvPr/>
        </p:nvSpPr>
        <p:spPr>
          <a:xfrm rot="0">
            <a:off x="620041" y="263525"/>
            <a:ext cx="17136058" cy="787400"/>
          </a:xfrm>
          <a:prstGeom prst="rect">
            <a:avLst/>
          </a:prstGeom>
        </p:spPr>
        <p:txBody>
          <a:bodyPr anchor="t" rtlCol="false" tIns="0" lIns="0" bIns="0" rIns="0">
            <a:spAutoFit/>
          </a:bodyPr>
          <a:lstStyle/>
          <a:p>
            <a:pPr algn="l">
              <a:lnSpc>
                <a:spcPts val="5650"/>
              </a:lnSpc>
            </a:pPr>
            <a:r>
              <a:rPr lang="en-US" sz="5000">
                <a:solidFill>
                  <a:srgbClr val="2F5492"/>
                </a:solidFill>
                <a:latin typeface="Horizon"/>
                <a:ea typeface="Horizon"/>
                <a:cs typeface="Horizon"/>
                <a:sym typeface="Horizon"/>
              </a:rPr>
              <a:t>SIMPLIFICACIÓN</a:t>
            </a:r>
          </a:p>
        </p:txBody>
      </p:sp>
      <p:sp>
        <p:nvSpPr>
          <p:cNvPr name="TextBox 4" id="4"/>
          <p:cNvSpPr txBox="true"/>
          <p:nvPr/>
        </p:nvSpPr>
        <p:spPr>
          <a:xfrm rot="0">
            <a:off x="9676141" y="2411224"/>
            <a:ext cx="8296109" cy="2980690"/>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En el caso contrario de la adjunción. Si se tiene una premisa compuesta que utiliza el conectivo “y” y es verdadera, puede deducirse que</a:t>
            </a:r>
            <a:r>
              <a:rPr lang="en-US" sz="3399">
                <a:solidFill>
                  <a:srgbClr val="131416"/>
                </a:solidFill>
                <a:latin typeface="Open Sans"/>
                <a:ea typeface="Open Sans"/>
                <a:cs typeface="Open Sans"/>
                <a:sym typeface="Open Sans"/>
              </a:rPr>
              <a:t> ambas premisas simples son verdaderas.</a:t>
            </a:r>
          </a:p>
        </p:txBody>
      </p:sp>
      <p:sp>
        <p:nvSpPr>
          <p:cNvPr name="TextBox 5" id="5"/>
          <p:cNvSpPr txBox="true"/>
          <p:nvPr/>
        </p:nvSpPr>
        <p:spPr>
          <a:xfrm rot="0">
            <a:off x="620041" y="2119630"/>
            <a:ext cx="8296109" cy="4780915"/>
          </a:xfrm>
          <a:prstGeom prst="rect">
            <a:avLst/>
          </a:prstGeom>
        </p:spPr>
        <p:txBody>
          <a:bodyPr anchor="t" rtlCol="false" tIns="0" lIns="0" bIns="0" rIns="0">
            <a:spAutoFit/>
          </a:bodyPr>
          <a:lstStyle/>
          <a:p>
            <a:pPr algn="just">
              <a:lnSpc>
                <a:spcPts val="4759"/>
              </a:lnSpc>
            </a:pPr>
            <a:r>
              <a:rPr lang="en-US" b="true" sz="3399">
                <a:solidFill>
                  <a:srgbClr val="FF3131"/>
                </a:solidFill>
                <a:latin typeface="Open Sans Bold"/>
                <a:ea typeface="Open Sans Bold"/>
                <a:cs typeface="Open Sans Bold"/>
                <a:sym typeface="Open Sans Bold"/>
              </a:rPr>
              <a:t>Ejemplo:</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H</a:t>
            </a:r>
            <a:r>
              <a:rPr lang="en-US" sz="3399">
                <a:solidFill>
                  <a:srgbClr val="131416"/>
                </a:solidFill>
                <a:latin typeface="Open Sans"/>
                <a:ea typeface="Open Sans"/>
                <a:cs typeface="Open Sans"/>
                <a:sym typeface="Open Sans"/>
              </a:rPr>
              <a:t>oy </a:t>
            </a:r>
            <a:r>
              <a:rPr lang="en-US" sz="3399">
                <a:solidFill>
                  <a:srgbClr val="131416"/>
                </a:solidFill>
                <a:latin typeface="Open Sans"/>
                <a:ea typeface="Open Sans"/>
                <a:cs typeface="Open Sans"/>
                <a:sym typeface="Open Sans"/>
              </a:rPr>
              <a:t>es</a:t>
            </a:r>
            <a:r>
              <a:rPr lang="en-US" sz="3399">
                <a:solidFill>
                  <a:srgbClr val="131416"/>
                </a:solidFill>
                <a:latin typeface="Open Sans"/>
                <a:ea typeface="Open Sans"/>
                <a:cs typeface="Open Sans"/>
                <a:sym typeface="Open Sans"/>
              </a:rPr>
              <a:t> </a:t>
            </a:r>
            <a:r>
              <a:rPr lang="en-US" sz="3399">
                <a:solidFill>
                  <a:srgbClr val="131416"/>
                </a:solidFill>
                <a:latin typeface="Open Sans"/>
                <a:ea typeface="Open Sans"/>
                <a:cs typeface="Open Sans"/>
                <a:sym typeface="Open Sans"/>
              </a:rPr>
              <a:t>vierne</a:t>
            </a:r>
            <a:r>
              <a:rPr lang="en-US" sz="3399">
                <a:solidFill>
                  <a:srgbClr val="131416"/>
                </a:solidFill>
                <a:latin typeface="Open Sans"/>
                <a:ea typeface="Open Sans"/>
                <a:cs typeface="Open Sans"/>
                <a:sym typeface="Open Sans"/>
              </a:rPr>
              <a:t>s</a:t>
            </a:r>
            <a:r>
              <a:rPr lang="en-US" sz="3399">
                <a:solidFill>
                  <a:srgbClr val="131416"/>
                </a:solidFill>
                <a:latin typeface="Open Sans"/>
                <a:ea typeface="Open Sans"/>
                <a:cs typeface="Open Sans"/>
                <a:sym typeface="Open Sans"/>
              </a:rPr>
              <a:t> </a:t>
            </a:r>
            <a:r>
              <a:rPr lang="en-US" sz="3399">
                <a:solidFill>
                  <a:srgbClr val="131416"/>
                </a:solidFill>
                <a:latin typeface="Open Sans"/>
                <a:ea typeface="Open Sans"/>
                <a:cs typeface="Open Sans"/>
                <a:sym typeface="Open Sans"/>
              </a:rPr>
              <a:t>y </a:t>
            </a:r>
            <a:r>
              <a:rPr lang="en-US" sz="3399">
                <a:solidFill>
                  <a:srgbClr val="131416"/>
                </a:solidFill>
                <a:latin typeface="Open Sans"/>
                <a:ea typeface="Open Sans"/>
                <a:cs typeface="Open Sans"/>
                <a:sym typeface="Open Sans"/>
              </a:rPr>
              <a:t>mañana s</a:t>
            </a:r>
            <a:r>
              <a:rPr lang="en-US" sz="3399">
                <a:solidFill>
                  <a:srgbClr val="131416"/>
                </a:solidFill>
                <a:latin typeface="Open Sans"/>
                <a:ea typeface="Open Sans"/>
                <a:cs typeface="Open Sans"/>
                <a:sym typeface="Open Sans"/>
              </a:rPr>
              <a:t>er</a:t>
            </a:r>
            <a:r>
              <a:rPr lang="en-US" sz="3399">
                <a:solidFill>
                  <a:srgbClr val="131416"/>
                </a:solidFill>
                <a:latin typeface="Open Sans"/>
                <a:ea typeface="Open Sans"/>
                <a:cs typeface="Open Sans"/>
                <a:sym typeface="Open Sans"/>
              </a:rPr>
              <a:t>á sábado</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Conclusi</a:t>
            </a:r>
            <a:r>
              <a:rPr lang="en-US" sz="3399">
                <a:solidFill>
                  <a:srgbClr val="131416"/>
                </a:solidFill>
                <a:latin typeface="Open Sans"/>
                <a:ea typeface="Open Sans"/>
                <a:cs typeface="Open Sans"/>
                <a:sym typeface="Open Sans"/>
              </a:rPr>
              <a:t>o</a:t>
            </a:r>
            <a:r>
              <a:rPr lang="en-US" sz="3399">
                <a:solidFill>
                  <a:srgbClr val="131416"/>
                </a:solidFill>
                <a:latin typeface="Open Sans"/>
                <a:ea typeface="Open Sans"/>
                <a:cs typeface="Open Sans"/>
                <a:sym typeface="Open Sans"/>
              </a:rPr>
              <a:t>n</a:t>
            </a:r>
            <a:r>
              <a:rPr lang="en-US" sz="3399">
                <a:solidFill>
                  <a:srgbClr val="131416"/>
                </a:solidFill>
                <a:latin typeface="Open Sans"/>
                <a:ea typeface="Open Sans"/>
                <a:cs typeface="Open Sans"/>
                <a:sym typeface="Open Sans"/>
              </a:rPr>
              <a:t>es</a:t>
            </a:r>
            <a:r>
              <a:rPr lang="en-US" sz="3399">
                <a:solidFill>
                  <a:srgbClr val="131416"/>
                </a:solidFill>
                <a:latin typeface="Open Sans"/>
                <a:ea typeface="Open Sans"/>
                <a:cs typeface="Open Sans"/>
                <a:sym typeface="Open Sans"/>
              </a:rPr>
              <a:t>: </a:t>
            </a:r>
            <a:r>
              <a:rPr lang="en-US" sz="3399">
                <a:solidFill>
                  <a:srgbClr val="131416"/>
                </a:solidFill>
                <a:latin typeface="Open Sans"/>
                <a:ea typeface="Open Sans"/>
                <a:cs typeface="Open Sans"/>
                <a:sym typeface="Open Sans"/>
              </a:rPr>
              <a:t>(</a:t>
            </a:r>
            <a:r>
              <a:rPr lang="en-US" sz="3399">
                <a:solidFill>
                  <a:srgbClr val="131416"/>
                </a:solidFill>
                <a:latin typeface="Open Sans"/>
                <a:ea typeface="Open Sans"/>
                <a:cs typeface="Open Sans"/>
                <a:sym typeface="Open Sans"/>
              </a:rPr>
              <a:t>a</a:t>
            </a:r>
            <a:r>
              <a:rPr lang="en-US" sz="3399">
                <a:solidFill>
                  <a:srgbClr val="131416"/>
                </a:solidFill>
                <a:latin typeface="Open Sans"/>
                <a:ea typeface="Open Sans"/>
                <a:cs typeface="Open Sans"/>
                <a:sym typeface="Open Sans"/>
              </a:rPr>
              <a:t>mba</a:t>
            </a:r>
            <a:r>
              <a:rPr lang="en-US" sz="3399">
                <a:solidFill>
                  <a:srgbClr val="131416"/>
                </a:solidFill>
                <a:latin typeface="Open Sans"/>
                <a:ea typeface="Open Sans"/>
                <a:cs typeface="Open Sans"/>
                <a:sym typeface="Open Sans"/>
              </a:rPr>
              <a:t>s verdadera</a:t>
            </a:r>
            <a:r>
              <a:rPr lang="en-US" sz="3399">
                <a:solidFill>
                  <a:srgbClr val="131416"/>
                </a:solidFill>
                <a:latin typeface="Open Sans"/>
                <a:ea typeface="Open Sans"/>
                <a:cs typeface="Open Sans"/>
                <a:sym typeface="Open Sans"/>
              </a:rPr>
              <a:t>s)</a:t>
            </a:r>
          </a:p>
          <a:p>
            <a:pPr algn="just" marL="734059" indent="-367030" lvl="1">
              <a:lnSpc>
                <a:spcPts val="4759"/>
              </a:lnSpc>
              <a:buFont typeface="Arial"/>
              <a:buChar char="•"/>
            </a:pPr>
            <a:r>
              <a:rPr lang="en-US" sz="3399">
                <a:solidFill>
                  <a:srgbClr val="131416"/>
                </a:solidFill>
                <a:latin typeface="Open Sans"/>
                <a:ea typeface="Open Sans"/>
                <a:cs typeface="Open Sans"/>
                <a:sym typeface="Open Sans"/>
              </a:rPr>
              <a:t>Hoy</a:t>
            </a:r>
            <a:r>
              <a:rPr lang="en-US" sz="3399">
                <a:solidFill>
                  <a:srgbClr val="131416"/>
                </a:solidFill>
                <a:latin typeface="Open Sans"/>
                <a:ea typeface="Open Sans"/>
                <a:cs typeface="Open Sans"/>
                <a:sym typeface="Open Sans"/>
              </a:rPr>
              <a:t> es </a:t>
            </a:r>
            <a:r>
              <a:rPr lang="en-US" sz="3399">
                <a:solidFill>
                  <a:srgbClr val="131416"/>
                </a:solidFill>
                <a:latin typeface="Open Sans"/>
                <a:ea typeface="Open Sans"/>
                <a:cs typeface="Open Sans"/>
                <a:sym typeface="Open Sans"/>
              </a:rPr>
              <a:t>v</a:t>
            </a:r>
            <a:r>
              <a:rPr lang="en-US" sz="3399">
                <a:solidFill>
                  <a:srgbClr val="131416"/>
                </a:solidFill>
                <a:latin typeface="Open Sans"/>
                <a:ea typeface="Open Sans"/>
                <a:cs typeface="Open Sans"/>
                <a:sym typeface="Open Sans"/>
              </a:rPr>
              <a:t>i</a:t>
            </a:r>
            <a:r>
              <a:rPr lang="en-US" sz="3399">
                <a:solidFill>
                  <a:srgbClr val="131416"/>
                </a:solidFill>
                <a:latin typeface="Open Sans"/>
                <a:ea typeface="Open Sans"/>
                <a:cs typeface="Open Sans"/>
                <a:sym typeface="Open Sans"/>
              </a:rPr>
              <a:t>ern</a:t>
            </a:r>
            <a:r>
              <a:rPr lang="en-US" sz="3399">
                <a:solidFill>
                  <a:srgbClr val="131416"/>
                </a:solidFill>
                <a:latin typeface="Open Sans"/>
                <a:ea typeface="Open Sans"/>
                <a:cs typeface="Open Sans"/>
                <a:sym typeface="Open Sans"/>
              </a:rPr>
              <a:t>es</a:t>
            </a:r>
          </a:p>
          <a:p>
            <a:pPr algn="just" marL="1468119" indent="-489373" lvl="2">
              <a:lnSpc>
                <a:spcPts val="4759"/>
              </a:lnSpc>
              <a:buFont typeface="Arial"/>
              <a:buChar char="⚬"/>
            </a:pPr>
            <a:r>
              <a:rPr lang="en-US" sz="3399">
                <a:solidFill>
                  <a:srgbClr val="131416"/>
                </a:solidFill>
                <a:latin typeface="Open Sans"/>
                <a:ea typeface="Open Sans"/>
                <a:cs typeface="Open Sans"/>
                <a:sym typeface="Open Sans"/>
              </a:rPr>
              <a:t>Mañ</a:t>
            </a:r>
            <a:r>
              <a:rPr lang="en-US" sz="3399">
                <a:solidFill>
                  <a:srgbClr val="131416"/>
                </a:solidFill>
                <a:latin typeface="Open Sans"/>
                <a:ea typeface="Open Sans"/>
                <a:cs typeface="Open Sans"/>
                <a:sym typeface="Open Sans"/>
              </a:rPr>
              <a:t>ana se</a:t>
            </a:r>
            <a:r>
              <a:rPr lang="en-US" sz="3399">
                <a:solidFill>
                  <a:srgbClr val="131416"/>
                </a:solidFill>
                <a:latin typeface="Open Sans"/>
                <a:ea typeface="Open Sans"/>
                <a:cs typeface="Open Sans"/>
                <a:sym typeface="Open Sans"/>
              </a:rPr>
              <a:t>rá Sábado</a:t>
            </a:r>
          </a:p>
          <a:p>
            <a:pPr algn="just">
              <a:lnSpc>
                <a:spcPts val="4759"/>
              </a:lnSpc>
            </a:pPr>
            <a:r>
              <a:rPr lang="en-US" sz="3399">
                <a:solidFill>
                  <a:srgbClr val="131416"/>
                </a:solidFill>
                <a:latin typeface="Open Sans"/>
                <a:ea typeface="Open Sans"/>
                <a:cs typeface="Open Sans"/>
                <a:sym typeface="Open Sans"/>
              </a:rPr>
              <a:t>Simbolizando:</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32518" y="3958101"/>
            <a:ext cx="5935010" cy="2831934"/>
          </a:xfrm>
          <a:custGeom>
            <a:avLst/>
            <a:gdLst/>
            <a:ahLst/>
            <a:cxnLst/>
            <a:rect r="r" b="b" t="t" l="l"/>
            <a:pathLst>
              <a:path h="2831934" w="5935010">
                <a:moveTo>
                  <a:pt x="0" y="0"/>
                </a:moveTo>
                <a:lnTo>
                  <a:pt x="5935010" y="0"/>
                </a:lnTo>
                <a:lnTo>
                  <a:pt x="5935010" y="2831934"/>
                </a:lnTo>
                <a:lnTo>
                  <a:pt x="0" y="2831934"/>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LEY DE SILOGISMO HIPOTÉTICO</a:t>
            </a:r>
          </a:p>
        </p:txBody>
      </p:sp>
      <p:sp>
        <p:nvSpPr>
          <p:cNvPr name="TextBox 4" id="4"/>
          <p:cNvSpPr txBox="true"/>
          <p:nvPr/>
        </p:nvSpPr>
        <p:spPr>
          <a:xfrm rot="0">
            <a:off x="1338901" y="1908240"/>
            <a:ext cx="16126564" cy="3073400"/>
          </a:xfrm>
          <a:prstGeom prst="rect">
            <a:avLst/>
          </a:prstGeom>
        </p:spPr>
        <p:txBody>
          <a:bodyPr anchor="t" rtlCol="false" tIns="0" lIns="0" bIns="0" rIns="0">
            <a:spAutoFit/>
          </a:bodyPr>
          <a:lstStyle/>
          <a:p>
            <a:pPr algn="just">
              <a:lnSpc>
                <a:spcPts val="4900"/>
              </a:lnSpc>
            </a:pPr>
            <a:r>
              <a:rPr lang="en-US" sz="3500">
                <a:solidFill>
                  <a:srgbClr val="131416"/>
                </a:solidFill>
                <a:latin typeface="Open Sans"/>
                <a:ea typeface="Open Sans"/>
                <a:cs typeface="Open Sans"/>
                <a:sym typeface="Open Sans"/>
              </a:rPr>
              <a:t>Podemos decir que, si una causa sigue una consecuencia y esta consecuencia a su vez causa una segunda consecuencia, se puede decir que, esa primera causa es causa de la segunda consecuencia.</a:t>
            </a:r>
          </a:p>
          <a:p>
            <a:pPr algn="just">
              <a:lnSpc>
                <a:spcPts val="4900"/>
              </a:lnSpc>
            </a:pPr>
          </a:p>
          <a:p>
            <a:pPr algn="just">
              <a:lnSpc>
                <a:spcPts val="4900"/>
              </a:lnSpc>
            </a:pPr>
          </a:p>
        </p:txBody>
      </p:sp>
      <p:sp>
        <p:nvSpPr>
          <p:cNvPr name="TextBox 5" id="5"/>
          <p:cNvSpPr txBox="true"/>
          <p:nvPr/>
        </p:nvSpPr>
        <p:spPr>
          <a:xfrm rot="0">
            <a:off x="1338901" y="6885035"/>
            <a:ext cx="16126564" cy="3073400"/>
          </a:xfrm>
          <a:prstGeom prst="rect">
            <a:avLst/>
          </a:prstGeom>
        </p:spPr>
        <p:txBody>
          <a:bodyPr anchor="t" rtlCol="false" tIns="0" lIns="0" bIns="0" rIns="0">
            <a:spAutoFit/>
          </a:bodyPr>
          <a:lstStyle/>
          <a:p>
            <a:pPr algn="just">
              <a:lnSpc>
                <a:spcPts val="4900"/>
              </a:lnSpc>
            </a:pPr>
            <a:r>
              <a:rPr lang="en-US" sz="3500" b="true">
                <a:solidFill>
                  <a:srgbClr val="FF3131"/>
                </a:solidFill>
                <a:latin typeface="Open Sans Bold"/>
                <a:ea typeface="Open Sans Bold"/>
                <a:cs typeface="Open Sans Bold"/>
                <a:sym typeface="Open Sans Bold"/>
              </a:rPr>
              <a:t>Ejemplo:</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Si la bola roja golpea a la bola blanca, la bola blanca se mueve</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Si la bola blanca golpea a la bola negra, la bola negra se mueve</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Conclusión: Si la bola roja golpea a la bola blanca, la bola negra se mueve</a:t>
            </a:r>
          </a:p>
          <a:p>
            <a:pPr algn="just">
              <a:lnSpc>
                <a:spcPts val="4900"/>
              </a:lnSpc>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LEY DE ACCIÓN</a:t>
            </a:r>
          </a:p>
        </p:txBody>
      </p:sp>
      <p:sp>
        <p:nvSpPr>
          <p:cNvPr name="TextBox 3" id="3"/>
          <p:cNvSpPr txBox="true"/>
          <p:nvPr/>
        </p:nvSpPr>
        <p:spPr>
          <a:xfrm rot="0">
            <a:off x="1338901" y="1908240"/>
            <a:ext cx="16126564" cy="2454275"/>
          </a:xfrm>
          <a:prstGeom prst="rect">
            <a:avLst/>
          </a:prstGeom>
        </p:spPr>
        <p:txBody>
          <a:bodyPr anchor="t" rtlCol="false" tIns="0" lIns="0" bIns="0" rIns="0">
            <a:spAutoFit/>
          </a:bodyPr>
          <a:lstStyle/>
          <a:p>
            <a:pPr algn="just">
              <a:lnSpc>
                <a:spcPts val="4900"/>
              </a:lnSpc>
            </a:pPr>
            <a:r>
              <a:rPr lang="en-US" sz="3500">
                <a:solidFill>
                  <a:srgbClr val="131416"/>
                </a:solidFill>
                <a:latin typeface="Open Sans"/>
                <a:ea typeface="Open Sans"/>
                <a:cs typeface="Open Sans"/>
                <a:sym typeface="Open Sans"/>
              </a:rPr>
              <a:t>Esta ley afirma que si se tiene una proposición que es cierta, entonces la disyunción de esa proposición y otra cualquier ha de ser cierta también.</a:t>
            </a:r>
          </a:p>
          <a:p>
            <a:pPr algn="just">
              <a:lnSpc>
                <a:spcPts val="4900"/>
              </a:lnSpc>
            </a:pPr>
          </a:p>
          <a:p>
            <a:pPr algn="just">
              <a:lnSpc>
                <a:spcPts val="4900"/>
              </a:lnSpc>
            </a:pPr>
          </a:p>
        </p:txBody>
      </p:sp>
      <p:sp>
        <p:nvSpPr>
          <p:cNvPr name="TextBox 4" id="4"/>
          <p:cNvSpPr txBox="true"/>
          <p:nvPr/>
        </p:nvSpPr>
        <p:spPr>
          <a:xfrm rot="0">
            <a:off x="1338901" y="3348199"/>
            <a:ext cx="16126564" cy="6788150"/>
          </a:xfrm>
          <a:prstGeom prst="rect">
            <a:avLst/>
          </a:prstGeom>
        </p:spPr>
        <p:txBody>
          <a:bodyPr anchor="t" rtlCol="false" tIns="0" lIns="0" bIns="0" rIns="0">
            <a:spAutoFit/>
          </a:bodyPr>
          <a:lstStyle/>
          <a:p>
            <a:pPr algn="just">
              <a:lnSpc>
                <a:spcPts val="4900"/>
              </a:lnSpc>
            </a:pPr>
            <a:r>
              <a:rPr lang="en-US" sz="3500" b="true">
                <a:solidFill>
                  <a:srgbClr val="FF3131"/>
                </a:solidFill>
                <a:latin typeface="Open Sans Bold"/>
                <a:ea typeface="Open Sans Bold"/>
                <a:cs typeface="Open Sans Bold"/>
                <a:sym typeface="Open Sans Bold"/>
              </a:rPr>
              <a:t>Ejemplo:</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Si se da como cierta la premisa: Esta casa es Azul</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Entonces se sabe que la proposición: Esta casa es azul o blanca, es cierta</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Lo mismo ocurriría con: Esta casa es azul o es antigua o Esta casa es azul o es grande.</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La simbolización es la siguiente:</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Dada la proposición verdadera: p</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Se puede concluir que son verdaderas:</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p v q</a:t>
            </a:r>
          </a:p>
          <a:p>
            <a:pPr algn="just" marL="755651" indent="-377825" lvl="1">
              <a:lnSpc>
                <a:spcPts val="4900"/>
              </a:lnSpc>
              <a:buFont typeface="Arial"/>
              <a:buChar char="•"/>
            </a:pPr>
            <a:r>
              <a:rPr lang="en-US" sz="3500">
                <a:solidFill>
                  <a:srgbClr val="131416"/>
                </a:solidFill>
                <a:latin typeface="Open Sans"/>
                <a:ea typeface="Open Sans"/>
                <a:cs typeface="Open Sans"/>
                <a:sym typeface="Open Sans"/>
              </a:rPr>
              <a:t>p v t</a:t>
            </a:r>
          </a:p>
          <a:p>
            <a:pPr algn="just">
              <a:lnSpc>
                <a:spcPts val="4900"/>
              </a:lnSpc>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32736" y="1786238"/>
            <a:ext cx="16126564" cy="69151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Falacia, viene del latín fallare; cuyo significado es: engañar. Es un razonamiento inválido que pretende su validez, a partir de elementos psicológicos y no lógicos; es decir que, a través de la intimidación, la </a:t>
            </a:r>
            <a:r>
              <a:rPr lang="en-US" sz="3000">
                <a:solidFill>
                  <a:srgbClr val="131416"/>
                </a:solidFill>
                <a:latin typeface="Open Sans"/>
                <a:ea typeface="Open Sans"/>
                <a:cs typeface="Open Sans"/>
                <a:sym typeface="Open Sans"/>
              </a:rPr>
              <a:t>amenaza, el insulto, etc. Cuando las únicas razones que se deben atender</a:t>
            </a:r>
            <a:r>
              <a:rPr lang="en-US" sz="3000">
                <a:solidFill>
                  <a:srgbClr val="131416"/>
                </a:solidFill>
                <a:latin typeface="Open Sans"/>
                <a:ea typeface="Open Sans"/>
                <a:cs typeface="Open Sans"/>
                <a:sym typeface="Open Sans"/>
              </a:rPr>
              <a:t> para la validez de un razonamiento tienen que ser lógicas.</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Existen gran variedad de falacias, pero las Causales se dividen en: Falacias de Atingencia y Falacias de Ambigüedad.</a:t>
            </a:r>
          </a:p>
          <a:p>
            <a:pPr algn="just">
              <a:lnSpc>
                <a:spcPts val="4200"/>
              </a:lnSpc>
            </a:pPr>
          </a:p>
          <a:p>
            <a:pPr algn="just">
              <a:lnSpc>
                <a:spcPts val="4200"/>
              </a:lnSpc>
            </a:pPr>
            <a:r>
              <a:rPr lang="en-US" b="true" sz="3000">
                <a:solidFill>
                  <a:srgbClr val="131416"/>
                </a:solidFill>
                <a:latin typeface="Open Sans Bold"/>
                <a:ea typeface="Open Sans Bold"/>
                <a:cs typeface="Open Sans Bold"/>
                <a:sym typeface="Open Sans Bold"/>
              </a:rPr>
              <a:t>Ejemplo de Falacias Causales: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Si puedo cargar piezas de mi automóvil, puedo cargar mi automóvil. </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Siempre me han gustado las películas de suspenso que exhiben en este cine. Seguramente la función de esta noche me gustara.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Los Reyes Magos existen porque son Magos.</a:t>
            </a:r>
          </a:p>
        </p:txBody>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FALACIAS</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FALACIAS LÓGICAS</a:t>
            </a:r>
          </a:p>
        </p:txBody>
      </p:sp>
      <p:sp>
        <p:nvSpPr>
          <p:cNvPr name="TextBox 3" id="3"/>
          <p:cNvSpPr txBox="true"/>
          <p:nvPr/>
        </p:nvSpPr>
        <p:spPr>
          <a:xfrm rot="0">
            <a:off x="937509" y="1665077"/>
            <a:ext cx="16412982" cy="8771622"/>
          </a:xfrm>
          <a:prstGeom prst="rect">
            <a:avLst/>
          </a:prstGeom>
        </p:spPr>
        <p:txBody>
          <a:bodyPr anchor="t" rtlCol="false" tIns="0" lIns="0" bIns="0" rIns="0">
            <a:spAutoFit/>
          </a:bodyPr>
          <a:lstStyle/>
          <a:p>
            <a:pPr algn="just">
              <a:lnSpc>
                <a:spcPts val="5824"/>
              </a:lnSpc>
            </a:pPr>
            <a:r>
              <a:rPr lang="en-US" sz="4160">
                <a:solidFill>
                  <a:srgbClr val="131416"/>
                </a:solidFill>
                <a:latin typeface="Open Sans"/>
                <a:ea typeface="Open Sans"/>
                <a:cs typeface="Open Sans"/>
                <a:sym typeface="Open Sans"/>
              </a:rPr>
              <a:t>Todas las falacias que realizan una vulneración en cualquier regla lógica, esto quiere decir que por </a:t>
            </a:r>
            <a:r>
              <a:rPr lang="en-US" sz="4160">
                <a:solidFill>
                  <a:srgbClr val="131416"/>
                </a:solidFill>
                <a:latin typeface="Open Sans"/>
                <a:ea typeface="Open Sans"/>
                <a:cs typeface="Open Sans"/>
                <a:sym typeface="Open Sans"/>
              </a:rPr>
              <a:t>ejemplo se logra argumentar de una manera falaz cuando en vez de presentar razones adecuadas en contra de la posición que defiende una persona.</a:t>
            </a:r>
          </a:p>
          <a:p>
            <a:pPr algn="just">
              <a:lnSpc>
                <a:spcPts val="5824"/>
              </a:lnSpc>
            </a:pPr>
          </a:p>
          <a:p>
            <a:pPr algn="just">
              <a:lnSpc>
                <a:spcPts val="5824"/>
              </a:lnSpc>
            </a:pPr>
            <a:r>
              <a:rPr lang="en-US" sz="4160">
                <a:solidFill>
                  <a:srgbClr val="131416"/>
                </a:solidFill>
                <a:latin typeface="Open Sans"/>
                <a:ea typeface="Open Sans"/>
                <a:cs typeface="Open Sans"/>
                <a:sym typeface="Open Sans"/>
              </a:rPr>
              <a:t>Las Falacias Lógicas se suelen clasificar en:</a:t>
            </a:r>
          </a:p>
          <a:p>
            <a:pPr algn="just" marL="898260" indent="-449130" lvl="1">
              <a:lnSpc>
                <a:spcPts val="5824"/>
              </a:lnSpc>
              <a:buFont typeface="Arial"/>
              <a:buChar char="•"/>
            </a:pPr>
            <a:r>
              <a:rPr lang="en-US" sz="4160">
                <a:solidFill>
                  <a:srgbClr val="131416"/>
                </a:solidFill>
                <a:latin typeface="Open Sans"/>
                <a:ea typeface="Open Sans"/>
                <a:cs typeface="Open Sans"/>
                <a:sym typeface="Open Sans"/>
              </a:rPr>
              <a:t>Formales</a:t>
            </a:r>
          </a:p>
          <a:p>
            <a:pPr algn="just" marL="898260" indent="-449130" lvl="1">
              <a:lnSpc>
                <a:spcPts val="5824"/>
              </a:lnSpc>
              <a:buFont typeface="Arial"/>
              <a:buChar char="•"/>
            </a:pPr>
            <a:r>
              <a:rPr lang="en-US" sz="4160">
                <a:solidFill>
                  <a:srgbClr val="131416"/>
                </a:solidFill>
                <a:latin typeface="Open Sans"/>
                <a:ea typeface="Open Sans"/>
                <a:cs typeface="Open Sans"/>
                <a:sym typeface="Open Sans"/>
              </a:rPr>
              <a:t>No Formales</a:t>
            </a:r>
          </a:p>
          <a:p>
            <a:pPr algn="just">
              <a:lnSpc>
                <a:spcPts val="5824"/>
              </a:lnSpc>
            </a:pPr>
          </a:p>
          <a:p>
            <a:pPr algn="just">
              <a:lnSpc>
                <a:spcPts val="5824"/>
              </a:lnSpc>
            </a:pPr>
          </a:p>
          <a:p>
            <a:pPr algn="just">
              <a:lnSpc>
                <a:spcPts val="5824"/>
              </a:lnSpc>
            </a:pPr>
          </a:p>
          <a:p>
            <a:pPr algn="just">
              <a:lnSpc>
                <a:spcPts val="5824"/>
              </a:lnSpc>
            </a:pPr>
          </a:p>
        </p:txBody>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FALACIA DE ATINGENCIA</a:t>
            </a:r>
          </a:p>
        </p:txBody>
      </p:sp>
      <p:sp>
        <p:nvSpPr>
          <p:cNvPr name="TextBox 3" id="3"/>
          <p:cNvSpPr txBox="true"/>
          <p:nvPr/>
        </p:nvSpPr>
        <p:spPr>
          <a:xfrm rot="0">
            <a:off x="559774" y="1659007"/>
            <a:ext cx="16126564" cy="69151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Estas falacias se cometen cuando no existe ninguna atingencia (relación, conexión o</a:t>
            </a:r>
          </a:p>
          <a:p>
            <a:pPr algn="just">
              <a:lnSpc>
                <a:spcPts val="4200"/>
              </a:lnSpc>
            </a:pPr>
            <a:r>
              <a:rPr lang="en-US" sz="3000">
                <a:solidFill>
                  <a:srgbClr val="131416"/>
                </a:solidFill>
                <a:latin typeface="Open Sans"/>
                <a:ea typeface="Open Sans"/>
                <a:cs typeface="Open Sans"/>
                <a:sym typeface="Open Sans"/>
              </a:rPr>
              <a:t>correspondencia) lógica, aunque sí ps</a:t>
            </a:r>
            <a:r>
              <a:rPr lang="en-US" sz="3000">
                <a:solidFill>
                  <a:srgbClr val="131416"/>
                </a:solidFill>
                <a:latin typeface="Open Sans"/>
                <a:ea typeface="Open Sans"/>
                <a:cs typeface="Open Sans"/>
                <a:sym typeface="Open Sans"/>
              </a:rPr>
              <a:t>icológica, entre las premisas y conclusión. La verdad o falsedad de las premisas no tiene ninguna relación lógica con la verdad o falsedad de la</a:t>
            </a:r>
          </a:p>
          <a:p>
            <a:pPr algn="just">
              <a:lnSpc>
                <a:spcPts val="4200"/>
              </a:lnSpc>
            </a:pPr>
            <a:r>
              <a:rPr lang="en-US" sz="3000">
                <a:solidFill>
                  <a:srgbClr val="131416"/>
                </a:solidFill>
                <a:latin typeface="Open Sans"/>
                <a:ea typeface="Open Sans"/>
                <a:cs typeface="Open Sans"/>
                <a:sym typeface="Open Sans"/>
              </a:rPr>
              <a:t>co</a:t>
            </a:r>
            <a:r>
              <a:rPr lang="en-US" sz="3000">
                <a:solidFill>
                  <a:srgbClr val="131416"/>
                </a:solidFill>
                <a:latin typeface="Open Sans"/>
                <a:ea typeface="Open Sans"/>
                <a:cs typeface="Open Sans"/>
                <a:sym typeface="Open Sans"/>
              </a:rPr>
              <a:t>nclusión; pero, si existe un nexo entre premisas y conclusión, aunque es de carácter</a:t>
            </a:r>
          </a:p>
          <a:p>
            <a:pPr algn="just">
              <a:lnSpc>
                <a:spcPts val="4200"/>
              </a:lnSpc>
            </a:pPr>
            <a:r>
              <a:rPr lang="en-US" sz="3000">
                <a:solidFill>
                  <a:srgbClr val="131416"/>
                </a:solidFill>
                <a:latin typeface="Open Sans"/>
                <a:ea typeface="Open Sans"/>
                <a:cs typeface="Open Sans"/>
                <a:sym typeface="Open Sans"/>
              </a:rPr>
              <a:t>psicológico. En otras</a:t>
            </a:r>
            <a:r>
              <a:rPr lang="en-US" sz="3000">
                <a:solidFill>
                  <a:srgbClr val="131416"/>
                </a:solidFill>
                <a:latin typeface="Open Sans"/>
                <a:ea typeface="Open Sans"/>
                <a:cs typeface="Open Sans"/>
                <a:sym typeface="Open Sans"/>
              </a:rPr>
              <a:t> </a:t>
            </a:r>
            <a:r>
              <a:rPr lang="en-US" sz="3000">
                <a:solidFill>
                  <a:srgbClr val="131416"/>
                </a:solidFill>
                <a:latin typeface="Open Sans"/>
                <a:ea typeface="Open Sans"/>
                <a:cs typeface="Open Sans"/>
                <a:sym typeface="Open Sans"/>
              </a:rPr>
              <a:t>p</a:t>
            </a:r>
            <a:r>
              <a:rPr lang="en-US" sz="3000">
                <a:solidFill>
                  <a:srgbClr val="131416"/>
                </a:solidFill>
                <a:latin typeface="Open Sans"/>
                <a:ea typeface="Open Sans"/>
                <a:cs typeface="Open Sans"/>
                <a:sym typeface="Open Sans"/>
              </a:rPr>
              <a:t>alabras, la conclusión no tiene nada que ver con lo que se dicen en las premisas, en términos lógicos.</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El agua es indispensable para todo ser humano; por lo tanto, debe ser</a:t>
            </a:r>
          </a:p>
          <a:p>
            <a:pPr algn="just">
              <a:lnSpc>
                <a:spcPts val="4200"/>
              </a:lnSpc>
            </a:pPr>
            <a:r>
              <a:rPr lang="en-US" sz="3000">
                <a:solidFill>
                  <a:srgbClr val="131416"/>
                </a:solidFill>
                <a:latin typeface="Open Sans"/>
                <a:ea typeface="Open Sans"/>
                <a:cs typeface="Open Sans"/>
                <a:sym typeface="Open Sans"/>
              </a:rPr>
              <a:t>económicamente factible el que todo habitante de la ciudad tenga agua potable en su</a:t>
            </a:r>
          </a:p>
          <a:p>
            <a:pPr algn="just">
              <a:lnSpc>
                <a:spcPts val="4200"/>
              </a:lnSpc>
            </a:pPr>
            <a:r>
              <a:rPr lang="en-US" sz="3000">
                <a:solidFill>
                  <a:srgbClr val="131416"/>
                </a:solidFill>
                <a:latin typeface="Open Sans"/>
                <a:ea typeface="Open Sans"/>
                <a:cs typeface="Open Sans"/>
                <a:sym typeface="Open Sans"/>
              </a:rPr>
              <a:t>casa.</a:t>
            </a:r>
          </a:p>
          <a:p>
            <a:pPr algn="just">
              <a:lnSpc>
                <a:spcPts val="4200"/>
              </a:lnSpc>
            </a:pPr>
          </a:p>
        </p:txBody>
      </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3"/>
            <a:ext cx="15884411" cy="10407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CLASIFICACIÓN DE LAS FALACIAS DE ATINGENCIA</a:t>
            </a:r>
          </a:p>
        </p:txBody>
      </p:sp>
      <p:sp>
        <p:nvSpPr>
          <p:cNvPr name="TextBox 3" id="3"/>
          <p:cNvSpPr txBox="true"/>
          <p:nvPr/>
        </p:nvSpPr>
        <p:spPr>
          <a:xfrm rot="0">
            <a:off x="559774" y="2297254"/>
            <a:ext cx="16126564" cy="531495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Contra la Persona (Argumentum ad hominem)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Apelación a la Fuerza (Argumentum ad ba</a:t>
            </a:r>
            <a:r>
              <a:rPr lang="en-US" sz="3000">
                <a:solidFill>
                  <a:srgbClr val="131416"/>
                </a:solidFill>
                <a:latin typeface="Open Sans"/>
                <a:ea typeface="Open Sans"/>
                <a:cs typeface="Open Sans"/>
                <a:sym typeface="Open Sans"/>
              </a:rPr>
              <a:t>culum)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Argumento por ignorancia (Argumentum ad ignorantiam)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Llamado a la piedad (Argumentum ad misericordiam)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Acepta</a:t>
            </a:r>
            <a:r>
              <a:rPr lang="en-US" sz="3000">
                <a:solidFill>
                  <a:srgbClr val="131416"/>
                </a:solidFill>
                <a:latin typeface="Open Sans"/>
                <a:ea typeface="Open Sans"/>
                <a:cs typeface="Open Sans"/>
                <a:sym typeface="Open Sans"/>
              </a:rPr>
              <a:t>c</a:t>
            </a:r>
            <a:r>
              <a:rPr lang="en-US" sz="3000">
                <a:solidFill>
                  <a:srgbClr val="131416"/>
                </a:solidFill>
                <a:latin typeface="Open Sans"/>
                <a:ea typeface="Open Sans"/>
                <a:cs typeface="Open Sans"/>
                <a:sym typeface="Open Sans"/>
              </a:rPr>
              <a:t>ión popular (Argumentum ad populum)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Apelación a</a:t>
            </a:r>
            <a:r>
              <a:rPr lang="en-US" sz="3000">
                <a:solidFill>
                  <a:srgbClr val="131416"/>
                </a:solidFill>
                <a:latin typeface="Open Sans"/>
                <a:ea typeface="Open Sans"/>
                <a:cs typeface="Open Sans"/>
                <a:sym typeface="Open Sans"/>
              </a:rPr>
              <a:t> </a:t>
            </a:r>
            <a:r>
              <a:rPr lang="en-US" sz="3000">
                <a:solidFill>
                  <a:srgbClr val="131416"/>
                </a:solidFill>
                <a:latin typeface="Open Sans"/>
                <a:ea typeface="Open Sans"/>
                <a:cs typeface="Open Sans"/>
                <a:sym typeface="Open Sans"/>
              </a:rPr>
              <a:t>la autoridad (Argumentum ad verecundiam)</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causa falsa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pregunta compleja</a:t>
            </a:r>
          </a:p>
          <a:p>
            <a:pPr algn="just">
              <a:lnSpc>
                <a:spcPts val="4200"/>
              </a:lnSpc>
            </a:pPr>
          </a:p>
          <a:p>
            <a:pPr algn="just">
              <a:lnSpc>
                <a:spcPts val="4200"/>
              </a:lnSpc>
            </a:pP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CONTRA LA PERSONA</a:t>
            </a:r>
          </a:p>
        </p:txBody>
      </p:sp>
      <p:sp>
        <p:nvSpPr>
          <p:cNvPr name="TextBox 3" id="3"/>
          <p:cNvSpPr txBox="true"/>
          <p:nvPr/>
        </p:nvSpPr>
        <p:spPr>
          <a:xfrm rot="0">
            <a:off x="559774" y="1659007"/>
            <a:ext cx="16126564" cy="8515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se comete cuando la refutación lógica de las ideas o razones cede</a:t>
            </a:r>
          </a:p>
          <a:p>
            <a:pPr algn="just">
              <a:lnSpc>
                <a:spcPts val="4200"/>
              </a:lnSpc>
            </a:pPr>
            <a:r>
              <a:rPr lang="en-US" sz="3000">
                <a:solidFill>
                  <a:srgbClr val="131416"/>
                </a:solidFill>
                <a:latin typeface="Open Sans"/>
                <a:ea typeface="Open Sans"/>
                <a:cs typeface="Open Sans"/>
                <a:sym typeface="Open Sans"/>
              </a:rPr>
              <a:t>su lugar al insulto y a la calumnia dirigida a la persona que expone argumentos.</a:t>
            </a:r>
          </a:p>
          <a:p>
            <a:pPr algn="just">
              <a:lnSpc>
                <a:spcPts val="4200"/>
              </a:lnSpc>
            </a:pPr>
            <a:r>
              <a:rPr lang="en-US" sz="3000">
                <a:solidFill>
                  <a:srgbClr val="131416"/>
                </a:solidFill>
                <a:latin typeface="Open Sans"/>
                <a:ea typeface="Open Sans"/>
                <a:cs typeface="Open Sans"/>
                <a:sym typeface="Open Sans"/>
              </a:rPr>
              <a:t>Este tipo de falacia tiene dos variantes: Cuando una persona se le insulta directamente,</a:t>
            </a:r>
          </a:p>
          <a:p>
            <a:pPr algn="just">
              <a:lnSpc>
                <a:spcPts val="4200"/>
              </a:lnSpc>
            </a:pPr>
            <a:r>
              <a:rPr lang="en-US" sz="3000">
                <a:solidFill>
                  <a:srgbClr val="131416"/>
                </a:solidFill>
                <a:latin typeface="Open Sans"/>
                <a:ea typeface="Open Sans"/>
                <a:cs typeface="Open Sans"/>
                <a:sym typeface="Open Sans"/>
              </a:rPr>
              <a:t>en lugar de demostrar la falsedad de sus ideas, se comete una falacia contra la persona</a:t>
            </a:r>
          </a:p>
          <a:p>
            <a:pPr algn="just">
              <a:lnSpc>
                <a:spcPts val="4200"/>
              </a:lnSpc>
            </a:pPr>
            <a:r>
              <a:rPr lang="en-US" sz="3000">
                <a:solidFill>
                  <a:srgbClr val="131416"/>
                </a:solidFill>
                <a:latin typeface="Open Sans"/>
                <a:ea typeface="Open Sans"/>
                <a:cs typeface="Open Sans"/>
                <a:sym typeface="Open Sans"/>
              </a:rPr>
              <a:t>ofensiva, pero si en lugar de refutar ideas o razones, se deducen elementos</a:t>
            </a:r>
          </a:p>
          <a:p>
            <a:pPr algn="just">
              <a:lnSpc>
                <a:spcPts val="4200"/>
              </a:lnSpc>
            </a:pPr>
            <a:r>
              <a:rPr lang="en-US" sz="3000">
                <a:solidFill>
                  <a:srgbClr val="131416"/>
                </a:solidFill>
                <a:latin typeface="Open Sans"/>
                <a:ea typeface="Open Sans"/>
                <a:cs typeface="Open Sans"/>
                <a:sym typeface="Open Sans"/>
              </a:rPr>
              <a:t>circunstanciales, en que se encuentran el interlocutor, entonces se comenta falacia</a:t>
            </a:r>
          </a:p>
          <a:p>
            <a:pPr algn="just">
              <a:lnSpc>
                <a:spcPts val="4200"/>
              </a:lnSpc>
            </a:pPr>
            <a:r>
              <a:rPr lang="en-US" sz="3000">
                <a:solidFill>
                  <a:srgbClr val="131416"/>
                </a:solidFill>
                <a:latin typeface="Open Sans"/>
                <a:ea typeface="Open Sans"/>
                <a:cs typeface="Open Sans"/>
                <a:sym typeface="Open Sans"/>
              </a:rPr>
              <a:t>contra la persona circunstancial.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“La propuesta del aumento salarial hecha por el diputado de la oposición, no puede de</a:t>
            </a:r>
          </a:p>
          <a:p>
            <a:pPr algn="just">
              <a:lnSpc>
                <a:spcPts val="4200"/>
              </a:lnSpc>
            </a:pPr>
            <a:r>
              <a:rPr lang="en-US" sz="3000">
                <a:solidFill>
                  <a:srgbClr val="131416"/>
                </a:solidFill>
                <a:latin typeface="Open Sans"/>
                <a:ea typeface="Open Sans"/>
                <a:cs typeface="Open Sans"/>
                <a:sym typeface="Open Sans"/>
              </a:rPr>
              <a:t>ninguna manera ser aceptada, pues lo que él trata de hacer es recaudar la mayor</a:t>
            </a:r>
          </a:p>
          <a:p>
            <a:pPr algn="just">
              <a:lnSpc>
                <a:spcPts val="4200"/>
              </a:lnSpc>
            </a:pPr>
            <a:r>
              <a:rPr lang="en-US" sz="3000">
                <a:solidFill>
                  <a:srgbClr val="131416"/>
                </a:solidFill>
                <a:latin typeface="Open Sans"/>
                <a:ea typeface="Open Sans"/>
                <a:cs typeface="Open Sans"/>
                <a:sym typeface="Open Sans"/>
              </a:rPr>
              <a:t>cantidad de votos posibles”</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No se analiza lo que se ha expuesto sobre la posibilidad del aumento salarial, sino que</a:t>
            </a:r>
          </a:p>
          <a:p>
            <a:pPr algn="just">
              <a:lnSpc>
                <a:spcPts val="4200"/>
              </a:lnSpc>
            </a:pPr>
            <a:r>
              <a:rPr lang="en-US" sz="3000">
                <a:solidFill>
                  <a:srgbClr val="131416"/>
                </a:solidFill>
                <a:latin typeface="Open Sans"/>
                <a:ea typeface="Open Sans"/>
                <a:cs typeface="Open Sans"/>
                <a:sym typeface="Open Sans"/>
              </a:rPr>
              <a:t>se recurre al subterfugio para rechazar la propuesta.</a:t>
            </a:r>
          </a:p>
          <a:p>
            <a:pPr algn="just">
              <a:lnSpc>
                <a:spcPts val="4200"/>
              </a:lnSpc>
            </a:pPr>
            <a:r>
              <a:rPr lang="en-US" sz="3000">
                <a:solidFill>
                  <a:srgbClr val="131416"/>
                </a:solidFill>
                <a:latin typeface="Open Sans"/>
                <a:ea typeface="Open Sans"/>
                <a:cs typeface="Open Sans"/>
                <a:sym typeface="Open Sans"/>
              </a:rPr>
              <a:t>Esta es una falacia contra la persona circunstancial.</a:t>
            </a:r>
          </a:p>
          <a:p>
            <a:pPr algn="just">
              <a:lnSpc>
                <a:spcPts val="4200"/>
              </a:lnSpc>
            </a:pPr>
          </a:p>
        </p:txBody>
      </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APELACIÓN A LA FUERZA</a:t>
            </a:r>
          </a:p>
        </p:txBody>
      </p:sp>
      <p:sp>
        <p:nvSpPr>
          <p:cNvPr name="TextBox 3" id="3"/>
          <p:cNvSpPr txBox="true"/>
          <p:nvPr/>
        </p:nvSpPr>
        <p:spPr>
          <a:xfrm rot="0">
            <a:off x="559774" y="1659007"/>
            <a:ext cx="16126564" cy="53149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clase de falacia se comete cuando en lugar de la conexión lógica de la demostración, hacemo</a:t>
            </a:r>
            <a:r>
              <a:rPr lang="en-US" sz="3000">
                <a:solidFill>
                  <a:srgbClr val="131416"/>
                </a:solidFill>
                <a:latin typeface="Open Sans"/>
                <a:ea typeface="Open Sans"/>
                <a:cs typeface="Open Sans"/>
                <a:sym typeface="Open Sans"/>
              </a:rPr>
              <a:t>s uso de la amenaza ya sea velada o abierta, a fin de lograr la validación del argumento. Es una salida fácil para “derrotar” al adversario.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El maestro dice “¿Quiere aprobar, ¿verdad? Conviene entonces que te portes bien”</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La razón que aduce para mostrar la necesidad y utilidad que tiene el alumno de</a:t>
            </a:r>
          </a:p>
          <a:p>
            <a:pPr algn="just">
              <a:lnSpc>
                <a:spcPts val="4200"/>
              </a:lnSpc>
            </a:pPr>
            <a:r>
              <a:rPr lang="en-US" sz="3000">
                <a:solidFill>
                  <a:srgbClr val="131416"/>
                </a:solidFill>
                <a:latin typeface="Open Sans"/>
                <a:ea typeface="Open Sans"/>
                <a:cs typeface="Open Sans"/>
                <a:sym typeface="Open Sans"/>
              </a:rPr>
              <a:t>portarse bien no es otra que las consecuencias desagradables que le esperan por el</a:t>
            </a:r>
          </a:p>
          <a:p>
            <a:pPr algn="just">
              <a:lnSpc>
                <a:spcPts val="4200"/>
              </a:lnSpc>
            </a:pPr>
            <a:r>
              <a:rPr lang="en-US" sz="3000">
                <a:solidFill>
                  <a:srgbClr val="131416"/>
                </a:solidFill>
                <a:latin typeface="Open Sans"/>
                <a:ea typeface="Open Sans"/>
                <a:cs typeface="Open Sans"/>
                <a:sym typeface="Open Sans"/>
              </a:rPr>
              <a:t>poder que tiene sobre él, al no portarse bien.</a:t>
            </a:r>
          </a:p>
          <a:p>
            <a:pPr algn="just">
              <a:lnSpc>
                <a:spcPts val="4200"/>
              </a:lnSpc>
            </a:pPr>
          </a:p>
        </p:txBody>
      </p:sp>
    </p:spTree>
  </p:cSld>
  <p:clrMapOvr>
    <a:masterClrMapping/>
  </p:clrMapOvr>
</p:sld>
</file>

<file path=ppt/slides/slide2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ARGUMENTO POR IGNORANCIA</a:t>
            </a:r>
          </a:p>
        </p:txBody>
      </p:sp>
      <p:sp>
        <p:nvSpPr>
          <p:cNvPr name="TextBox 3" id="3"/>
          <p:cNvSpPr txBox="true"/>
          <p:nvPr/>
        </p:nvSpPr>
        <p:spPr>
          <a:xfrm rot="0">
            <a:off x="559774" y="1659007"/>
            <a:ext cx="16126564" cy="6381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se comete cuando se pretende establecer la verdad de un enunciado, a partir del</a:t>
            </a:r>
            <a:r>
              <a:rPr lang="en-US" sz="3000">
                <a:solidFill>
                  <a:srgbClr val="131416"/>
                </a:solidFill>
                <a:latin typeface="Open Sans"/>
                <a:ea typeface="Open Sans"/>
                <a:cs typeface="Open Sans"/>
                <a:sym typeface="Open Sans"/>
              </a:rPr>
              <a:t> hecho de no poder demostrar su falsedad, o de catalogarlo de falso, porque no se ha podido establecer su verdad.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El teorema de las palabras siempre ha sido válido dentro de la geometría euclidiana;</a:t>
            </a:r>
          </a:p>
          <a:p>
            <a:pPr algn="just">
              <a:lnSpc>
                <a:spcPts val="4200"/>
              </a:lnSpc>
            </a:pPr>
            <a:r>
              <a:rPr lang="en-US" sz="3000">
                <a:solidFill>
                  <a:srgbClr val="131416"/>
                </a:solidFill>
                <a:latin typeface="Open Sans"/>
                <a:ea typeface="Open Sans"/>
                <a:cs typeface="Open Sans"/>
                <a:sym typeface="Open Sans"/>
              </a:rPr>
              <a:t>por lo tanto, no puede ser inválido.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El hecho de que el teorema de las paralelas se acepte como válido en el sistema de</a:t>
            </a:r>
          </a:p>
          <a:p>
            <a:pPr algn="just">
              <a:lnSpc>
                <a:spcPts val="4200"/>
              </a:lnSpc>
            </a:pPr>
            <a:r>
              <a:rPr lang="en-US" sz="3000">
                <a:solidFill>
                  <a:srgbClr val="131416"/>
                </a:solidFill>
                <a:latin typeface="Open Sans"/>
                <a:ea typeface="Open Sans"/>
                <a:cs typeface="Open Sans"/>
                <a:sym typeface="Open Sans"/>
              </a:rPr>
              <a:t>Euclides, no quiere decir que no pueda ser inválido en el futuro, ni tampoco válido. La</a:t>
            </a:r>
          </a:p>
          <a:p>
            <a:pPr algn="just">
              <a:lnSpc>
                <a:spcPts val="4200"/>
              </a:lnSpc>
            </a:pPr>
            <a:r>
              <a:rPr lang="en-US" sz="3000">
                <a:solidFill>
                  <a:srgbClr val="131416"/>
                </a:solidFill>
                <a:latin typeface="Open Sans"/>
                <a:ea typeface="Open Sans"/>
                <a:cs typeface="Open Sans"/>
                <a:sym typeface="Open Sans"/>
              </a:rPr>
              <a:t>conexión lógica sería que hasta ahora y dentro de los límites del sistema euclidiano, el</a:t>
            </a:r>
          </a:p>
          <a:p>
            <a:pPr algn="just">
              <a:lnSpc>
                <a:spcPts val="4200"/>
              </a:lnSpc>
            </a:pPr>
            <a:r>
              <a:rPr lang="en-US" sz="3000">
                <a:solidFill>
                  <a:srgbClr val="131416"/>
                </a:solidFill>
                <a:latin typeface="Open Sans"/>
                <a:ea typeface="Open Sans"/>
                <a:cs typeface="Open Sans"/>
                <a:sym typeface="Open Sans"/>
              </a:rPr>
              <a:t>teorema es válido.</a:t>
            </a:r>
          </a:p>
          <a:p>
            <a:pPr algn="just">
              <a:lnSpc>
                <a:spcPts val="4200"/>
              </a:lnSpc>
            </a:pPr>
          </a:p>
        </p:txBody>
      </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LLAMADO A LA PIEDAD</a:t>
            </a:r>
          </a:p>
        </p:txBody>
      </p:sp>
      <p:sp>
        <p:nvSpPr>
          <p:cNvPr name="TextBox 3" id="3"/>
          <p:cNvSpPr txBox="true"/>
          <p:nvPr/>
        </p:nvSpPr>
        <p:spPr>
          <a:xfrm rot="0">
            <a:off x="1080718" y="1922382"/>
            <a:ext cx="16126564" cy="53149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clase de falacia se comete cuando se pretende validar o demostrar una</a:t>
            </a:r>
          </a:p>
          <a:p>
            <a:pPr algn="just">
              <a:lnSpc>
                <a:spcPts val="4200"/>
              </a:lnSpc>
            </a:pPr>
            <a:r>
              <a:rPr lang="en-US" sz="3000">
                <a:solidFill>
                  <a:srgbClr val="131416"/>
                </a:solidFill>
                <a:latin typeface="Open Sans"/>
                <a:ea typeface="Open Sans"/>
                <a:cs typeface="Open Sans"/>
                <a:sym typeface="Open Sans"/>
              </a:rPr>
              <a:t>tesis a través de los</a:t>
            </a:r>
            <a:r>
              <a:rPr lang="en-US" sz="3000">
                <a:solidFill>
                  <a:srgbClr val="131416"/>
                </a:solidFill>
                <a:latin typeface="Open Sans"/>
                <a:ea typeface="Open Sans"/>
                <a:cs typeface="Open Sans"/>
                <a:sym typeface="Open Sans"/>
              </a:rPr>
              <a:t> sentimientos de las personas. La conexión psicológica está en que</a:t>
            </a:r>
          </a:p>
          <a:p>
            <a:pPr algn="just">
              <a:lnSpc>
                <a:spcPts val="4200"/>
              </a:lnSpc>
            </a:pPr>
            <a:r>
              <a:rPr lang="en-US" sz="3000">
                <a:solidFill>
                  <a:srgbClr val="131416"/>
                </a:solidFill>
                <a:latin typeface="Open Sans"/>
                <a:ea typeface="Open Sans"/>
                <a:cs typeface="Open Sans"/>
                <a:sym typeface="Open Sans"/>
              </a:rPr>
              <a:t>se pretende que las personas acepten una tesis apelando a sus buenos sentimientos.</a:t>
            </a:r>
          </a:p>
          <a:p>
            <a:pPr algn="just">
              <a:lnSpc>
                <a:spcPts val="4200"/>
              </a:lnSpc>
            </a:pPr>
            <a:r>
              <a:rPr lang="en-US" sz="3000">
                <a:solidFill>
                  <a:srgbClr val="131416"/>
                </a:solidFill>
                <a:latin typeface="Open Sans"/>
                <a:ea typeface="Open Sans"/>
                <a:cs typeface="Open Sans"/>
                <a:sym typeface="Open Sans"/>
              </a:rPr>
              <a:t>Una tesis es válida independientemente de los sentimientos que pueda despertar.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“La teoría del científico Fulano de Tal es válida pues, el pobre tuvo que trabajar mucho</a:t>
            </a:r>
          </a:p>
          <a:p>
            <a:pPr algn="just">
              <a:lnSpc>
                <a:spcPts val="4200"/>
              </a:lnSpc>
            </a:pPr>
            <a:r>
              <a:rPr lang="en-US" sz="3000">
                <a:solidFill>
                  <a:srgbClr val="131416"/>
                </a:solidFill>
                <a:latin typeface="Open Sans"/>
                <a:ea typeface="Open Sans"/>
                <a:cs typeface="Open Sans"/>
                <a:sym typeface="Open Sans"/>
              </a:rPr>
              <a:t>para obtener el financiamiento para su trabajo.” Se pretende validar la teoría del científico, tratando de despertar sentimientos de piedad o simpatía hacia él.</a:t>
            </a:r>
          </a:p>
          <a:p>
            <a:pPr algn="just">
              <a:lnSpc>
                <a:spcPts val="4200"/>
              </a:lnSpc>
            </a:pP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ACEPTACIÓN POPULAR</a:t>
            </a:r>
          </a:p>
        </p:txBody>
      </p:sp>
      <p:sp>
        <p:nvSpPr>
          <p:cNvPr name="TextBox 3" id="3"/>
          <p:cNvSpPr txBox="true"/>
          <p:nvPr/>
        </p:nvSpPr>
        <p:spPr>
          <a:xfrm rot="0">
            <a:off x="1080718" y="1922382"/>
            <a:ext cx="16126564" cy="42481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es el arma favorita de persuasión del político, el demagogo, el vendedor, etc. Consiste en que se pretende validar ciertas tesis a par</a:t>
            </a:r>
            <a:r>
              <a:rPr lang="en-US" sz="3000">
                <a:solidFill>
                  <a:srgbClr val="131416"/>
                </a:solidFill>
                <a:latin typeface="Open Sans"/>
                <a:ea typeface="Open Sans"/>
                <a:cs typeface="Open Sans"/>
                <a:sym typeface="Open Sans"/>
              </a:rPr>
              <a:t>tir de la persuasión y no de la demostración. Se trata de lograr el asentamiento popular mediante llamados emocionales a la masa y no a través de razones lógicas.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“Los productos de belleza modernos son fisiológicamente adecuados, porque hace</a:t>
            </a:r>
          </a:p>
          <a:p>
            <a:pPr algn="just">
              <a:lnSpc>
                <a:spcPts val="4200"/>
              </a:lnSpc>
            </a:pPr>
            <a:r>
              <a:rPr lang="en-US" sz="3000">
                <a:solidFill>
                  <a:srgbClr val="131416"/>
                </a:solidFill>
                <a:latin typeface="Open Sans"/>
                <a:ea typeface="Open Sans"/>
                <a:cs typeface="Open Sans"/>
                <a:sym typeface="Open Sans"/>
              </a:rPr>
              <a:t>lucir bellas y atractivas a las mujeres. Además, si queremos estar a la moda, los</a:t>
            </a:r>
          </a:p>
          <a:p>
            <a:pPr algn="just">
              <a:lnSpc>
                <a:spcPts val="4200"/>
              </a:lnSpc>
            </a:pPr>
            <a:r>
              <a:rPr lang="en-US" sz="3000">
                <a:solidFill>
                  <a:srgbClr val="131416"/>
                </a:solidFill>
                <a:latin typeface="Open Sans"/>
                <a:ea typeface="Open Sans"/>
                <a:cs typeface="Open Sans"/>
                <a:sym typeface="Open Sans"/>
              </a:rPr>
              <a:t>productos de belleza son indispensables”</a:t>
            </a: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APELACIÓN A LA AUTORIDAD</a:t>
            </a:r>
          </a:p>
        </p:txBody>
      </p:sp>
      <p:sp>
        <p:nvSpPr>
          <p:cNvPr name="TextBox 3" id="3"/>
          <p:cNvSpPr txBox="true"/>
          <p:nvPr/>
        </p:nvSpPr>
        <p:spPr>
          <a:xfrm rot="0">
            <a:off x="1080718" y="1922382"/>
            <a:ext cx="16126564" cy="47815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Consiste en admitir como verdaderas las proposiciones, sólo porque éstas provienen de pensadores de renombrado pres</a:t>
            </a:r>
            <a:r>
              <a:rPr lang="en-US" sz="3000">
                <a:solidFill>
                  <a:srgbClr val="131416"/>
                </a:solidFill>
                <a:latin typeface="Open Sans"/>
                <a:ea typeface="Open Sans"/>
                <a:cs typeface="Open Sans"/>
                <a:sym typeface="Open Sans"/>
              </a:rPr>
              <a:t>tigio intelectual o la autoridad administrativa o civil. Se comete esta falacia cuando se cita a una autoridad en cuestiones que están fuera del ámbito de su especialidad.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“Con los trabajos sobre física que Einstein realizó, especialmente con su Teoría de la relatividad, ha demostrado ser uno de los sabios más grandes de nuestra historia; por ello, sus opiniones sobre política internacional, como la creación de un organismo mundial de gobierno, tiene que ser verdaderas”</a:t>
            </a: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LA CAUSA FALSA</a:t>
            </a:r>
          </a:p>
        </p:txBody>
      </p:sp>
      <p:sp>
        <p:nvSpPr>
          <p:cNvPr name="TextBox 3" id="3"/>
          <p:cNvSpPr txBox="true"/>
          <p:nvPr/>
        </p:nvSpPr>
        <p:spPr>
          <a:xfrm rot="0">
            <a:off x="1080718" y="1922382"/>
            <a:ext cx="16126564" cy="69151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 aquella falacia en la que establecemos relaciones causales, a partir de la observación de unos hechos que son anteriores a otros, o que se presen</a:t>
            </a:r>
            <a:r>
              <a:rPr lang="en-US" sz="3000">
                <a:solidFill>
                  <a:srgbClr val="131416"/>
                </a:solidFill>
                <a:latin typeface="Open Sans"/>
                <a:ea typeface="Open Sans"/>
                <a:cs typeface="Open Sans"/>
                <a:sym typeface="Open Sans"/>
              </a:rPr>
              <a:t>tan en forma conjunta, por lo que a unos le asignamos el carácter de causa y a otros el de efecto. Sin embargo, esto no es suficiente para establecer una relación causal.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“Pasteur asistió, en una ocasión a la cura de un rebaño de vacas que estaban enfermas</a:t>
            </a:r>
          </a:p>
          <a:p>
            <a:pPr algn="just">
              <a:lnSpc>
                <a:spcPts val="4200"/>
              </a:lnSpc>
            </a:pPr>
            <a:r>
              <a:rPr lang="en-US" sz="3000">
                <a:solidFill>
                  <a:srgbClr val="131416"/>
                </a:solidFill>
                <a:latin typeface="Open Sans"/>
                <a:ea typeface="Open Sans"/>
                <a:cs typeface="Open Sans"/>
                <a:sym typeface="Open Sans"/>
              </a:rPr>
              <a:t>de ántrax. Los campesinos sometieron a los animales al proceso doloroso de infringirse</a:t>
            </a:r>
          </a:p>
          <a:p>
            <a:pPr algn="just">
              <a:lnSpc>
                <a:spcPts val="4200"/>
              </a:lnSpc>
            </a:pPr>
            <a:r>
              <a:rPr lang="en-US" sz="3000">
                <a:solidFill>
                  <a:srgbClr val="131416"/>
                </a:solidFill>
                <a:latin typeface="Open Sans"/>
                <a:ea typeface="Open Sans"/>
                <a:cs typeface="Open Sans"/>
                <a:sym typeface="Open Sans"/>
              </a:rPr>
              <a:t>heridas en todo el cuerpo, a fin de que, por medio de la sangre, les saliera el mal. De estos animales, muchas sanaron, por lo tanto, supusieron que el procedimiento era adecuado para cura del mal. Sin embargo, años más tarde se llegó a demostrar que la cura era simplemente estadística. Los que sanaron lo hubieran hecho de todas maneras, aunque no los hubieran sometido al tratamiento, pues la única cura solo es posible mediante el tratamiento contra el microbio que causa tal enfermedad”.</a:t>
            </a:r>
          </a:p>
        </p:txBody>
      </p:sp>
    </p:spTree>
  </p:cSld>
  <p:clrMapOvr>
    <a:masterClrMapping/>
  </p:clrMapOvr>
</p:sld>
</file>

<file path=ppt/slides/slide3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LA PREGUNTA COMPLEJA</a:t>
            </a:r>
          </a:p>
        </p:txBody>
      </p:sp>
      <p:sp>
        <p:nvSpPr>
          <p:cNvPr name="TextBox 3" id="3"/>
          <p:cNvSpPr txBox="true"/>
          <p:nvPr/>
        </p:nvSpPr>
        <p:spPr>
          <a:xfrm rot="0">
            <a:off x="1080718" y="1922382"/>
            <a:ext cx="16126564" cy="53149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se comete cuando se exige, en una pregunta, una respuesta categórica de un “si” o un “no”, cuando, en realidad, ya sea que se conteste con </a:t>
            </a:r>
            <a:r>
              <a:rPr lang="en-US" sz="3000">
                <a:solidFill>
                  <a:srgbClr val="131416"/>
                </a:solidFill>
                <a:latin typeface="Open Sans"/>
                <a:ea typeface="Open Sans"/>
                <a:cs typeface="Open Sans"/>
                <a:sym typeface="Open Sans"/>
              </a:rPr>
              <a:t>alguna de estas opciones, la respuesta siempre es la misma. Esto sucede porque la pregunta que está formulando es compleja (supone otras preguntas anteriores) y se toma como simple. </a:t>
            </a:r>
            <a:r>
              <a:rPr lang="en-US" sz="3000" b="true">
                <a:solidFill>
                  <a:srgbClr val="FF3131"/>
                </a:solidFill>
                <a:latin typeface="Open Sans Bold"/>
                <a:ea typeface="Open Sans Bold"/>
                <a:cs typeface="Open Sans Bold"/>
                <a:sym typeface="Open Sans Bold"/>
              </a:rPr>
              <a:t>Ejemplo:</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¿Es usted un revolucionario progresista o un reaccionario conservador?</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La respuesta está insinuada de algún modo, en la pregunta misma, pues no deja otras alternativas reales o razonables. Faltaría dilucidar preguntas cómo ¿Es un conservador realmente reaccionario? ¿Qué es un reaccionario? Y otras por el estilo.</a:t>
            </a:r>
          </a:p>
        </p:txBody>
      </p:sp>
    </p:spTree>
  </p:cSld>
  <p:clrMapOvr>
    <a:masterClrMapping/>
  </p:clrMapOvr>
</p:sld>
</file>

<file path=ppt/slides/slide3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FALACIAS DE ANTIGUEDAD</a:t>
            </a:r>
          </a:p>
        </p:txBody>
      </p:sp>
      <p:sp>
        <p:nvSpPr>
          <p:cNvPr name="TextBox 3" id="3"/>
          <p:cNvSpPr txBox="true"/>
          <p:nvPr/>
        </p:nvSpPr>
        <p:spPr>
          <a:xfrm rot="0">
            <a:off x="1080718" y="1922382"/>
            <a:ext cx="16126564" cy="3714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Estas se pueden clasificar de la siguiente manera: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Equívoco</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Anfibología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El Énfasis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Composición</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La División</a:t>
            </a:r>
          </a:p>
          <a:p>
            <a:pPr algn="just">
              <a:lnSpc>
                <a:spcPts val="4200"/>
              </a:lnSpc>
            </a:pP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1500" y="74644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EL EQUIVOCO</a:t>
            </a:r>
          </a:p>
        </p:txBody>
      </p:sp>
      <p:sp>
        <p:nvSpPr>
          <p:cNvPr name="TextBox 3" id="3"/>
          <p:cNvSpPr txBox="true"/>
          <p:nvPr/>
        </p:nvSpPr>
        <p:spPr>
          <a:xfrm rot="0">
            <a:off x="786547" y="1595082"/>
            <a:ext cx="16126564" cy="3181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la podemos cometer de varias formas: una, cuando un término que tiene</a:t>
            </a:r>
          </a:p>
          <a:p>
            <a:pPr algn="just">
              <a:lnSpc>
                <a:spcPts val="4200"/>
              </a:lnSpc>
            </a:pPr>
            <a:r>
              <a:rPr lang="en-US" sz="3000">
                <a:solidFill>
                  <a:srgbClr val="131416"/>
                </a:solidFill>
                <a:latin typeface="Open Sans"/>
                <a:ea typeface="Open Sans"/>
                <a:cs typeface="Open Sans"/>
                <a:sym typeface="Open Sans"/>
              </a:rPr>
              <a:t>dos significados, se le usa como si tuviera so</a:t>
            </a:r>
            <a:r>
              <a:rPr lang="en-US" sz="3000">
                <a:solidFill>
                  <a:srgbClr val="131416"/>
                </a:solidFill>
                <a:latin typeface="Open Sans"/>
                <a:ea typeface="Open Sans"/>
                <a:cs typeface="Open Sans"/>
                <a:sym typeface="Open Sans"/>
              </a:rPr>
              <a:t>lo uno; otra, cuando se usan términos que</a:t>
            </a:r>
          </a:p>
          <a:p>
            <a:pPr algn="just">
              <a:lnSpc>
                <a:spcPts val="4200"/>
              </a:lnSpc>
            </a:pPr>
            <a:r>
              <a:rPr lang="en-US" sz="3000">
                <a:solidFill>
                  <a:srgbClr val="131416"/>
                </a:solidFill>
                <a:latin typeface="Open Sans"/>
                <a:ea typeface="Open Sans"/>
                <a:cs typeface="Open Sans"/>
                <a:sym typeface="Open Sans"/>
              </a:rPr>
              <a:t>son relativos al contexto en que se están usando y se les toma en forma absoluta.</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“El pez martillo debe ser muy industrioso, pues sabe usar herramientas”</a:t>
            </a:r>
          </a:p>
        </p:txBody>
      </p:sp>
      <p:sp>
        <p:nvSpPr>
          <p:cNvPr name="TextBox 4" id="4"/>
          <p:cNvSpPr txBox="true"/>
          <p:nvPr/>
        </p:nvSpPr>
        <p:spPr>
          <a:xfrm rot="0">
            <a:off x="786547" y="561808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LA ANFIBIOLOGÍA</a:t>
            </a:r>
          </a:p>
        </p:txBody>
      </p:sp>
      <p:sp>
        <p:nvSpPr>
          <p:cNvPr name="TextBox 5" id="5"/>
          <p:cNvSpPr txBox="true"/>
          <p:nvPr/>
        </p:nvSpPr>
        <p:spPr>
          <a:xfrm rot="0">
            <a:off x="786547" y="6354790"/>
            <a:ext cx="16126564" cy="3181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Consiste en estructurar el razonamiento de tal manera que su interpretación sea</a:t>
            </a:r>
          </a:p>
          <a:p>
            <a:pPr algn="just">
              <a:lnSpc>
                <a:spcPts val="4200"/>
              </a:lnSpc>
            </a:pPr>
            <a:r>
              <a:rPr lang="en-US" sz="3000">
                <a:solidFill>
                  <a:srgbClr val="131416"/>
                </a:solidFill>
                <a:latin typeface="Open Sans"/>
                <a:ea typeface="Open Sans"/>
                <a:cs typeface="Open Sans"/>
                <a:sym typeface="Open Sans"/>
              </a:rPr>
              <a:t>ambigua, puede interpretarse de</a:t>
            </a:r>
            <a:r>
              <a:rPr lang="en-US" sz="3000">
                <a:solidFill>
                  <a:srgbClr val="131416"/>
                </a:solidFill>
                <a:latin typeface="Open Sans"/>
                <a:ea typeface="Open Sans"/>
                <a:cs typeface="Open Sans"/>
                <a:sym typeface="Open Sans"/>
              </a:rPr>
              <a:t> una y otra forma y no existe manera de aclarar cuál</a:t>
            </a:r>
          </a:p>
          <a:p>
            <a:pPr algn="just">
              <a:lnSpc>
                <a:spcPts val="4200"/>
              </a:lnSpc>
            </a:pPr>
            <a:r>
              <a:rPr lang="en-US" sz="3000">
                <a:solidFill>
                  <a:srgbClr val="131416"/>
                </a:solidFill>
                <a:latin typeface="Open Sans"/>
                <a:ea typeface="Open Sans"/>
                <a:cs typeface="Open Sans"/>
                <a:sym typeface="Open Sans"/>
              </a:rPr>
              <a:t>es la forma adecuada; no se sabe exactamente lo que se está diciendo.</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“El género hombre comprende a la mujer”</a:t>
            </a: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71500" y="74644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EL ÉNFASIS</a:t>
            </a:r>
          </a:p>
        </p:txBody>
      </p:sp>
      <p:sp>
        <p:nvSpPr>
          <p:cNvPr name="TextBox 3" id="3"/>
          <p:cNvSpPr txBox="true"/>
          <p:nvPr/>
        </p:nvSpPr>
        <p:spPr>
          <a:xfrm rot="0">
            <a:off x="786547" y="1595082"/>
            <a:ext cx="16126564" cy="31813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Se comete esta falacia, cuando se destacan ciertos aspectos de la redacción del razonamiento o proposición, mediante las comillas, co</a:t>
            </a:r>
            <a:r>
              <a:rPr lang="en-US" sz="3000">
                <a:solidFill>
                  <a:srgbClr val="131416"/>
                </a:solidFill>
                <a:latin typeface="Open Sans"/>
                <a:ea typeface="Open Sans"/>
                <a:cs typeface="Open Sans"/>
                <a:sym typeface="Open Sans"/>
              </a:rPr>
              <a:t>n lo cual se le da un significado diferente a que si no se utilizarán dichos recursos tipográficos.</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Los filósofos creen ser unos “Sabios”.</a:t>
            </a:r>
          </a:p>
        </p:txBody>
      </p:sp>
      <p:sp>
        <p:nvSpPr>
          <p:cNvPr name="TextBox 4" id="4"/>
          <p:cNvSpPr txBox="true"/>
          <p:nvPr/>
        </p:nvSpPr>
        <p:spPr>
          <a:xfrm rot="0">
            <a:off x="786547" y="561808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LA COMPOSICIÓN</a:t>
            </a:r>
          </a:p>
        </p:txBody>
      </p:sp>
      <p:sp>
        <p:nvSpPr>
          <p:cNvPr name="TextBox 5" id="5"/>
          <p:cNvSpPr txBox="true"/>
          <p:nvPr/>
        </p:nvSpPr>
        <p:spPr>
          <a:xfrm rot="0">
            <a:off x="786547" y="6336943"/>
            <a:ext cx="16126564" cy="3714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Esta falacia llamada también falsa generalización, se comete en dos formas:</a:t>
            </a:r>
            <a:r>
              <a:rPr lang="en-US" sz="3000">
                <a:solidFill>
                  <a:srgbClr val="131416"/>
                </a:solidFill>
                <a:latin typeface="Open Sans"/>
                <a:ea typeface="Open Sans"/>
                <a:cs typeface="Open Sans"/>
                <a:sym typeface="Open Sans"/>
              </a:rPr>
              <a:t> una, cuando la o las propiedades de las partes de un todo se le asigna a ese todo; y la otra, cuando se pretende predicar un mismo atributo colectivo como distributivamente a una misma clase de objeto.</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“La pirámide está formada por triángulos; por lo tanto, la pirámide es un triángulo”</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61635" y="746442"/>
            <a:ext cx="15884411" cy="5454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LA DIVISIÓN</a:t>
            </a:r>
          </a:p>
        </p:txBody>
      </p:sp>
      <p:sp>
        <p:nvSpPr>
          <p:cNvPr name="TextBox 3" id="3"/>
          <p:cNvSpPr txBox="true"/>
          <p:nvPr/>
        </p:nvSpPr>
        <p:spPr>
          <a:xfrm rot="0">
            <a:off x="861635" y="1632626"/>
            <a:ext cx="16126564" cy="3714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La falacia por división se comete por razones inversas a la composición. Se pretende</a:t>
            </a:r>
          </a:p>
          <a:p>
            <a:pPr algn="just">
              <a:lnSpc>
                <a:spcPts val="4200"/>
              </a:lnSpc>
            </a:pPr>
            <a:r>
              <a:rPr lang="en-US" sz="3000">
                <a:solidFill>
                  <a:srgbClr val="131416"/>
                </a:solidFill>
                <a:latin typeface="Open Sans"/>
                <a:ea typeface="Open Sans"/>
                <a:cs typeface="Open Sans"/>
                <a:sym typeface="Open Sans"/>
              </a:rPr>
              <a:t>que lo que se predica del conjunto, necesariamente debe predicarse de</a:t>
            </a:r>
            <a:r>
              <a:rPr lang="en-US" sz="3000">
                <a:solidFill>
                  <a:srgbClr val="131416"/>
                </a:solidFill>
                <a:latin typeface="Open Sans"/>
                <a:ea typeface="Open Sans"/>
                <a:cs typeface="Open Sans"/>
                <a:sym typeface="Open Sans"/>
              </a:rPr>
              <a:t> la parte. Esto</a:t>
            </a:r>
          </a:p>
          <a:p>
            <a:pPr algn="just">
              <a:lnSpc>
                <a:spcPts val="4200"/>
              </a:lnSpc>
            </a:pPr>
            <a:r>
              <a:rPr lang="en-US" sz="3000">
                <a:solidFill>
                  <a:srgbClr val="131416"/>
                </a:solidFill>
                <a:latin typeface="Open Sans"/>
                <a:ea typeface="Open Sans"/>
                <a:cs typeface="Open Sans"/>
                <a:sym typeface="Open Sans"/>
              </a:rPr>
              <a:t>es inválido, ya que podemos predicar sobre un conjunto, pero es predicado no se aplica</a:t>
            </a:r>
          </a:p>
          <a:p>
            <a:pPr algn="just">
              <a:lnSpc>
                <a:spcPts val="4200"/>
              </a:lnSpc>
            </a:pPr>
            <a:r>
              <a:rPr lang="en-US" sz="3000">
                <a:solidFill>
                  <a:srgbClr val="131416"/>
                </a:solidFill>
                <a:latin typeface="Open Sans"/>
                <a:ea typeface="Open Sans"/>
                <a:cs typeface="Open Sans"/>
                <a:sym typeface="Open Sans"/>
              </a:rPr>
              <a:t>necesariamente a una de las partes.</a:t>
            </a:r>
          </a:p>
          <a:p>
            <a:pPr algn="just">
              <a:lnSpc>
                <a:spcPts val="4200"/>
              </a:lnSpc>
            </a:pPr>
          </a:p>
          <a:p>
            <a:pPr algn="just">
              <a:lnSpc>
                <a:spcPts val="4200"/>
              </a:lnSpc>
            </a:pPr>
            <a:r>
              <a:rPr lang="en-US" b="true" sz="3000">
                <a:solidFill>
                  <a:srgbClr val="FF3131"/>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“Los números naturales son infinitos; por lo tanto, el número dos es infinitas”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153211" y="4358922"/>
            <a:ext cx="11301259" cy="6074427"/>
          </a:xfrm>
          <a:custGeom>
            <a:avLst/>
            <a:gdLst/>
            <a:ahLst/>
            <a:cxnLst/>
            <a:rect r="r" b="b" t="t" l="l"/>
            <a:pathLst>
              <a:path h="6074427" w="11301259">
                <a:moveTo>
                  <a:pt x="0" y="0"/>
                </a:moveTo>
                <a:lnTo>
                  <a:pt x="11301259" y="0"/>
                </a:lnTo>
                <a:lnTo>
                  <a:pt x="11301259" y="6074427"/>
                </a:lnTo>
                <a:lnTo>
                  <a:pt x="0" y="6074427"/>
                </a:lnTo>
                <a:lnTo>
                  <a:pt x="0" y="0"/>
                </a:lnTo>
                <a:close/>
              </a:path>
            </a:pathLst>
          </a:custGeom>
          <a:blipFill>
            <a:blip r:embed="rId2"/>
            <a:stretch>
              <a:fillRect l="0" t="0" r="0" b="0"/>
            </a:stretch>
          </a:blipFill>
        </p:spPr>
      </p:sp>
      <p:sp>
        <p:nvSpPr>
          <p:cNvPr name="TextBox 3" id="3"/>
          <p:cNvSpPr txBox="true"/>
          <p:nvPr/>
        </p:nvSpPr>
        <p:spPr>
          <a:xfrm rot="0">
            <a:off x="861635" y="746442"/>
            <a:ext cx="15884411" cy="1040765"/>
          </a:xfrm>
          <a:prstGeom prst="rect">
            <a:avLst/>
          </a:prstGeom>
        </p:spPr>
        <p:txBody>
          <a:bodyPr anchor="t" rtlCol="false" tIns="0" lIns="0" bIns="0" rIns="0">
            <a:spAutoFit/>
          </a:bodyPr>
          <a:lstStyle/>
          <a:p>
            <a:pPr algn="l">
              <a:lnSpc>
                <a:spcPts val="3955"/>
              </a:lnSpc>
            </a:pPr>
            <a:r>
              <a:rPr lang="en-US" sz="3500">
                <a:solidFill>
                  <a:srgbClr val="2F5492"/>
                </a:solidFill>
                <a:latin typeface="Horizon"/>
                <a:ea typeface="Horizon"/>
                <a:cs typeface="Horizon"/>
                <a:sym typeface="Horizon"/>
              </a:rPr>
              <a:t>ESTRATEGIAS PARA RESOLUCIÓN DE PROBLEMAS</a:t>
            </a:r>
          </a:p>
        </p:txBody>
      </p:sp>
      <p:sp>
        <p:nvSpPr>
          <p:cNvPr name="TextBox 4" id="4"/>
          <p:cNvSpPr txBox="true"/>
          <p:nvPr/>
        </p:nvSpPr>
        <p:spPr>
          <a:xfrm rot="0">
            <a:off x="861635" y="2244372"/>
            <a:ext cx="16126564" cy="21145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1. Comprender el problema</a:t>
            </a:r>
          </a:p>
          <a:p>
            <a:pPr algn="just">
              <a:lnSpc>
                <a:spcPts val="4200"/>
              </a:lnSpc>
            </a:pPr>
            <a:r>
              <a:rPr lang="en-US" sz="3000">
                <a:solidFill>
                  <a:srgbClr val="131416"/>
                </a:solidFill>
                <a:latin typeface="Open Sans"/>
                <a:ea typeface="Open Sans"/>
                <a:cs typeface="Open Sans"/>
                <a:sym typeface="Open Sans"/>
              </a:rPr>
              <a:t>2</a:t>
            </a:r>
            <a:r>
              <a:rPr lang="en-US" sz="3000">
                <a:solidFill>
                  <a:srgbClr val="131416"/>
                </a:solidFill>
                <a:latin typeface="Open Sans"/>
                <a:ea typeface="Open Sans"/>
                <a:cs typeface="Open Sans"/>
                <a:sym typeface="Open Sans"/>
              </a:rPr>
              <a:t>. Formular un plan</a:t>
            </a:r>
          </a:p>
          <a:p>
            <a:pPr algn="just">
              <a:lnSpc>
                <a:spcPts val="4200"/>
              </a:lnSpc>
            </a:pPr>
            <a:r>
              <a:rPr lang="en-US" sz="3000">
                <a:solidFill>
                  <a:srgbClr val="131416"/>
                </a:solidFill>
                <a:latin typeface="Open Sans"/>
                <a:ea typeface="Open Sans"/>
                <a:cs typeface="Open Sans"/>
                <a:sym typeface="Open Sans"/>
              </a:rPr>
              <a:t>3. Ej</a:t>
            </a:r>
            <a:r>
              <a:rPr lang="en-US" sz="3000">
                <a:solidFill>
                  <a:srgbClr val="131416"/>
                </a:solidFill>
                <a:latin typeface="Open Sans"/>
                <a:ea typeface="Open Sans"/>
                <a:cs typeface="Open Sans"/>
                <a:sym typeface="Open Sans"/>
              </a:rPr>
              <a:t>ecutar un p</a:t>
            </a:r>
            <a:r>
              <a:rPr lang="en-US" sz="3000">
                <a:solidFill>
                  <a:srgbClr val="131416"/>
                </a:solidFill>
                <a:latin typeface="Open Sans"/>
                <a:ea typeface="Open Sans"/>
                <a:cs typeface="Open Sans"/>
                <a:sym typeface="Open Sans"/>
              </a:rPr>
              <a:t>l</a:t>
            </a:r>
            <a:r>
              <a:rPr lang="en-US" sz="3000">
                <a:solidFill>
                  <a:srgbClr val="131416"/>
                </a:solidFill>
                <a:latin typeface="Open Sans"/>
                <a:ea typeface="Open Sans"/>
                <a:cs typeface="Open Sans"/>
                <a:sym typeface="Open Sans"/>
              </a:rPr>
              <a:t>an</a:t>
            </a:r>
          </a:p>
          <a:p>
            <a:pPr algn="just">
              <a:lnSpc>
                <a:spcPts val="4200"/>
              </a:lnSpc>
            </a:pPr>
            <a:r>
              <a:rPr lang="en-US" sz="3000">
                <a:solidFill>
                  <a:srgbClr val="131416"/>
                </a:solidFill>
                <a:latin typeface="Open Sans"/>
                <a:ea typeface="Open Sans"/>
                <a:cs typeface="Open Sans"/>
                <a:sym typeface="Open Sans"/>
              </a:rPr>
              <a:t>4. Revisar y comprobar.</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5803381" y="4280604"/>
            <a:ext cx="6911332" cy="2216614"/>
          </a:xfrm>
          <a:prstGeom prst="rect">
            <a:avLst/>
          </a:prstGeom>
        </p:spPr>
        <p:txBody>
          <a:bodyPr anchor="t" rtlCol="false" tIns="0" lIns="0" bIns="0" rIns="0">
            <a:spAutoFit/>
          </a:bodyPr>
          <a:lstStyle/>
          <a:p>
            <a:pPr algn="ctr">
              <a:lnSpc>
                <a:spcPts val="4412"/>
              </a:lnSpc>
            </a:pPr>
            <a:r>
              <a:rPr lang="en-US" sz="3151">
                <a:solidFill>
                  <a:srgbClr val="131416"/>
                </a:solidFill>
                <a:latin typeface="Garet"/>
                <a:ea typeface="Garet"/>
                <a:cs typeface="Garet"/>
                <a:sym typeface="Garet"/>
              </a:rPr>
              <a:t>Recuerda que hay que dar crédito a las personas de las cuales te has basado para generar tu presentación  </a:t>
            </a:r>
          </a:p>
        </p:txBody>
      </p:sp>
      <p:sp>
        <p:nvSpPr>
          <p:cNvPr name="Freeform 4" id="4"/>
          <p:cNvSpPr/>
          <p:nvPr/>
        </p:nvSpPr>
        <p:spPr>
          <a:xfrm flipH="false" flipV="false" rot="0">
            <a:off x="13447195" y="5334021"/>
            <a:ext cx="4626468" cy="4575998"/>
          </a:xfrm>
          <a:custGeom>
            <a:avLst/>
            <a:gdLst/>
            <a:ahLst/>
            <a:cxnLst/>
            <a:rect r="r" b="b" t="t" l="l"/>
            <a:pathLst>
              <a:path h="4575998" w="4626468">
                <a:moveTo>
                  <a:pt x="0" y="0"/>
                </a:moveTo>
                <a:lnTo>
                  <a:pt x="4626468" y="0"/>
                </a:lnTo>
                <a:lnTo>
                  <a:pt x="4626468" y="4575998"/>
                </a:lnTo>
                <a:lnTo>
                  <a:pt x="0" y="45759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4236857" y="6780527"/>
            <a:ext cx="3238236" cy="2110997"/>
          </a:xfrm>
          <a:prstGeom prst="rect">
            <a:avLst/>
          </a:prstGeom>
        </p:spPr>
        <p:txBody>
          <a:bodyPr anchor="t" rtlCol="false" tIns="0" lIns="0" bIns="0" rIns="0">
            <a:spAutoFit/>
          </a:bodyPr>
          <a:lstStyle/>
          <a:p>
            <a:pPr algn="l">
              <a:lnSpc>
                <a:spcPts val="2820"/>
              </a:lnSpc>
            </a:pPr>
            <a:r>
              <a:rPr lang="en-US" sz="2014">
                <a:solidFill>
                  <a:srgbClr val="131416"/>
                </a:solidFill>
                <a:latin typeface="Open Sans"/>
                <a:ea typeface="Open Sans"/>
                <a:cs typeface="Open Sans"/>
                <a:sym typeface="Open Sans"/>
              </a:rPr>
              <a:t>Colocaras la referencias que apliquen de aquel materia, bibliográfico o paginas de internet del cual te has basado para generar tu presentación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DAGoDFBh-cg</dc:identifier>
  <dcterms:modified xsi:type="dcterms:W3CDTF">2011-08-01T06:04:30Z</dcterms:modified>
  <cp:revision>1</cp:revision>
  <dc:title>Unidad 5: Razonamiento y falacias</dc:title>
</cp:coreProperties>
</file>