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Arial Bold" panose="020B0604020202020204" charset="0"/>
      <p:regular r:id="rId27"/>
    </p:embeddedFont>
    <p:embeddedFont>
      <p:font typeface="Garet" panose="020B0604020202020204" charset="0"/>
      <p:regular r:id="rId28"/>
    </p:embeddedFont>
    <p:embeddedFont>
      <p:font typeface="Garet Bold" panose="020B0604020202020204" charset="0"/>
      <p:regular r:id="rId29"/>
    </p:embeddedFont>
    <p:embeddedFont>
      <p:font typeface="Horizon" panose="020B0604020202020204" charset="0"/>
      <p:regular r:id="rId30"/>
    </p:embeddedFont>
    <p:embeddedFont>
      <p:font typeface="Open Sans" panose="020B0606030504020204" pitchFamily="34" charset="0"/>
      <p:regular r:id="rId31"/>
    </p:embeddedFont>
    <p:embeddedFont>
      <p:font typeface="Open Sans Bold" panose="020B0604020202020204" charset="0"/>
      <p:regular r:id="rId32"/>
    </p:embeddedFont>
    <p:embeddedFont>
      <p:font typeface="Playlist Script"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1" d="100"/>
          <a:sy n="71" d="100"/>
        </p:scale>
        <p:origin x="7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09860"/>
          </a:xfrm>
          <a:custGeom>
            <a:avLst/>
            <a:gdLst/>
            <a:ahLst/>
            <a:cxnLst/>
            <a:rect l="l" t="t" r="r" b="b"/>
            <a:pathLst>
              <a:path w="18288000" h="10309860">
                <a:moveTo>
                  <a:pt x="0" y="0"/>
                </a:moveTo>
                <a:lnTo>
                  <a:pt x="18288000" y="0"/>
                </a:lnTo>
                <a:lnTo>
                  <a:pt x="18288000" y="10309860"/>
                </a:lnTo>
                <a:lnTo>
                  <a:pt x="0" y="10309860"/>
                </a:lnTo>
                <a:lnTo>
                  <a:pt x="0" y="0"/>
                </a:lnTo>
                <a:close/>
              </a:path>
            </a:pathLst>
          </a:custGeom>
          <a:blipFill>
            <a:blip r:embed="rId2"/>
            <a:stretch>
              <a:fillRect/>
            </a:stretch>
          </a:blipFill>
          <a:ln cap="sq">
            <a:noFill/>
            <a:prstDash val="solid"/>
            <a:miter/>
          </a:ln>
        </p:spPr>
        <p:txBody>
          <a:bodyPr/>
          <a:lstStyle/>
          <a:p>
            <a:endParaRPr lang="es-GT"/>
          </a:p>
        </p:txBody>
      </p:sp>
      <p:graphicFrame>
        <p:nvGraphicFramePr>
          <p:cNvPr id="3" name="Table 3"/>
          <p:cNvGraphicFramePr>
            <a:graphicFrameLocks noGrp="1"/>
          </p:cNvGraphicFramePr>
          <p:nvPr/>
        </p:nvGraphicFramePr>
        <p:xfrm>
          <a:off x="8459661" y="2087779"/>
          <a:ext cx="9268438" cy="2162175"/>
        </p:xfrm>
        <a:graphic>
          <a:graphicData uri="http://schemas.openxmlformats.org/drawingml/2006/table">
            <a:tbl>
              <a:tblPr/>
              <a:tblGrid>
                <a:gridCol w="4350920">
                  <a:extLst>
                    <a:ext uri="{9D8B030D-6E8A-4147-A177-3AD203B41FA5}">
                      <a16:colId xmlns:a16="http://schemas.microsoft.com/office/drawing/2014/main" val="20000"/>
                    </a:ext>
                  </a:extLst>
                </a:gridCol>
                <a:gridCol w="4917518">
                  <a:extLst>
                    <a:ext uri="{9D8B030D-6E8A-4147-A177-3AD203B41FA5}">
                      <a16:colId xmlns:a16="http://schemas.microsoft.com/office/drawing/2014/main" val="20001"/>
                    </a:ext>
                  </a:extLst>
                </a:gridCol>
              </a:tblGrid>
              <a:tr h="1124719">
                <a:tc>
                  <a:txBody>
                    <a:bodyPr/>
                    <a:lstStyle/>
                    <a:p>
                      <a:pPr algn="ctr">
                        <a:lnSpc>
                          <a:spcPts val="4619"/>
                        </a:lnSpc>
                        <a:defRPr/>
                      </a:pPr>
                      <a:r>
                        <a:rPr lang="en-US" sz="3299" b="1">
                          <a:solidFill>
                            <a:srgbClr val="000000"/>
                          </a:solidFill>
                          <a:latin typeface="Arial Bold"/>
                          <a:ea typeface="Arial Bold"/>
                          <a:cs typeface="Arial Bold"/>
                          <a:sym typeface="Arial Bold"/>
                        </a:rPr>
                        <a:t>Dia, Fecha: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7456">
                <a:tc>
                  <a:txBody>
                    <a:bodyPr/>
                    <a:lstStyle/>
                    <a:p>
                      <a:pPr algn="ctr">
                        <a:lnSpc>
                          <a:spcPts val="3919"/>
                        </a:lnSpc>
                        <a:defRPr/>
                      </a:pPr>
                      <a:r>
                        <a:rPr lang="en-US" sz="2799" b="1">
                          <a:solidFill>
                            <a:srgbClr val="000000"/>
                          </a:solidFill>
                          <a:latin typeface="Garet Bold"/>
                          <a:ea typeface="Garet Bold"/>
                          <a:cs typeface="Garet Bold"/>
                          <a:sym typeface="Garet Bold"/>
                        </a:rPr>
                        <a:t>Hora de inicio: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4" name="Group 4"/>
          <p:cNvGrpSpPr/>
          <p:nvPr/>
        </p:nvGrpSpPr>
        <p:grpSpPr>
          <a:xfrm>
            <a:off x="1198672" y="5749011"/>
            <a:ext cx="8989218" cy="903931"/>
            <a:chOff x="0" y="0"/>
            <a:chExt cx="2367531" cy="238072"/>
          </a:xfrm>
        </p:grpSpPr>
        <p:sp>
          <p:nvSpPr>
            <p:cNvPr id="5" name="Freeform 5"/>
            <p:cNvSpPr/>
            <p:nvPr/>
          </p:nvSpPr>
          <p:spPr>
            <a:xfrm>
              <a:off x="0" y="0"/>
              <a:ext cx="2367530" cy="238072"/>
            </a:xfrm>
            <a:custGeom>
              <a:avLst/>
              <a:gdLst/>
              <a:ahLst/>
              <a:cxnLst/>
              <a:rect l="l" t="t" r="r" b="b"/>
              <a:pathLst>
                <a:path w="2367530" h="238072">
                  <a:moveTo>
                    <a:pt x="0" y="0"/>
                  </a:moveTo>
                  <a:lnTo>
                    <a:pt x="2367530" y="0"/>
                  </a:lnTo>
                  <a:lnTo>
                    <a:pt x="2367530" y="238072"/>
                  </a:lnTo>
                  <a:lnTo>
                    <a:pt x="0" y="238072"/>
                  </a:lnTo>
                  <a:close/>
                </a:path>
              </a:pathLst>
            </a:custGeom>
            <a:solidFill>
              <a:srgbClr val="FFF3C2"/>
            </a:solidFill>
          </p:spPr>
          <p:txBody>
            <a:bodyPr/>
            <a:lstStyle/>
            <a:p>
              <a:endParaRPr lang="es-GT"/>
            </a:p>
          </p:txBody>
        </p:sp>
        <p:sp>
          <p:nvSpPr>
            <p:cNvPr id="6" name="TextBox 6"/>
            <p:cNvSpPr txBox="1"/>
            <p:nvPr/>
          </p:nvSpPr>
          <p:spPr>
            <a:xfrm>
              <a:off x="0" y="-76200"/>
              <a:ext cx="2367531" cy="314272"/>
            </a:xfrm>
            <a:prstGeom prst="rect">
              <a:avLst/>
            </a:prstGeom>
          </p:spPr>
          <p:txBody>
            <a:bodyPr lIns="50800" tIns="50800" rIns="50800" bIns="50800" rtlCol="0" anchor="ctr"/>
            <a:lstStyle/>
            <a:p>
              <a:pPr algn="ctr">
                <a:lnSpc>
                  <a:spcPts val="5599"/>
                </a:lnSpc>
              </a:pPr>
              <a:r>
                <a:rPr lang="en-US" sz="3999" b="1">
                  <a:solidFill>
                    <a:srgbClr val="000000"/>
                  </a:solidFill>
                  <a:latin typeface="Open Sans Bold"/>
                  <a:ea typeface="Open Sans Bold"/>
                  <a:cs typeface="Open Sans Bold"/>
                  <a:sym typeface="Open Sans Bold"/>
                </a:rPr>
                <a:t>Lógica de Sistemas Sección </a:t>
              </a:r>
            </a:p>
          </p:txBody>
        </p:sp>
      </p:grpSp>
      <p:grpSp>
        <p:nvGrpSpPr>
          <p:cNvPr id="7" name="Group 7"/>
          <p:cNvGrpSpPr/>
          <p:nvPr/>
        </p:nvGrpSpPr>
        <p:grpSpPr>
          <a:xfrm>
            <a:off x="1977804" y="7160164"/>
            <a:ext cx="7166196" cy="894134"/>
            <a:chOff x="0" y="0"/>
            <a:chExt cx="1887393" cy="235492"/>
          </a:xfrm>
        </p:grpSpPr>
        <p:sp>
          <p:nvSpPr>
            <p:cNvPr id="8" name="Freeform 8"/>
            <p:cNvSpPr/>
            <p:nvPr/>
          </p:nvSpPr>
          <p:spPr>
            <a:xfrm>
              <a:off x="0" y="0"/>
              <a:ext cx="1887393" cy="235492"/>
            </a:xfrm>
            <a:custGeom>
              <a:avLst/>
              <a:gdLst/>
              <a:ahLst/>
              <a:cxnLst/>
              <a:rect l="l" t="t" r="r" b="b"/>
              <a:pathLst>
                <a:path w="1887393" h="235492">
                  <a:moveTo>
                    <a:pt x="0" y="0"/>
                  </a:moveTo>
                  <a:lnTo>
                    <a:pt x="1887393" y="0"/>
                  </a:lnTo>
                  <a:lnTo>
                    <a:pt x="1887393" y="235492"/>
                  </a:lnTo>
                  <a:lnTo>
                    <a:pt x="0" y="235492"/>
                  </a:lnTo>
                  <a:close/>
                </a:path>
              </a:pathLst>
            </a:custGeom>
            <a:solidFill>
              <a:srgbClr val="FFF3C2"/>
            </a:solidFill>
          </p:spPr>
          <p:txBody>
            <a:bodyPr/>
            <a:lstStyle/>
            <a:p>
              <a:endParaRPr lang="es-GT"/>
            </a:p>
          </p:txBody>
        </p:sp>
        <p:sp>
          <p:nvSpPr>
            <p:cNvPr id="9" name="TextBox 9"/>
            <p:cNvSpPr txBox="1"/>
            <p:nvPr/>
          </p:nvSpPr>
          <p:spPr>
            <a:xfrm>
              <a:off x="0" y="-57150"/>
              <a:ext cx="1887393" cy="292642"/>
            </a:xfrm>
            <a:prstGeom prst="rect">
              <a:avLst/>
            </a:prstGeom>
          </p:spPr>
          <p:txBody>
            <a:bodyPr lIns="50800" tIns="50800" rIns="50800" bIns="50800" rtlCol="0" anchor="ctr"/>
            <a:lstStyle/>
            <a:p>
              <a:pPr algn="ctr">
                <a:lnSpc>
                  <a:spcPts val="3919"/>
                </a:lnSpc>
              </a:pPr>
              <a:r>
                <a:rPr lang="en-US" sz="2799">
                  <a:solidFill>
                    <a:srgbClr val="000000"/>
                  </a:solidFill>
                  <a:latin typeface="Open Sans"/>
                  <a:ea typeface="Open Sans"/>
                  <a:cs typeface="Open Sans"/>
                  <a:sym typeface="Open Sans"/>
                </a:rPr>
                <a:t>NOMBRE DEL TUTOR</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41309" y="0"/>
            <a:ext cx="5746691" cy="1711780"/>
          </a:xfrm>
          <a:custGeom>
            <a:avLst/>
            <a:gdLst/>
            <a:ahLst/>
            <a:cxnLst/>
            <a:rect l="l" t="t" r="r" b="b"/>
            <a:pathLst>
              <a:path w="5746691" h="1711780">
                <a:moveTo>
                  <a:pt x="0" y="0"/>
                </a:moveTo>
                <a:lnTo>
                  <a:pt x="5746691" y="0"/>
                </a:lnTo>
                <a:lnTo>
                  <a:pt x="5746691" y="1711780"/>
                </a:lnTo>
                <a:lnTo>
                  <a:pt x="0" y="171178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838200" y="7507001"/>
            <a:ext cx="7741652" cy="863600"/>
          </a:xfrm>
          <a:prstGeom prst="rect">
            <a:avLst/>
          </a:prstGeom>
        </p:spPr>
        <p:txBody>
          <a:bodyPr wrap="square" lIns="0" tIns="0" rIns="0" bIns="0" rtlCol="0" anchor="t">
            <a:spAutoFit/>
          </a:bodyPr>
          <a:lstStyle/>
          <a:p>
            <a:pPr algn="ctr">
              <a:lnSpc>
                <a:spcPts val="7000"/>
              </a:lnSpc>
            </a:pPr>
            <a:r>
              <a:rPr lang="en-US" sz="5000" b="1" dirty="0" err="1">
                <a:solidFill>
                  <a:srgbClr val="131416"/>
                </a:solidFill>
                <a:latin typeface="Open Sans Bold"/>
                <a:ea typeface="Open Sans Bold"/>
                <a:cs typeface="Open Sans Bold"/>
                <a:sym typeface="Open Sans Bold"/>
              </a:rPr>
              <a:t>Lógica</a:t>
            </a:r>
            <a:r>
              <a:rPr lang="en-US" sz="5000" b="1" dirty="0">
                <a:solidFill>
                  <a:srgbClr val="131416"/>
                </a:solidFill>
                <a:latin typeface="Open Sans Bold"/>
                <a:ea typeface="Open Sans Bold"/>
                <a:cs typeface="Open Sans Bold"/>
                <a:sym typeface="Open Sans Bold"/>
              </a:rPr>
              <a:t> de Sistemas</a:t>
            </a:r>
          </a:p>
        </p:txBody>
      </p:sp>
      <p:sp>
        <p:nvSpPr>
          <p:cNvPr id="4" name="TextBox 4"/>
          <p:cNvSpPr txBox="1"/>
          <p:nvPr/>
        </p:nvSpPr>
        <p:spPr>
          <a:xfrm>
            <a:off x="0" y="3355266"/>
            <a:ext cx="17749719" cy="2787649"/>
          </a:xfrm>
          <a:prstGeom prst="rect">
            <a:avLst/>
          </a:prstGeom>
        </p:spPr>
        <p:txBody>
          <a:bodyPr lIns="0" tIns="0" rIns="0" bIns="0" rtlCol="0" anchor="t">
            <a:spAutoFit/>
          </a:bodyPr>
          <a:lstStyle/>
          <a:p>
            <a:pPr algn="ctr">
              <a:lnSpc>
                <a:spcPts val="11200"/>
              </a:lnSpc>
            </a:pPr>
            <a:r>
              <a:rPr lang="en-US" sz="8000" b="1">
                <a:solidFill>
                  <a:srgbClr val="131416"/>
                </a:solidFill>
                <a:latin typeface="Open Sans Bold"/>
                <a:ea typeface="Open Sans Bold"/>
                <a:cs typeface="Open Sans Bold"/>
                <a:sym typeface="Open Sans Bold"/>
              </a:rPr>
              <a:t>Unidad 1: La creatividad y bloqueos mentales</a:t>
            </a:r>
          </a:p>
        </p:txBody>
      </p:sp>
      <p:sp>
        <p:nvSpPr>
          <p:cNvPr id="5" name="TextBox 5"/>
          <p:cNvSpPr txBox="1"/>
          <p:nvPr/>
        </p:nvSpPr>
        <p:spPr>
          <a:xfrm>
            <a:off x="1028700" y="8534113"/>
            <a:ext cx="6981379" cy="422275"/>
          </a:xfrm>
          <a:prstGeom prst="rect">
            <a:avLst/>
          </a:prstGeom>
        </p:spPr>
        <p:txBody>
          <a:bodyPr lIns="0" tIns="0" rIns="0" bIns="0" rtlCol="0" anchor="t">
            <a:spAutoFit/>
          </a:bodyPr>
          <a:lstStyle/>
          <a:p>
            <a:pPr algn="ctr">
              <a:lnSpc>
                <a:spcPts val="3499"/>
              </a:lnSpc>
            </a:pPr>
            <a:r>
              <a:rPr lang="en-US" sz="2499" b="1" dirty="0">
                <a:solidFill>
                  <a:srgbClr val="131416"/>
                </a:solidFill>
                <a:latin typeface="Open Sans Bold"/>
                <a:ea typeface="Open Sans Bold"/>
                <a:cs typeface="Open Sans Bold"/>
                <a:sym typeface="Open Sans Bold"/>
              </a:rPr>
              <a:t>Escuela de Ingenieria de </a:t>
            </a:r>
            <a:r>
              <a:rPr lang="en-US" sz="2499" b="1" dirty="0" err="1">
                <a:solidFill>
                  <a:srgbClr val="131416"/>
                </a:solidFill>
                <a:latin typeface="Open Sans Bold"/>
                <a:ea typeface="Open Sans Bold"/>
                <a:cs typeface="Open Sans Bold"/>
                <a:sym typeface="Open Sans Bold"/>
              </a:rPr>
              <a:t>Ciencias</a:t>
            </a:r>
            <a:r>
              <a:rPr lang="en-US" sz="2499" b="1" dirty="0">
                <a:solidFill>
                  <a:srgbClr val="131416"/>
                </a:solidFill>
                <a:latin typeface="Open Sans Bold"/>
                <a:ea typeface="Open Sans Bold"/>
                <a:cs typeface="Open Sans Bold"/>
                <a:sym typeface="Open Sans Bold"/>
              </a:rPr>
              <a:t> Y Sistemas</a:t>
            </a:r>
          </a:p>
        </p:txBody>
      </p:sp>
      <p:sp>
        <p:nvSpPr>
          <p:cNvPr id="6" name="TextBox 6"/>
          <p:cNvSpPr txBox="1"/>
          <p:nvPr/>
        </p:nvSpPr>
        <p:spPr>
          <a:xfrm>
            <a:off x="1219200" y="9059719"/>
            <a:ext cx="5753100" cy="422275"/>
          </a:xfrm>
          <a:prstGeom prst="rect">
            <a:avLst/>
          </a:prstGeom>
        </p:spPr>
        <p:txBody>
          <a:bodyPr wrap="square" lIns="0" tIns="0" rIns="0" bIns="0" rtlCol="0" anchor="t">
            <a:spAutoFit/>
          </a:bodyPr>
          <a:lstStyle/>
          <a:p>
            <a:pPr algn="ctr">
              <a:lnSpc>
                <a:spcPts val="3499"/>
              </a:lnSpc>
            </a:pPr>
            <a:r>
              <a:rPr lang="en-US" sz="2499" b="1" dirty="0" err="1">
                <a:solidFill>
                  <a:srgbClr val="131416"/>
                </a:solidFill>
                <a:latin typeface="Open Sans Bold"/>
                <a:ea typeface="Open Sans Bold"/>
                <a:cs typeface="Open Sans Bold"/>
                <a:sym typeface="Open Sans Bold"/>
              </a:rPr>
              <a:t>Facultad</a:t>
            </a:r>
            <a:r>
              <a:rPr lang="en-US" sz="2499" b="1" dirty="0">
                <a:solidFill>
                  <a:srgbClr val="131416"/>
                </a:solidFill>
                <a:latin typeface="Open Sans Bold"/>
                <a:ea typeface="Open Sans Bold"/>
                <a:cs typeface="Open Sans Bold"/>
                <a:sym typeface="Open Sans Bold"/>
              </a:rPr>
              <a:t> de Ingenieria</a:t>
            </a:r>
          </a:p>
        </p:txBody>
      </p:sp>
      <p:sp>
        <p:nvSpPr>
          <p:cNvPr id="7" name="TextBox 7"/>
          <p:cNvSpPr txBox="1"/>
          <p:nvPr/>
        </p:nvSpPr>
        <p:spPr>
          <a:xfrm>
            <a:off x="1042146" y="9481994"/>
            <a:ext cx="6730253" cy="422275"/>
          </a:xfrm>
          <a:prstGeom prst="rect">
            <a:avLst/>
          </a:prstGeom>
        </p:spPr>
        <p:txBody>
          <a:bodyPr wrap="square" lIns="0" tIns="0" rIns="0" bIns="0" rtlCol="0" anchor="t">
            <a:spAutoFit/>
          </a:bodyPr>
          <a:lstStyle/>
          <a:p>
            <a:pPr algn="ctr">
              <a:lnSpc>
                <a:spcPts val="3499"/>
              </a:lnSpc>
            </a:pPr>
            <a:r>
              <a:rPr lang="en-US" sz="2499" b="1" dirty="0">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5333" y="4682285"/>
            <a:ext cx="4613551" cy="666407"/>
            <a:chOff x="0" y="0"/>
            <a:chExt cx="1964221" cy="283723"/>
          </a:xfrm>
        </p:grpSpPr>
        <p:sp>
          <p:nvSpPr>
            <p:cNvPr id="3" name="Freeform 3"/>
            <p:cNvSpPr/>
            <p:nvPr/>
          </p:nvSpPr>
          <p:spPr>
            <a:xfrm>
              <a:off x="0" y="0"/>
              <a:ext cx="1964221" cy="283723"/>
            </a:xfrm>
            <a:custGeom>
              <a:avLst/>
              <a:gdLst/>
              <a:ahLst/>
              <a:cxnLst/>
              <a:rect l="l" t="t" r="r" b="b"/>
              <a:pathLst>
                <a:path w="1964221" h="283723">
                  <a:moveTo>
                    <a:pt x="1761021" y="0"/>
                  </a:moveTo>
                  <a:lnTo>
                    <a:pt x="0" y="0"/>
                  </a:lnTo>
                  <a:lnTo>
                    <a:pt x="0" y="283723"/>
                  </a:lnTo>
                  <a:lnTo>
                    <a:pt x="1761021" y="283723"/>
                  </a:lnTo>
                  <a:lnTo>
                    <a:pt x="1964221" y="141862"/>
                  </a:lnTo>
                  <a:lnTo>
                    <a:pt x="1761021" y="0"/>
                  </a:lnTo>
                  <a:close/>
                </a:path>
              </a:pathLst>
            </a:custGeom>
            <a:solidFill>
              <a:srgbClr val="FFFFFF"/>
            </a:solidFill>
          </p:spPr>
          <p:txBody>
            <a:bodyPr/>
            <a:lstStyle/>
            <a:p>
              <a:endParaRPr lang="es-GT"/>
            </a:p>
          </p:txBody>
        </p:sp>
        <p:sp>
          <p:nvSpPr>
            <p:cNvPr id="4" name="TextBox 4"/>
            <p:cNvSpPr txBox="1"/>
            <p:nvPr/>
          </p:nvSpPr>
          <p:spPr>
            <a:xfrm>
              <a:off x="0" y="-76200"/>
              <a:ext cx="1849921" cy="359923"/>
            </a:xfrm>
            <a:prstGeom prst="rect">
              <a:avLst/>
            </a:prstGeom>
          </p:spPr>
          <p:txBody>
            <a:bodyPr lIns="50800" tIns="50800" rIns="50800" bIns="50800" rtlCol="0" anchor="ctr"/>
            <a:lstStyle/>
            <a:p>
              <a:pPr algn="ctr">
                <a:lnSpc>
                  <a:spcPts val="4143"/>
                </a:lnSpc>
              </a:pPr>
              <a:r>
                <a:rPr lang="en-US" sz="2799" spc="81">
                  <a:solidFill>
                    <a:srgbClr val="000000"/>
                  </a:solidFill>
                  <a:latin typeface="Garet"/>
                  <a:ea typeface="Garet"/>
                  <a:cs typeface="Garet"/>
                  <a:sym typeface="Garet"/>
                </a:rPr>
                <a:t>Asignación A DTT</a:t>
              </a:r>
            </a:p>
          </p:txBody>
        </p:sp>
      </p:grpSp>
      <p:sp>
        <p:nvSpPr>
          <p:cNvPr id="5" name="Freeform 5"/>
          <p:cNvSpPr/>
          <p:nvPr/>
        </p:nvSpPr>
        <p:spPr>
          <a:xfrm>
            <a:off x="878654" y="4740441"/>
            <a:ext cx="453358" cy="550094"/>
          </a:xfrm>
          <a:custGeom>
            <a:avLst/>
            <a:gdLst/>
            <a:ahLst/>
            <a:cxnLst/>
            <a:rect l="l" t="t" r="r" b="b"/>
            <a:pathLst>
              <a:path w="453358" h="550094">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GT"/>
          </a:p>
        </p:txBody>
      </p:sp>
      <p:grpSp>
        <p:nvGrpSpPr>
          <p:cNvPr id="6" name="Group 6"/>
          <p:cNvGrpSpPr/>
          <p:nvPr/>
        </p:nvGrpSpPr>
        <p:grpSpPr>
          <a:xfrm>
            <a:off x="1866989" y="3303305"/>
            <a:ext cx="4115190" cy="1267162"/>
            <a:chOff x="0" y="0"/>
            <a:chExt cx="1083836" cy="333738"/>
          </a:xfrm>
        </p:grpSpPr>
        <p:sp>
          <p:nvSpPr>
            <p:cNvPr id="7" name="Freeform 7"/>
            <p:cNvSpPr/>
            <p:nvPr/>
          </p:nvSpPr>
          <p:spPr>
            <a:xfrm>
              <a:off x="0" y="0"/>
              <a:ext cx="1083836" cy="333738"/>
            </a:xfrm>
            <a:custGeom>
              <a:avLst/>
              <a:gdLst/>
              <a:ahLst/>
              <a:cxnLst/>
              <a:rect l="l" t="t" r="r" b="b"/>
              <a:pathLst>
                <a:path w="1083836" h="333738">
                  <a:moveTo>
                    <a:pt x="880636" y="0"/>
                  </a:moveTo>
                  <a:lnTo>
                    <a:pt x="0" y="0"/>
                  </a:lnTo>
                  <a:lnTo>
                    <a:pt x="0" y="333738"/>
                  </a:lnTo>
                  <a:lnTo>
                    <a:pt x="880636" y="333738"/>
                  </a:lnTo>
                  <a:lnTo>
                    <a:pt x="1083836" y="166869"/>
                  </a:lnTo>
                  <a:lnTo>
                    <a:pt x="880636" y="0"/>
                  </a:lnTo>
                  <a:close/>
                </a:path>
              </a:pathLst>
            </a:custGeom>
            <a:solidFill>
              <a:srgbClr val="FFFFFF"/>
            </a:solidFill>
          </p:spPr>
          <p:txBody>
            <a:bodyPr/>
            <a:lstStyle/>
            <a:p>
              <a:endParaRPr lang="es-GT"/>
            </a:p>
          </p:txBody>
        </p:sp>
        <p:sp>
          <p:nvSpPr>
            <p:cNvPr id="8" name="TextBox 8"/>
            <p:cNvSpPr txBox="1"/>
            <p:nvPr/>
          </p:nvSpPr>
          <p:spPr>
            <a:xfrm>
              <a:off x="0" y="-76200"/>
              <a:ext cx="969536" cy="409938"/>
            </a:xfrm>
            <a:prstGeom prst="rect">
              <a:avLst/>
            </a:prstGeom>
          </p:spPr>
          <p:txBody>
            <a:bodyPr lIns="50800" tIns="50800" rIns="50800" bIns="50800" rtlCol="0" anchor="ctr"/>
            <a:lstStyle/>
            <a:p>
              <a:pPr algn="ctr">
                <a:lnSpc>
                  <a:spcPts val="4143"/>
                </a:lnSpc>
              </a:pPr>
              <a:r>
                <a:rPr lang="en-US" sz="2799" spc="81">
                  <a:solidFill>
                    <a:srgbClr val="000000"/>
                  </a:solidFill>
                  <a:latin typeface="Garet"/>
                  <a:ea typeface="Garet"/>
                  <a:cs typeface="Garet"/>
                  <a:sym typeface="Garet"/>
                </a:rPr>
                <a:t>RECORDATORIOS</a:t>
              </a:r>
            </a:p>
          </p:txBody>
        </p:sp>
      </p:grpSp>
      <p:sp>
        <p:nvSpPr>
          <p:cNvPr id="9" name="Freeform 9"/>
          <p:cNvSpPr/>
          <p:nvPr/>
        </p:nvSpPr>
        <p:spPr>
          <a:xfrm>
            <a:off x="651754" y="3429735"/>
            <a:ext cx="753892" cy="872928"/>
          </a:xfrm>
          <a:custGeom>
            <a:avLst/>
            <a:gdLst/>
            <a:ahLst/>
            <a:cxnLst/>
            <a:rect l="l" t="t" r="r" b="b"/>
            <a:pathLst>
              <a:path w="753892" h="872928">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GT"/>
          </a:p>
        </p:txBody>
      </p:sp>
      <p:grpSp>
        <p:nvGrpSpPr>
          <p:cNvPr id="10" name="Group 10"/>
          <p:cNvGrpSpPr/>
          <p:nvPr/>
        </p:nvGrpSpPr>
        <p:grpSpPr>
          <a:xfrm>
            <a:off x="651754" y="-249180"/>
            <a:ext cx="6140237" cy="2980843"/>
            <a:chOff x="0" y="0"/>
            <a:chExt cx="8186982" cy="3974458"/>
          </a:xfrm>
        </p:grpSpPr>
        <p:sp>
          <p:nvSpPr>
            <p:cNvPr id="11" name="TextBox 11"/>
            <p:cNvSpPr txBox="1"/>
            <p:nvPr/>
          </p:nvSpPr>
          <p:spPr>
            <a:xfrm>
              <a:off x="0" y="986783"/>
              <a:ext cx="8186982" cy="2987675"/>
            </a:xfrm>
            <a:prstGeom prst="rect">
              <a:avLst/>
            </a:prstGeom>
          </p:spPr>
          <p:txBody>
            <a:bodyPr lIns="0" tIns="0" rIns="0" bIns="0" rtlCol="0" anchor="t">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id="12" name="TextBox 12"/>
            <p:cNvSpPr txBox="1"/>
            <p:nvPr/>
          </p:nvSpPr>
          <p:spPr>
            <a:xfrm>
              <a:off x="0" y="-95250"/>
              <a:ext cx="8186982" cy="927435"/>
            </a:xfrm>
            <a:prstGeom prst="rect">
              <a:avLst/>
            </a:prstGeom>
          </p:spPr>
          <p:txBody>
            <a:bodyPr lIns="0" tIns="0" rIns="0" bIns="0" rtlCol="0" anchor="t">
              <a:spAutoFit/>
            </a:bodyPr>
            <a:lstStyle/>
            <a:p>
              <a:pPr algn="l">
                <a:lnSpc>
                  <a:spcPts val="5733"/>
                </a:lnSpc>
              </a:pPr>
              <a:endParaRPr/>
            </a:p>
          </p:txBody>
        </p:sp>
      </p:grpSp>
      <p:grpSp>
        <p:nvGrpSpPr>
          <p:cNvPr id="13" name="Group 13"/>
          <p:cNvGrpSpPr/>
          <p:nvPr/>
        </p:nvGrpSpPr>
        <p:grpSpPr>
          <a:xfrm>
            <a:off x="11131715" y="154716"/>
            <a:ext cx="8416862" cy="2844707"/>
            <a:chOff x="0" y="0"/>
            <a:chExt cx="11222483" cy="3792943"/>
          </a:xfrm>
        </p:grpSpPr>
        <p:sp>
          <p:nvSpPr>
            <p:cNvPr id="14" name="TextBox 14"/>
            <p:cNvSpPr txBox="1"/>
            <p:nvPr/>
          </p:nvSpPr>
          <p:spPr>
            <a:xfrm>
              <a:off x="0" y="805268"/>
              <a:ext cx="11222483" cy="2987675"/>
            </a:xfrm>
            <a:prstGeom prst="rect">
              <a:avLst/>
            </a:prstGeom>
          </p:spPr>
          <p:txBody>
            <a:bodyPr lIns="0" tIns="0" rIns="0" bIns="0" rtlCol="0" anchor="t">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id="15" name="TextBox 15"/>
            <p:cNvSpPr txBox="1"/>
            <p:nvPr/>
          </p:nvSpPr>
          <p:spPr>
            <a:xfrm>
              <a:off x="0" y="-76200"/>
              <a:ext cx="11222483" cy="747545"/>
            </a:xfrm>
            <a:prstGeom prst="rect">
              <a:avLst/>
            </a:prstGeom>
          </p:spPr>
          <p:txBody>
            <a:bodyPr lIns="0" tIns="0" rIns="0" bIns="0" rtlCol="0" anchor="t">
              <a:spAutoFit/>
            </a:bodyPr>
            <a:lstStyle/>
            <a:p>
              <a:pPr algn="l">
                <a:lnSpc>
                  <a:spcPts val="4625"/>
                </a:lnSpc>
              </a:pPr>
              <a:endParaRPr/>
            </a:p>
          </p:txBody>
        </p:sp>
      </p:grpSp>
      <p:grpSp>
        <p:nvGrpSpPr>
          <p:cNvPr id="16" name="Group 16"/>
          <p:cNvGrpSpPr/>
          <p:nvPr/>
        </p:nvGrpSpPr>
        <p:grpSpPr>
          <a:xfrm>
            <a:off x="7986539" y="3377786"/>
            <a:ext cx="10301461" cy="1267162"/>
            <a:chOff x="0" y="0"/>
            <a:chExt cx="2713142" cy="333738"/>
          </a:xfrm>
        </p:grpSpPr>
        <p:sp>
          <p:nvSpPr>
            <p:cNvPr id="17" name="Freeform 17"/>
            <p:cNvSpPr/>
            <p:nvPr/>
          </p:nvSpPr>
          <p:spPr>
            <a:xfrm>
              <a:off x="0" y="0"/>
              <a:ext cx="2713142" cy="333738"/>
            </a:xfrm>
            <a:custGeom>
              <a:avLst/>
              <a:gdLst/>
              <a:ahLst/>
              <a:cxnLst/>
              <a:rect l="l" t="t" r="r" b="b"/>
              <a:pathLst>
                <a:path w="2713142" h="333738">
                  <a:moveTo>
                    <a:pt x="2509942" y="0"/>
                  </a:moveTo>
                  <a:lnTo>
                    <a:pt x="0" y="0"/>
                  </a:lnTo>
                  <a:lnTo>
                    <a:pt x="0" y="333738"/>
                  </a:lnTo>
                  <a:lnTo>
                    <a:pt x="2509942" y="333738"/>
                  </a:lnTo>
                  <a:lnTo>
                    <a:pt x="2713142" y="166869"/>
                  </a:lnTo>
                  <a:lnTo>
                    <a:pt x="2509942" y="0"/>
                  </a:lnTo>
                  <a:close/>
                </a:path>
              </a:pathLst>
            </a:custGeom>
            <a:solidFill>
              <a:srgbClr val="FFFFFF"/>
            </a:solidFill>
          </p:spPr>
          <p:txBody>
            <a:bodyPr/>
            <a:lstStyle/>
            <a:p>
              <a:endParaRPr lang="es-GT"/>
            </a:p>
          </p:txBody>
        </p:sp>
        <p:sp>
          <p:nvSpPr>
            <p:cNvPr id="18" name="TextBox 18"/>
            <p:cNvSpPr txBox="1"/>
            <p:nvPr/>
          </p:nvSpPr>
          <p:spPr>
            <a:xfrm>
              <a:off x="0" y="-66675"/>
              <a:ext cx="2598842" cy="400413"/>
            </a:xfrm>
            <a:prstGeom prst="rect">
              <a:avLst/>
            </a:prstGeom>
          </p:spPr>
          <p:txBody>
            <a:bodyPr lIns="50800" tIns="50800" rIns="50800" bIns="50800" rtlCol="0" anchor="ctr"/>
            <a:lstStyle/>
            <a:p>
              <a:pPr algn="ctr">
                <a:lnSpc>
                  <a:spcPts val="3404"/>
                </a:lnSpc>
              </a:pPr>
              <a:r>
                <a:rPr lang="en-US" sz="2300" b="1" spc="66">
                  <a:solidFill>
                    <a:srgbClr val="000000"/>
                  </a:solidFill>
                  <a:latin typeface="Garet Bold"/>
                  <a:ea typeface="Garet Bold"/>
                  <a:cs typeface="Garet Bold"/>
                  <a:sym typeface="Garet Bold"/>
                </a:rPr>
                <a:t>Link del Video:</a:t>
              </a:r>
            </a:p>
            <a:p>
              <a:pPr algn="ctr">
                <a:lnSpc>
                  <a:spcPts val="3404"/>
                </a:lnSpc>
              </a:pPr>
              <a:r>
                <a:rPr lang="en-US" sz="2300" spc="66">
                  <a:solidFill>
                    <a:srgbClr val="000000"/>
                  </a:solidFill>
                  <a:latin typeface="Garet"/>
                  <a:ea typeface="Garet"/>
                  <a:cs typeface="Garet"/>
                  <a:sym typeface="Garet"/>
                </a:rPr>
                <a:t>https://youtu.be/oewglpmiJsI</a:t>
              </a:r>
            </a:p>
          </p:txBody>
        </p:sp>
      </p:grpSp>
      <p:grpSp>
        <p:nvGrpSpPr>
          <p:cNvPr id="19" name="Group 19"/>
          <p:cNvGrpSpPr/>
          <p:nvPr/>
        </p:nvGrpSpPr>
        <p:grpSpPr>
          <a:xfrm>
            <a:off x="176619" y="5623280"/>
            <a:ext cx="4613551" cy="666407"/>
            <a:chOff x="0" y="0"/>
            <a:chExt cx="1964221" cy="283723"/>
          </a:xfrm>
        </p:grpSpPr>
        <p:sp>
          <p:nvSpPr>
            <p:cNvPr id="20" name="Freeform 20"/>
            <p:cNvSpPr/>
            <p:nvPr/>
          </p:nvSpPr>
          <p:spPr>
            <a:xfrm>
              <a:off x="0" y="0"/>
              <a:ext cx="1964221" cy="283723"/>
            </a:xfrm>
            <a:custGeom>
              <a:avLst/>
              <a:gdLst/>
              <a:ahLst/>
              <a:cxnLst/>
              <a:rect l="l" t="t" r="r" b="b"/>
              <a:pathLst>
                <a:path w="1964221" h="283723">
                  <a:moveTo>
                    <a:pt x="1761021" y="0"/>
                  </a:moveTo>
                  <a:lnTo>
                    <a:pt x="0" y="0"/>
                  </a:lnTo>
                  <a:lnTo>
                    <a:pt x="0" y="283723"/>
                  </a:lnTo>
                  <a:lnTo>
                    <a:pt x="1761021" y="283723"/>
                  </a:lnTo>
                  <a:lnTo>
                    <a:pt x="1964221" y="141862"/>
                  </a:lnTo>
                  <a:lnTo>
                    <a:pt x="1761021" y="0"/>
                  </a:lnTo>
                  <a:close/>
                </a:path>
              </a:pathLst>
            </a:custGeom>
            <a:solidFill>
              <a:srgbClr val="FFFFFF"/>
            </a:solidFill>
          </p:spPr>
          <p:txBody>
            <a:bodyPr/>
            <a:lstStyle/>
            <a:p>
              <a:endParaRPr lang="es-GT"/>
            </a:p>
          </p:txBody>
        </p:sp>
        <p:sp>
          <p:nvSpPr>
            <p:cNvPr id="21" name="TextBox 21"/>
            <p:cNvSpPr txBox="1"/>
            <p:nvPr/>
          </p:nvSpPr>
          <p:spPr>
            <a:xfrm>
              <a:off x="0" y="-76200"/>
              <a:ext cx="1849921" cy="359923"/>
            </a:xfrm>
            <a:prstGeom prst="rect">
              <a:avLst/>
            </a:prstGeom>
          </p:spPr>
          <p:txBody>
            <a:bodyPr lIns="50800" tIns="50800" rIns="50800" bIns="50800" rtlCol="0" anchor="ctr"/>
            <a:lstStyle/>
            <a:p>
              <a:pPr algn="ctr">
                <a:lnSpc>
                  <a:spcPts val="4143"/>
                </a:lnSpc>
              </a:pPr>
              <a:r>
                <a:rPr lang="en-US" sz="2799" spc="81">
                  <a:solidFill>
                    <a:srgbClr val="000000"/>
                  </a:solidFill>
                  <a:latin typeface="Garet"/>
                  <a:ea typeface="Garet"/>
                  <a:cs typeface="Garet"/>
                  <a:sym typeface="Garet"/>
                </a:rPr>
                <a:t>Actividad 1</a:t>
              </a:r>
            </a:p>
          </p:txBody>
        </p:sp>
      </p:grpSp>
      <p:grpSp>
        <p:nvGrpSpPr>
          <p:cNvPr id="22" name="Group 22"/>
          <p:cNvGrpSpPr/>
          <p:nvPr/>
        </p:nvGrpSpPr>
        <p:grpSpPr>
          <a:xfrm>
            <a:off x="176619" y="6604853"/>
            <a:ext cx="4613551" cy="666407"/>
            <a:chOff x="0" y="0"/>
            <a:chExt cx="1964221" cy="283723"/>
          </a:xfrm>
        </p:grpSpPr>
        <p:sp>
          <p:nvSpPr>
            <p:cNvPr id="23" name="Freeform 23"/>
            <p:cNvSpPr/>
            <p:nvPr/>
          </p:nvSpPr>
          <p:spPr>
            <a:xfrm>
              <a:off x="0" y="0"/>
              <a:ext cx="1964221" cy="283723"/>
            </a:xfrm>
            <a:custGeom>
              <a:avLst/>
              <a:gdLst/>
              <a:ahLst/>
              <a:cxnLst/>
              <a:rect l="l" t="t" r="r" b="b"/>
              <a:pathLst>
                <a:path w="1964221" h="283723">
                  <a:moveTo>
                    <a:pt x="1761021" y="0"/>
                  </a:moveTo>
                  <a:lnTo>
                    <a:pt x="0" y="0"/>
                  </a:lnTo>
                  <a:lnTo>
                    <a:pt x="0" y="283723"/>
                  </a:lnTo>
                  <a:lnTo>
                    <a:pt x="1761021" y="283723"/>
                  </a:lnTo>
                  <a:lnTo>
                    <a:pt x="1964221" y="141862"/>
                  </a:lnTo>
                  <a:lnTo>
                    <a:pt x="1761021" y="0"/>
                  </a:lnTo>
                  <a:close/>
                </a:path>
              </a:pathLst>
            </a:custGeom>
            <a:solidFill>
              <a:srgbClr val="FFFFFF"/>
            </a:solidFill>
          </p:spPr>
          <p:txBody>
            <a:bodyPr/>
            <a:lstStyle/>
            <a:p>
              <a:endParaRPr lang="es-GT"/>
            </a:p>
          </p:txBody>
        </p:sp>
        <p:sp>
          <p:nvSpPr>
            <p:cNvPr id="24" name="TextBox 24"/>
            <p:cNvSpPr txBox="1"/>
            <p:nvPr/>
          </p:nvSpPr>
          <p:spPr>
            <a:xfrm>
              <a:off x="0" y="-76200"/>
              <a:ext cx="1849921" cy="359923"/>
            </a:xfrm>
            <a:prstGeom prst="rect">
              <a:avLst/>
            </a:prstGeom>
          </p:spPr>
          <p:txBody>
            <a:bodyPr lIns="50800" tIns="50800" rIns="50800" bIns="50800" rtlCol="0" anchor="ctr"/>
            <a:lstStyle/>
            <a:p>
              <a:pPr algn="ctr">
                <a:lnSpc>
                  <a:spcPts val="4143"/>
                </a:lnSpc>
              </a:pPr>
              <a:r>
                <a:rPr lang="en-US" sz="2799" spc="81">
                  <a:solidFill>
                    <a:srgbClr val="000000"/>
                  </a:solidFill>
                  <a:latin typeface="Garet"/>
                  <a:ea typeface="Garet"/>
                  <a:cs typeface="Garet"/>
                  <a:sym typeface="Garet"/>
                </a:rPr>
                <a:t>Ejercicio 1</a:t>
              </a:r>
            </a:p>
          </p:txBody>
        </p:sp>
      </p:grpSp>
      <p:sp>
        <p:nvSpPr>
          <p:cNvPr id="25" name="Freeform 25"/>
          <p:cNvSpPr/>
          <p:nvPr/>
        </p:nvSpPr>
        <p:spPr>
          <a:xfrm>
            <a:off x="878654" y="5623280"/>
            <a:ext cx="453358" cy="550094"/>
          </a:xfrm>
          <a:custGeom>
            <a:avLst/>
            <a:gdLst/>
            <a:ahLst/>
            <a:cxnLst/>
            <a:rect l="l" t="t" r="r" b="b"/>
            <a:pathLst>
              <a:path w="453358" h="550094">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GT"/>
          </a:p>
        </p:txBody>
      </p:sp>
      <p:sp>
        <p:nvSpPr>
          <p:cNvPr id="26" name="Freeform 26"/>
          <p:cNvSpPr/>
          <p:nvPr/>
        </p:nvSpPr>
        <p:spPr>
          <a:xfrm>
            <a:off x="878654" y="6604853"/>
            <a:ext cx="453358" cy="550094"/>
          </a:xfrm>
          <a:custGeom>
            <a:avLst/>
            <a:gdLst/>
            <a:ahLst/>
            <a:cxnLst/>
            <a:rect l="l" t="t" r="r" b="b"/>
            <a:pathLst>
              <a:path w="453358" h="550094">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G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9" y="654364"/>
            <a:ext cx="13991174" cy="1801020"/>
          </a:xfrm>
          <a:prstGeom prst="rect">
            <a:avLst/>
          </a:prstGeom>
        </p:spPr>
        <p:txBody>
          <a:bodyPr lIns="0" tIns="0" rIns="0" bIns="0" rtlCol="0" anchor="t">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id="3" name="TextBox 3"/>
          <p:cNvSpPr txBox="1"/>
          <p:nvPr/>
        </p:nvSpPr>
        <p:spPr>
          <a:xfrm>
            <a:off x="2191966" y="4432648"/>
            <a:ext cx="13448312" cy="2794000"/>
          </a:xfrm>
          <a:prstGeom prst="rect">
            <a:avLst/>
          </a:prstGeom>
        </p:spPr>
        <p:txBody>
          <a:bodyPr lIns="0" tIns="0" rIns="0" bIns="0" rtlCol="0" anchor="t">
            <a:spAutoFit/>
          </a:bodyPr>
          <a:lstStyle/>
          <a:p>
            <a:pPr algn="just">
              <a:lnSpc>
                <a:spcPts val="5599"/>
              </a:lnSpc>
            </a:pPr>
            <a:r>
              <a:rPr lang="en-US" sz="3999">
                <a:solidFill>
                  <a:srgbClr val="131416"/>
                </a:solidFill>
                <a:latin typeface="Open Sans"/>
                <a:ea typeface="Open Sans"/>
                <a:cs typeface="Open Sans"/>
                <a:sym typeface="Open Sans"/>
              </a:rPr>
              <a:t>Reconoce los distintos tipos de bloqueos mentales mediante la identificación de ejemplos en experiencias cotidianas que dificultan la resolución de problemas.</a:t>
            </a:r>
          </a:p>
          <a:p>
            <a:pPr algn="just">
              <a:lnSpc>
                <a:spcPts val="5599"/>
              </a:lnSpc>
            </a:pPr>
            <a:endParaRPr lang="en-US" sz="3999">
              <a:solidFill>
                <a:srgbClr val="131416"/>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9" y="3027816"/>
            <a:ext cx="12625499" cy="5926943"/>
          </a:xfrm>
          <a:prstGeom prst="rect">
            <a:avLst/>
          </a:prstGeom>
        </p:spPr>
        <p:txBody>
          <a:bodyPr lIns="0" tIns="0" rIns="0" bIns="0" rtlCol="0" anchor="t">
            <a:spAutoFit/>
          </a:bodyPr>
          <a:lstStyle/>
          <a:p>
            <a:pPr marL="847776" lvl="1" indent="-423888" algn="l">
              <a:lnSpc>
                <a:spcPts val="6793"/>
              </a:lnSpc>
              <a:buFont typeface="Arial"/>
              <a:buChar char="•"/>
            </a:pPr>
            <a:r>
              <a:rPr lang="en-US" sz="3926">
                <a:solidFill>
                  <a:srgbClr val="131416"/>
                </a:solidFill>
                <a:latin typeface="Garet"/>
                <a:ea typeface="Garet"/>
                <a:cs typeface="Garet"/>
                <a:sym typeface="Garet"/>
              </a:rPr>
              <a:t>¿Qué es la creatividad?</a:t>
            </a:r>
          </a:p>
          <a:p>
            <a:pPr marL="847776" lvl="1" indent="-423888" algn="l">
              <a:lnSpc>
                <a:spcPts val="6793"/>
              </a:lnSpc>
              <a:buFont typeface="Arial"/>
              <a:buChar char="•"/>
            </a:pPr>
            <a:r>
              <a:rPr lang="en-US" sz="3926">
                <a:solidFill>
                  <a:srgbClr val="131416"/>
                </a:solidFill>
                <a:latin typeface="Garet"/>
                <a:ea typeface="Garet"/>
                <a:cs typeface="Garet"/>
                <a:sym typeface="Garet"/>
              </a:rPr>
              <a:t>Pasos en la resolución de problemas</a:t>
            </a:r>
          </a:p>
          <a:p>
            <a:pPr marL="847776" lvl="1" indent="-423888" algn="l">
              <a:lnSpc>
                <a:spcPts val="6793"/>
              </a:lnSpc>
              <a:buFont typeface="Arial"/>
              <a:buChar char="•"/>
            </a:pPr>
            <a:r>
              <a:rPr lang="en-US" sz="3926">
                <a:solidFill>
                  <a:srgbClr val="131416"/>
                </a:solidFill>
                <a:latin typeface="Garet"/>
                <a:ea typeface="Garet"/>
                <a:cs typeface="Garet"/>
                <a:sym typeface="Garet"/>
              </a:rPr>
              <a:t>Bloqueos mentales</a:t>
            </a:r>
          </a:p>
          <a:p>
            <a:pPr marL="847776" lvl="1" indent="-423888" algn="l">
              <a:lnSpc>
                <a:spcPts val="6793"/>
              </a:lnSpc>
              <a:buFont typeface="Arial"/>
              <a:buChar char="•"/>
            </a:pPr>
            <a:r>
              <a:rPr lang="en-US" sz="3926">
                <a:solidFill>
                  <a:srgbClr val="131416"/>
                </a:solidFill>
                <a:latin typeface="Garet"/>
                <a:ea typeface="Garet"/>
                <a:cs typeface="Garet"/>
                <a:sym typeface="Garet"/>
              </a:rPr>
              <a:t>Práctica de la creatividad</a:t>
            </a:r>
          </a:p>
          <a:p>
            <a:pPr marL="847776" lvl="1" indent="-423888" algn="l">
              <a:lnSpc>
                <a:spcPts val="6793"/>
              </a:lnSpc>
              <a:buFont typeface="Arial"/>
              <a:buChar char="•"/>
            </a:pPr>
            <a:r>
              <a:rPr lang="en-US" sz="3926">
                <a:solidFill>
                  <a:srgbClr val="131416"/>
                </a:solidFill>
                <a:latin typeface="Garet"/>
                <a:ea typeface="Garet"/>
                <a:cs typeface="Garet"/>
                <a:sym typeface="Garet"/>
              </a:rPr>
              <a:t>Técnicas para producir ideas</a:t>
            </a:r>
          </a:p>
          <a:p>
            <a:pPr marL="847776" lvl="1" indent="-423888" algn="l">
              <a:lnSpc>
                <a:spcPts val="6793"/>
              </a:lnSpc>
              <a:buFont typeface="Arial"/>
              <a:buChar char="•"/>
            </a:pPr>
            <a:r>
              <a:rPr lang="en-US" sz="3926">
                <a:solidFill>
                  <a:srgbClr val="131416"/>
                </a:solidFill>
                <a:latin typeface="Garet"/>
                <a:ea typeface="Garet"/>
                <a:cs typeface="Garet"/>
                <a:sym typeface="Garet"/>
              </a:rPr>
              <a:t>Como hacer mas eficiente la mente</a:t>
            </a:r>
          </a:p>
          <a:p>
            <a:pPr marL="847776" lvl="1" indent="-423888" algn="l">
              <a:lnSpc>
                <a:spcPts val="6793"/>
              </a:lnSpc>
              <a:buFont typeface="Arial"/>
              <a:buChar char="•"/>
            </a:pPr>
            <a:r>
              <a:rPr lang="en-US" sz="3926">
                <a:solidFill>
                  <a:srgbClr val="131416"/>
                </a:solidFill>
                <a:latin typeface="Garet"/>
                <a:ea typeface="Garet"/>
                <a:cs typeface="Garet"/>
                <a:sym typeface="Garet"/>
              </a:rPr>
              <a:t>Método para ser más eficiente </a:t>
            </a:r>
          </a:p>
        </p:txBody>
      </p:sp>
      <p:sp>
        <p:nvSpPr>
          <p:cNvPr id="3" name="TextBox 3"/>
          <p:cNvSpPr txBox="1"/>
          <p:nvPr/>
        </p:nvSpPr>
        <p:spPr>
          <a:xfrm>
            <a:off x="1374889" y="654364"/>
            <a:ext cx="13991174" cy="937141"/>
          </a:xfrm>
          <a:prstGeom prst="rect">
            <a:avLst/>
          </a:prstGeom>
        </p:spPr>
        <p:txBody>
          <a:bodyPr lIns="0" tIns="0" rIns="0" bIns="0" rtlCol="0" anchor="t">
            <a:spAutoFit/>
          </a:bodyPr>
          <a:lstStyle/>
          <a:p>
            <a:pPr algn="just">
              <a:lnSpc>
                <a:spcPts val="6890"/>
              </a:lnSpc>
            </a:pPr>
            <a:r>
              <a:rPr lang="en-US" sz="6098">
                <a:solidFill>
                  <a:srgbClr val="131416"/>
                </a:solidFill>
                <a:latin typeface="Horizon"/>
                <a:ea typeface="Horizon"/>
                <a:cs typeface="Horizon"/>
                <a:sym typeface="Horizon"/>
              </a:rPr>
              <a:t>CONTENIDO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5217" y="3075497"/>
            <a:ext cx="8201839" cy="4613534"/>
          </a:xfrm>
          <a:custGeom>
            <a:avLst/>
            <a:gdLst/>
            <a:ahLst/>
            <a:cxnLst/>
            <a:rect l="l" t="t" r="r" b="b"/>
            <a:pathLst>
              <a:path w="8201839" h="4613534">
                <a:moveTo>
                  <a:pt x="0" y="0"/>
                </a:moveTo>
                <a:lnTo>
                  <a:pt x="8201839" y="0"/>
                </a:lnTo>
                <a:lnTo>
                  <a:pt x="8201839" y="4613534"/>
                </a:lnTo>
                <a:lnTo>
                  <a:pt x="0" y="4613534"/>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374889" y="644839"/>
            <a:ext cx="13991174" cy="858503"/>
          </a:xfrm>
          <a:prstGeom prst="rect">
            <a:avLst/>
          </a:prstGeom>
        </p:spPr>
        <p:txBody>
          <a:bodyPr lIns="0" tIns="0" rIns="0" bIns="0" rtlCol="0" anchor="t">
            <a:spAutoFit/>
          </a:bodyPr>
          <a:lstStyle/>
          <a:p>
            <a:pPr algn="l">
              <a:lnSpc>
                <a:spcPts val="6212"/>
              </a:lnSpc>
            </a:pPr>
            <a:r>
              <a:rPr lang="en-US" sz="5498">
                <a:solidFill>
                  <a:srgbClr val="131416"/>
                </a:solidFill>
                <a:latin typeface="Horizon"/>
                <a:ea typeface="Horizon"/>
                <a:cs typeface="Horizon"/>
                <a:sym typeface="Horizon"/>
              </a:rPr>
              <a:t>¿QUÉ ES LA CREATIVIDAD?</a:t>
            </a:r>
          </a:p>
        </p:txBody>
      </p:sp>
      <p:sp>
        <p:nvSpPr>
          <p:cNvPr id="4" name="TextBox 4"/>
          <p:cNvSpPr txBox="1"/>
          <p:nvPr/>
        </p:nvSpPr>
        <p:spPr>
          <a:xfrm>
            <a:off x="9763107" y="2636605"/>
            <a:ext cx="7632005" cy="4908550"/>
          </a:xfrm>
          <a:prstGeom prst="rect">
            <a:avLst/>
          </a:prstGeom>
        </p:spPr>
        <p:txBody>
          <a:bodyPr lIns="0" tIns="0" rIns="0" bIns="0" rtlCol="0" anchor="t">
            <a:spAutoFit/>
          </a:bodyPr>
          <a:lstStyle/>
          <a:p>
            <a:pPr algn="just">
              <a:lnSpc>
                <a:spcPts val="5599"/>
              </a:lnSpc>
            </a:pPr>
            <a:r>
              <a:rPr lang="en-US" sz="3999">
                <a:solidFill>
                  <a:srgbClr val="131416"/>
                </a:solidFill>
                <a:latin typeface="Open Sans"/>
                <a:ea typeface="Open Sans"/>
                <a:cs typeface="Open Sans"/>
                <a:sym typeface="Open Sans"/>
              </a:rPr>
              <a:t>La creatividad es la capacidad de generar ideas originales y valiosas, combinando elementos conocidos de forma novedosa y rompiendo con patrones habituales de pensamiento.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65536" y="2172842"/>
            <a:ext cx="3826701" cy="2822192"/>
          </a:xfrm>
          <a:custGeom>
            <a:avLst/>
            <a:gdLst/>
            <a:ahLst/>
            <a:cxnLst/>
            <a:rect l="l" t="t" r="r" b="b"/>
            <a:pathLst>
              <a:path w="3826701" h="2822192">
                <a:moveTo>
                  <a:pt x="0" y="0"/>
                </a:moveTo>
                <a:lnTo>
                  <a:pt x="3826702" y="0"/>
                </a:lnTo>
                <a:lnTo>
                  <a:pt x="3826702" y="2822192"/>
                </a:lnTo>
                <a:lnTo>
                  <a:pt x="0" y="2822192"/>
                </a:lnTo>
                <a:lnTo>
                  <a:pt x="0" y="0"/>
                </a:lnTo>
                <a:close/>
              </a:path>
            </a:pathLst>
          </a:custGeom>
          <a:blipFill>
            <a:blip r:embed="rId2"/>
            <a:stretch>
              <a:fillRect/>
            </a:stretch>
          </a:blipFill>
        </p:spPr>
        <p:txBody>
          <a:bodyPr/>
          <a:lstStyle/>
          <a:p>
            <a:endParaRPr lang="es-GT"/>
          </a:p>
        </p:txBody>
      </p:sp>
      <p:sp>
        <p:nvSpPr>
          <p:cNvPr id="3" name="Freeform 3"/>
          <p:cNvSpPr/>
          <p:nvPr/>
        </p:nvSpPr>
        <p:spPr>
          <a:xfrm>
            <a:off x="7659159" y="2172842"/>
            <a:ext cx="2969681" cy="2807184"/>
          </a:xfrm>
          <a:custGeom>
            <a:avLst/>
            <a:gdLst/>
            <a:ahLst/>
            <a:cxnLst/>
            <a:rect l="l" t="t" r="r" b="b"/>
            <a:pathLst>
              <a:path w="2969681" h="2807184">
                <a:moveTo>
                  <a:pt x="0" y="0"/>
                </a:moveTo>
                <a:lnTo>
                  <a:pt x="2969682" y="0"/>
                </a:lnTo>
                <a:lnTo>
                  <a:pt x="2969682" y="2807183"/>
                </a:lnTo>
                <a:lnTo>
                  <a:pt x="0" y="2807183"/>
                </a:lnTo>
                <a:lnTo>
                  <a:pt x="0" y="0"/>
                </a:lnTo>
                <a:close/>
              </a:path>
            </a:pathLst>
          </a:custGeom>
          <a:blipFill>
            <a:blip r:embed="rId3"/>
            <a:stretch>
              <a:fillRect b="-10020"/>
            </a:stretch>
          </a:blipFill>
        </p:spPr>
        <p:txBody>
          <a:bodyPr/>
          <a:lstStyle/>
          <a:p>
            <a:endParaRPr lang="es-GT"/>
          </a:p>
        </p:txBody>
      </p:sp>
      <p:sp>
        <p:nvSpPr>
          <p:cNvPr id="4" name="Freeform 4"/>
          <p:cNvSpPr/>
          <p:nvPr/>
        </p:nvSpPr>
        <p:spPr>
          <a:xfrm>
            <a:off x="12545709" y="2365285"/>
            <a:ext cx="4306306" cy="2422297"/>
          </a:xfrm>
          <a:custGeom>
            <a:avLst/>
            <a:gdLst/>
            <a:ahLst/>
            <a:cxnLst/>
            <a:rect l="l" t="t" r="r" b="b"/>
            <a:pathLst>
              <a:path w="4306306" h="2422297">
                <a:moveTo>
                  <a:pt x="0" y="0"/>
                </a:moveTo>
                <a:lnTo>
                  <a:pt x="4306305" y="0"/>
                </a:lnTo>
                <a:lnTo>
                  <a:pt x="4306305" y="2422297"/>
                </a:lnTo>
                <a:lnTo>
                  <a:pt x="0" y="2422297"/>
                </a:lnTo>
                <a:lnTo>
                  <a:pt x="0" y="0"/>
                </a:lnTo>
                <a:close/>
              </a:path>
            </a:pathLst>
          </a:custGeom>
          <a:blipFill>
            <a:blip r:embed="rId4"/>
            <a:stretch>
              <a:fillRect/>
            </a:stretch>
          </a:blipFill>
        </p:spPr>
        <p:txBody>
          <a:bodyPr/>
          <a:lstStyle/>
          <a:p>
            <a:endParaRPr lang="es-GT"/>
          </a:p>
        </p:txBody>
      </p:sp>
      <p:sp>
        <p:nvSpPr>
          <p:cNvPr id="5" name="Freeform 5"/>
          <p:cNvSpPr/>
          <p:nvPr/>
        </p:nvSpPr>
        <p:spPr>
          <a:xfrm>
            <a:off x="5173721" y="6029903"/>
            <a:ext cx="2204318" cy="3225831"/>
          </a:xfrm>
          <a:custGeom>
            <a:avLst/>
            <a:gdLst/>
            <a:ahLst/>
            <a:cxnLst/>
            <a:rect l="l" t="t" r="r" b="b"/>
            <a:pathLst>
              <a:path w="2204318" h="3225831">
                <a:moveTo>
                  <a:pt x="0" y="0"/>
                </a:moveTo>
                <a:lnTo>
                  <a:pt x="2204318" y="0"/>
                </a:lnTo>
                <a:lnTo>
                  <a:pt x="2204318" y="3225831"/>
                </a:lnTo>
                <a:lnTo>
                  <a:pt x="0" y="3225831"/>
                </a:lnTo>
                <a:lnTo>
                  <a:pt x="0" y="0"/>
                </a:lnTo>
                <a:close/>
              </a:path>
            </a:pathLst>
          </a:custGeom>
          <a:blipFill>
            <a:blip r:embed="rId5"/>
            <a:stretch>
              <a:fillRect/>
            </a:stretch>
          </a:blipFill>
        </p:spPr>
        <p:txBody>
          <a:bodyPr/>
          <a:lstStyle/>
          <a:p>
            <a:endParaRPr lang="es-GT"/>
          </a:p>
        </p:txBody>
      </p:sp>
      <p:sp>
        <p:nvSpPr>
          <p:cNvPr id="6" name="Freeform 6"/>
          <p:cNvSpPr/>
          <p:nvPr/>
        </p:nvSpPr>
        <p:spPr>
          <a:xfrm>
            <a:off x="10733610" y="6029903"/>
            <a:ext cx="3191408" cy="3191408"/>
          </a:xfrm>
          <a:custGeom>
            <a:avLst/>
            <a:gdLst/>
            <a:ahLst/>
            <a:cxnLst/>
            <a:rect l="l" t="t" r="r" b="b"/>
            <a:pathLst>
              <a:path w="3191408" h="3191408">
                <a:moveTo>
                  <a:pt x="0" y="0"/>
                </a:moveTo>
                <a:lnTo>
                  <a:pt x="3191408" y="0"/>
                </a:lnTo>
                <a:lnTo>
                  <a:pt x="3191408" y="3191407"/>
                </a:lnTo>
                <a:lnTo>
                  <a:pt x="0" y="3191407"/>
                </a:lnTo>
                <a:lnTo>
                  <a:pt x="0" y="0"/>
                </a:lnTo>
                <a:close/>
              </a:path>
            </a:pathLst>
          </a:custGeom>
          <a:blipFill>
            <a:blip r:embed="rId6"/>
            <a:stretch>
              <a:fillRect/>
            </a:stretch>
          </a:blipFill>
        </p:spPr>
        <p:txBody>
          <a:bodyPr/>
          <a:lstStyle/>
          <a:p>
            <a:endParaRPr lang="es-GT"/>
          </a:p>
        </p:txBody>
      </p:sp>
      <p:sp>
        <p:nvSpPr>
          <p:cNvPr id="7" name="TextBox 7"/>
          <p:cNvSpPr txBox="1"/>
          <p:nvPr/>
        </p:nvSpPr>
        <p:spPr>
          <a:xfrm>
            <a:off x="1374889" y="654364"/>
            <a:ext cx="13991174" cy="697230"/>
          </a:xfrm>
          <a:prstGeom prst="rect">
            <a:avLst/>
          </a:prstGeom>
        </p:spPr>
        <p:txBody>
          <a:bodyPr lIns="0" tIns="0" rIns="0" bIns="0" rtlCol="0" anchor="t">
            <a:spAutoFit/>
          </a:bodyPr>
          <a:lstStyle/>
          <a:p>
            <a:pPr algn="l">
              <a:lnSpc>
                <a:spcPts val="5084"/>
              </a:lnSpc>
            </a:pPr>
            <a:r>
              <a:rPr lang="en-US" sz="4500">
                <a:solidFill>
                  <a:srgbClr val="131416"/>
                </a:solidFill>
                <a:latin typeface="Horizon"/>
                <a:ea typeface="Horizon"/>
                <a:cs typeface="Horizon"/>
                <a:sym typeface="Horizon"/>
              </a:rPr>
              <a:t>ATRIBUTOS DE LA CREATIVIDAD</a:t>
            </a:r>
          </a:p>
        </p:txBody>
      </p:sp>
      <p:sp>
        <p:nvSpPr>
          <p:cNvPr id="8" name="TextBox 8"/>
          <p:cNvSpPr txBox="1"/>
          <p:nvPr/>
        </p:nvSpPr>
        <p:spPr>
          <a:xfrm>
            <a:off x="2141662" y="5203209"/>
            <a:ext cx="3074451" cy="596900"/>
          </a:xfrm>
          <a:prstGeom prst="rect">
            <a:avLst/>
          </a:prstGeom>
        </p:spPr>
        <p:txBody>
          <a:bodyPr lIns="0" tIns="0" rIns="0" bIns="0" rtlCol="0" anchor="t">
            <a:spAutoFit/>
          </a:bodyPr>
          <a:lstStyle/>
          <a:p>
            <a:pPr algn="just">
              <a:lnSpc>
                <a:spcPts val="4900"/>
              </a:lnSpc>
            </a:pPr>
            <a:r>
              <a:rPr lang="en-US" sz="3500" b="1">
                <a:solidFill>
                  <a:srgbClr val="131416"/>
                </a:solidFill>
                <a:latin typeface="Open Sans Bold"/>
                <a:ea typeface="Open Sans Bold"/>
                <a:cs typeface="Open Sans Bold"/>
                <a:sym typeface="Open Sans Bold"/>
              </a:rPr>
              <a:t>Originalidad</a:t>
            </a:r>
          </a:p>
        </p:txBody>
      </p:sp>
      <p:sp>
        <p:nvSpPr>
          <p:cNvPr id="9" name="TextBox 9"/>
          <p:cNvSpPr txBox="1"/>
          <p:nvPr/>
        </p:nvSpPr>
        <p:spPr>
          <a:xfrm>
            <a:off x="7659159" y="5203209"/>
            <a:ext cx="3074451" cy="596900"/>
          </a:xfrm>
          <a:prstGeom prst="rect">
            <a:avLst/>
          </a:prstGeom>
        </p:spPr>
        <p:txBody>
          <a:bodyPr lIns="0" tIns="0" rIns="0" bIns="0" rtlCol="0" anchor="t">
            <a:spAutoFit/>
          </a:bodyPr>
          <a:lstStyle/>
          <a:p>
            <a:pPr algn="just">
              <a:lnSpc>
                <a:spcPts val="4900"/>
              </a:lnSpc>
            </a:pPr>
            <a:r>
              <a:rPr lang="en-US" sz="3500" b="1">
                <a:solidFill>
                  <a:srgbClr val="131416"/>
                </a:solidFill>
                <a:latin typeface="Open Sans Bold"/>
                <a:ea typeface="Open Sans Bold"/>
                <a:cs typeface="Open Sans Bold"/>
                <a:sym typeface="Open Sans Bold"/>
              </a:rPr>
              <a:t>Flexibilidad</a:t>
            </a:r>
          </a:p>
        </p:txBody>
      </p:sp>
      <p:sp>
        <p:nvSpPr>
          <p:cNvPr id="10" name="TextBox 10"/>
          <p:cNvSpPr txBox="1"/>
          <p:nvPr/>
        </p:nvSpPr>
        <p:spPr>
          <a:xfrm>
            <a:off x="13378662" y="5203209"/>
            <a:ext cx="3074451" cy="596900"/>
          </a:xfrm>
          <a:prstGeom prst="rect">
            <a:avLst/>
          </a:prstGeom>
        </p:spPr>
        <p:txBody>
          <a:bodyPr lIns="0" tIns="0" rIns="0" bIns="0" rtlCol="0" anchor="t">
            <a:spAutoFit/>
          </a:bodyPr>
          <a:lstStyle/>
          <a:p>
            <a:pPr algn="just">
              <a:lnSpc>
                <a:spcPts val="4900"/>
              </a:lnSpc>
            </a:pPr>
            <a:r>
              <a:rPr lang="en-US" sz="3500" b="1">
                <a:solidFill>
                  <a:srgbClr val="131416"/>
                </a:solidFill>
                <a:latin typeface="Open Sans Bold"/>
                <a:ea typeface="Open Sans Bold"/>
                <a:cs typeface="Open Sans Bold"/>
                <a:sym typeface="Open Sans Bold"/>
              </a:rPr>
              <a:t>Sensibilidad</a:t>
            </a:r>
          </a:p>
        </p:txBody>
      </p:sp>
      <p:sp>
        <p:nvSpPr>
          <p:cNvPr id="11" name="TextBox 11"/>
          <p:cNvSpPr txBox="1"/>
          <p:nvPr/>
        </p:nvSpPr>
        <p:spPr>
          <a:xfrm>
            <a:off x="5592238" y="9191625"/>
            <a:ext cx="1642077" cy="596900"/>
          </a:xfrm>
          <a:prstGeom prst="rect">
            <a:avLst/>
          </a:prstGeom>
        </p:spPr>
        <p:txBody>
          <a:bodyPr lIns="0" tIns="0" rIns="0" bIns="0" rtlCol="0" anchor="t">
            <a:spAutoFit/>
          </a:bodyPr>
          <a:lstStyle/>
          <a:p>
            <a:pPr algn="just">
              <a:lnSpc>
                <a:spcPts val="4900"/>
              </a:lnSpc>
            </a:pPr>
            <a:r>
              <a:rPr lang="en-US" sz="3500" b="1">
                <a:solidFill>
                  <a:srgbClr val="131416"/>
                </a:solidFill>
                <a:latin typeface="Open Sans Bold"/>
                <a:ea typeface="Open Sans Bold"/>
                <a:cs typeface="Open Sans Bold"/>
                <a:sym typeface="Open Sans Bold"/>
              </a:rPr>
              <a:t>Fluidez</a:t>
            </a:r>
          </a:p>
        </p:txBody>
      </p:sp>
      <p:sp>
        <p:nvSpPr>
          <p:cNvPr id="12" name="TextBox 12"/>
          <p:cNvSpPr txBox="1"/>
          <p:nvPr/>
        </p:nvSpPr>
        <p:spPr>
          <a:xfrm>
            <a:off x="10871638" y="9191625"/>
            <a:ext cx="3631900" cy="596900"/>
          </a:xfrm>
          <a:prstGeom prst="rect">
            <a:avLst/>
          </a:prstGeom>
        </p:spPr>
        <p:txBody>
          <a:bodyPr lIns="0" tIns="0" rIns="0" bIns="0" rtlCol="0" anchor="t">
            <a:spAutoFit/>
          </a:bodyPr>
          <a:lstStyle/>
          <a:p>
            <a:pPr algn="just">
              <a:lnSpc>
                <a:spcPts val="4900"/>
              </a:lnSpc>
            </a:pPr>
            <a:r>
              <a:rPr lang="en-US" sz="3500" b="1">
                <a:solidFill>
                  <a:srgbClr val="131416"/>
                </a:solidFill>
                <a:latin typeface="Open Sans Bold"/>
                <a:ea typeface="Open Sans Bold"/>
                <a:cs typeface="Open Sans Bold"/>
                <a:sym typeface="Open Sans Bold"/>
              </a:rPr>
              <a:t>Inconformismo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PASOS EN LA RESOLUCIÓN DE PROBLEMAS</a:t>
            </a:r>
          </a:p>
        </p:txBody>
      </p:sp>
      <p:sp>
        <p:nvSpPr>
          <p:cNvPr id="3" name="TextBox 3"/>
          <p:cNvSpPr txBox="1"/>
          <p:nvPr/>
        </p:nvSpPr>
        <p:spPr>
          <a:xfrm>
            <a:off x="1338901" y="1927290"/>
            <a:ext cx="16126564" cy="699452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1. Definir el problema:</a:t>
            </a:r>
          </a:p>
          <a:p>
            <a:pPr algn="just">
              <a:lnSpc>
                <a:spcPts val="3499"/>
              </a:lnSpc>
            </a:pPr>
            <a:r>
              <a:rPr lang="en-US" sz="2499">
                <a:solidFill>
                  <a:srgbClr val="131416"/>
                </a:solidFill>
                <a:latin typeface="Open Sans"/>
                <a:ea typeface="Open Sans"/>
                <a:cs typeface="Open Sans"/>
                <a:sym typeface="Open Sans"/>
              </a:rPr>
              <a:t>Identificar claramente el problema real, diferenciando hechos de opiniones y buscando las causas profundas. Una buena definición evita soluciones equivocadas. Es el paso más crítico del proceso.</a:t>
            </a:r>
          </a:p>
          <a:p>
            <a:pPr algn="just">
              <a:lnSpc>
                <a:spcPts val="3499"/>
              </a:lnSpc>
            </a:pPr>
            <a:endParaRPr lang="en-US" sz="2499">
              <a:solidFill>
                <a:srgbClr val="131416"/>
              </a:solidFill>
              <a:latin typeface="Open Sans"/>
              <a:ea typeface="Open Sans"/>
              <a:cs typeface="Open Sans"/>
              <a:sym typeface="Open Sans"/>
            </a:endParaRPr>
          </a:p>
          <a:p>
            <a:pPr algn="just">
              <a:lnSpc>
                <a:spcPts val="3499"/>
              </a:lnSpc>
            </a:pPr>
            <a:r>
              <a:rPr lang="en-US" sz="2499" b="1">
                <a:solidFill>
                  <a:srgbClr val="131416"/>
                </a:solidFill>
                <a:latin typeface="Open Sans Bold"/>
                <a:ea typeface="Open Sans Bold"/>
                <a:cs typeface="Open Sans Bold"/>
                <a:sym typeface="Open Sans Bold"/>
              </a:rPr>
              <a:t>2. Generar soluciones alternativas:</a:t>
            </a:r>
          </a:p>
          <a:p>
            <a:pPr algn="just">
              <a:lnSpc>
                <a:spcPts val="3499"/>
              </a:lnSpc>
            </a:pPr>
            <a:r>
              <a:rPr lang="en-US" sz="2499">
                <a:solidFill>
                  <a:srgbClr val="131416"/>
                </a:solidFill>
                <a:latin typeface="Open Sans"/>
                <a:ea typeface="Open Sans"/>
                <a:cs typeface="Open Sans"/>
                <a:sym typeface="Open Sans"/>
              </a:rPr>
              <a:t>Proponer varias ideas sin evaluarlas aún, fomentando la creatividad y la participación de todos los involucrados. La variedad de opciones aumenta la probabilidad de éxito.</a:t>
            </a:r>
          </a:p>
          <a:p>
            <a:pPr algn="just">
              <a:lnSpc>
                <a:spcPts val="3499"/>
              </a:lnSpc>
            </a:pPr>
            <a:endParaRPr lang="en-US" sz="2499">
              <a:solidFill>
                <a:srgbClr val="131416"/>
              </a:solidFill>
              <a:latin typeface="Open Sans"/>
              <a:ea typeface="Open Sans"/>
              <a:cs typeface="Open Sans"/>
              <a:sym typeface="Open Sans"/>
            </a:endParaRPr>
          </a:p>
          <a:p>
            <a:pPr algn="just">
              <a:lnSpc>
                <a:spcPts val="3499"/>
              </a:lnSpc>
            </a:pPr>
            <a:r>
              <a:rPr lang="en-US" sz="2499" b="1">
                <a:solidFill>
                  <a:srgbClr val="131416"/>
                </a:solidFill>
                <a:latin typeface="Open Sans Bold"/>
                <a:ea typeface="Open Sans Bold"/>
                <a:cs typeface="Open Sans Bold"/>
                <a:sym typeface="Open Sans Bold"/>
              </a:rPr>
              <a:t>3. Evaluar y seleccionar una alternativa:</a:t>
            </a:r>
          </a:p>
          <a:p>
            <a:pPr algn="just">
              <a:lnSpc>
                <a:spcPts val="3499"/>
              </a:lnSpc>
            </a:pPr>
            <a:r>
              <a:rPr lang="en-US" sz="2499">
                <a:solidFill>
                  <a:srgbClr val="131416"/>
                </a:solidFill>
                <a:latin typeface="Open Sans"/>
                <a:ea typeface="Open Sans"/>
                <a:cs typeface="Open Sans"/>
                <a:sym typeface="Open Sans"/>
              </a:rPr>
              <a:t>Analizar las ventajas y desventajas de cada opción en función de cómo resuelve el problema. Seleccionar la alternativa más efectiva y viable dentro del contexto.</a:t>
            </a:r>
          </a:p>
          <a:p>
            <a:pPr algn="just">
              <a:lnSpc>
                <a:spcPts val="3499"/>
              </a:lnSpc>
            </a:pPr>
            <a:endParaRPr lang="en-US" sz="2499">
              <a:solidFill>
                <a:srgbClr val="131416"/>
              </a:solidFill>
              <a:latin typeface="Open Sans"/>
              <a:ea typeface="Open Sans"/>
              <a:cs typeface="Open Sans"/>
              <a:sym typeface="Open Sans"/>
            </a:endParaRPr>
          </a:p>
          <a:p>
            <a:pPr algn="just">
              <a:lnSpc>
                <a:spcPts val="3499"/>
              </a:lnSpc>
            </a:pPr>
            <a:r>
              <a:rPr lang="en-US" sz="2499" b="1">
                <a:solidFill>
                  <a:srgbClr val="131416"/>
                </a:solidFill>
                <a:latin typeface="Open Sans Bold"/>
                <a:ea typeface="Open Sans Bold"/>
                <a:cs typeface="Open Sans Bold"/>
                <a:sym typeface="Open Sans Bold"/>
              </a:rPr>
              <a:t>4. Implementar y monitorear:</a:t>
            </a:r>
          </a:p>
          <a:p>
            <a:pPr algn="just">
              <a:lnSpc>
                <a:spcPts val="3499"/>
              </a:lnSpc>
            </a:pPr>
            <a:r>
              <a:rPr lang="en-US" sz="2499">
                <a:solidFill>
                  <a:srgbClr val="131416"/>
                </a:solidFill>
                <a:latin typeface="Open Sans"/>
                <a:ea typeface="Open Sans"/>
                <a:cs typeface="Open Sans"/>
                <a:sym typeface="Open Sans"/>
              </a:rPr>
              <a:t>Aplicar la solución elegida, anticipando resistencias y asegurando participación. Monitorear su efectividad y realizar ajustes si es necesario, usando la experiencia como retroalimentación.</a:t>
            </a:r>
          </a:p>
          <a:p>
            <a:pPr algn="just">
              <a:lnSpc>
                <a:spcPts val="3499"/>
              </a:lnSpc>
            </a:pPr>
            <a:endParaRPr lang="en-US" sz="2499">
              <a:solidFill>
                <a:srgbClr val="131416"/>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9" y="2206093"/>
            <a:ext cx="14365903" cy="6179140"/>
          </a:xfrm>
          <a:prstGeom prst="rect">
            <a:avLst/>
          </a:prstGeom>
        </p:spPr>
        <p:txBody>
          <a:bodyPr lIns="0" tIns="0" rIns="0" bIns="0" rtlCol="0" anchor="t">
            <a:spAutoFit/>
          </a:bodyPr>
          <a:lstStyle/>
          <a:p>
            <a:pPr algn="l">
              <a:lnSpc>
                <a:spcPts val="6186"/>
              </a:lnSpc>
            </a:pPr>
            <a:r>
              <a:rPr lang="en-US" sz="3576" b="1">
                <a:solidFill>
                  <a:srgbClr val="131416"/>
                </a:solidFill>
                <a:latin typeface="Garet Bold"/>
                <a:ea typeface="Garet Bold"/>
                <a:cs typeface="Garet Bold"/>
                <a:sym typeface="Garet Bold"/>
              </a:rPr>
              <a:t>Problema: </a:t>
            </a:r>
            <a:r>
              <a:rPr lang="en-US" sz="3576">
                <a:solidFill>
                  <a:srgbClr val="131416"/>
                </a:solidFill>
                <a:latin typeface="Garet"/>
                <a:ea typeface="Garet"/>
                <a:cs typeface="Garet"/>
                <a:sym typeface="Garet"/>
              </a:rPr>
              <a:t>El botón de guardar no funciona en una pagina web.</a:t>
            </a:r>
          </a:p>
          <a:p>
            <a:pPr algn="l">
              <a:lnSpc>
                <a:spcPts val="6186"/>
              </a:lnSpc>
            </a:pPr>
            <a:r>
              <a:rPr lang="en-US" sz="3576" b="1">
                <a:solidFill>
                  <a:srgbClr val="131416"/>
                </a:solidFill>
                <a:latin typeface="Garet Bold"/>
                <a:ea typeface="Garet Bold"/>
                <a:cs typeface="Garet Bold"/>
                <a:sym typeface="Garet Bold"/>
              </a:rPr>
              <a:t>Pasos:</a:t>
            </a:r>
          </a:p>
          <a:p>
            <a:pPr marL="772088" lvl="1" indent="-386044" algn="l">
              <a:lnSpc>
                <a:spcPts val="6186"/>
              </a:lnSpc>
              <a:buFont typeface="Arial"/>
              <a:buChar char="•"/>
            </a:pPr>
            <a:r>
              <a:rPr lang="en-US" sz="3576" b="1">
                <a:solidFill>
                  <a:srgbClr val="131416"/>
                </a:solidFill>
                <a:latin typeface="Garet Bold"/>
                <a:ea typeface="Garet Bold"/>
                <a:cs typeface="Garet Bold"/>
                <a:sym typeface="Garet Bold"/>
              </a:rPr>
              <a:t>Definir el problema:</a:t>
            </a:r>
          </a:p>
          <a:p>
            <a:pPr marL="1544175" lvl="2" indent="-514725" algn="just">
              <a:lnSpc>
                <a:spcPts val="6186"/>
              </a:lnSpc>
              <a:buFont typeface="Arial"/>
              <a:buChar char="⚬"/>
            </a:pPr>
            <a:r>
              <a:rPr lang="en-US" sz="3576">
                <a:solidFill>
                  <a:srgbClr val="131416"/>
                </a:solidFill>
                <a:latin typeface="Garet"/>
                <a:ea typeface="Garet"/>
                <a:cs typeface="Garet"/>
                <a:sym typeface="Garet"/>
              </a:rPr>
              <a:t>Al momento de hacer clic en el botón "Guardar", no se guarda la información ingresada. Se revisa y se detecta que el botón no está conectado correctamente a la función que guarda los datos.</a:t>
            </a:r>
          </a:p>
        </p:txBody>
      </p:sp>
      <p:sp>
        <p:nvSpPr>
          <p:cNvPr id="3" name="Freeform 3"/>
          <p:cNvSpPr/>
          <p:nvPr/>
        </p:nvSpPr>
        <p:spPr>
          <a:xfrm>
            <a:off x="89704" y="8576535"/>
            <a:ext cx="2570370" cy="1710465"/>
          </a:xfrm>
          <a:custGeom>
            <a:avLst/>
            <a:gdLst/>
            <a:ahLst/>
            <a:cxnLst/>
            <a:rect l="l" t="t" r="r" b="b"/>
            <a:pathLst>
              <a:path w="2570370" h="1710465">
                <a:moveTo>
                  <a:pt x="0" y="0"/>
                </a:moveTo>
                <a:lnTo>
                  <a:pt x="2570370" y="0"/>
                </a:lnTo>
                <a:lnTo>
                  <a:pt x="2570370" y="1710465"/>
                </a:lnTo>
                <a:lnTo>
                  <a:pt x="0" y="1710465"/>
                </a:lnTo>
                <a:lnTo>
                  <a:pt x="0" y="0"/>
                </a:lnTo>
                <a:close/>
              </a:path>
            </a:pathLst>
          </a:custGeom>
          <a:blipFill>
            <a:blip r:embed="rId2"/>
            <a:stretch>
              <a:fillRect/>
            </a:stretch>
          </a:blipFill>
        </p:spPr>
        <p:txBody>
          <a:bodyPr/>
          <a:lstStyle/>
          <a:p>
            <a:endParaRPr lang="es-GT"/>
          </a:p>
        </p:txBody>
      </p:sp>
      <p:sp>
        <p:nvSpPr>
          <p:cNvPr id="4" name="TextBox 4"/>
          <p:cNvSpPr txBox="1"/>
          <p:nvPr/>
        </p:nvSpPr>
        <p:spPr>
          <a:xfrm>
            <a:off x="1374889" y="654364"/>
            <a:ext cx="13991174" cy="937141"/>
          </a:xfrm>
          <a:prstGeom prst="rect">
            <a:avLst/>
          </a:prstGeom>
        </p:spPr>
        <p:txBody>
          <a:bodyPr lIns="0" tIns="0" rIns="0" bIns="0" rtlCol="0" anchor="t">
            <a:spAutoFit/>
          </a:bodyPr>
          <a:lstStyle/>
          <a:p>
            <a:pPr algn="just">
              <a:lnSpc>
                <a:spcPts val="6890"/>
              </a:lnSpc>
            </a:pPr>
            <a:r>
              <a:rPr lang="en-US" sz="6098">
                <a:solidFill>
                  <a:srgbClr val="131416"/>
                </a:solidFill>
                <a:latin typeface="Horizon"/>
                <a:ea typeface="Horizon"/>
                <a:cs typeface="Horizon"/>
                <a:sym typeface="Horizon"/>
              </a:rPr>
              <a:t>EJEMPLO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9" y="2206093"/>
            <a:ext cx="14365903" cy="7063083"/>
          </a:xfrm>
          <a:prstGeom prst="rect">
            <a:avLst/>
          </a:prstGeom>
        </p:spPr>
        <p:txBody>
          <a:bodyPr lIns="0" tIns="0" rIns="0" bIns="0" rtlCol="0" anchor="t">
            <a:spAutoFit/>
          </a:bodyPr>
          <a:lstStyle/>
          <a:p>
            <a:pPr algn="l">
              <a:lnSpc>
                <a:spcPts val="6186"/>
              </a:lnSpc>
            </a:pPr>
            <a:endParaRPr/>
          </a:p>
          <a:p>
            <a:pPr marL="647700" lvl="1" indent="-323850" algn="l">
              <a:lnSpc>
                <a:spcPts val="5190"/>
              </a:lnSpc>
              <a:buFont typeface="Arial"/>
              <a:buChar char="•"/>
            </a:pPr>
            <a:r>
              <a:rPr lang="en-US" sz="3000" b="1">
                <a:solidFill>
                  <a:srgbClr val="131416"/>
                </a:solidFill>
                <a:latin typeface="Garet Bold"/>
                <a:ea typeface="Garet Bold"/>
                <a:cs typeface="Garet Bold"/>
                <a:sym typeface="Garet Bold"/>
              </a:rPr>
              <a:t>Generar soluciones alternativas</a:t>
            </a:r>
          </a:p>
          <a:p>
            <a:pPr marL="1079499" lvl="2" indent="-359833" algn="just">
              <a:lnSpc>
                <a:spcPts val="4324"/>
              </a:lnSpc>
              <a:buFont typeface="Arial"/>
              <a:buChar char="⚬"/>
            </a:pPr>
            <a:r>
              <a:rPr lang="en-US" sz="2499">
                <a:solidFill>
                  <a:srgbClr val="131416"/>
                </a:solidFill>
                <a:latin typeface="Garet"/>
                <a:ea typeface="Garet"/>
                <a:cs typeface="Garet"/>
                <a:sym typeface="Garet"/>
              </a:rPr>
              <a:t>Revisar si el botón tiene el evento onClick.</a:t>
            </a:r>
          </a:p>
          <a:p>
            <a:pPr marL="1079499" lvl="2" indent="-359833" algn="just">
              <a:lnSpc>
                <a:spcPts val="4324"/>
              </a:lnSpc>
              <a:buFont typeface="Arial"/>
              <a:buChar char="⚬"/>
            </a:pPr>
            <a:r>
              <a:rPr lang="en-US" sz="2499">
                <a:solidFill>
                  <a:srgbClr val="131416"/>
                </a:solidFill>
                <a:latin typeface="Garet"/>
                <a:ea typeface="Garet"/>
                <a:cs typeface="Garet"/>
                <a:sym typeface="Garet"/>
              </a:rPr>
              <a:t>Verificar si la función de guardado existe y está bien escrita</a:t>
            </a:r>
          </a:p>
          <a:p>
            <a:pPr marL="1079499" lvl="2" indent="-359833" algn="just">
              <a:lnSpc>
                <a:spcPts val="4324"/>
              </a:lnSpc>
              <a:buFont typeface="Arial"/>
              <a:buChar char="⚬"/>
            </a:pPr>
            <a:r>
              <a:rPr lang="en-US" sz="2499">
                <a:solidFill>
                  <a:srgbClr val="131416"/>
                </a:solidFill>
                <a:latin typeface="Garet"/>
                <a:ea typeface="Garet"/>
                <a:cs typeface="Garet"/>
                <a:sym typeface="Garet"/>
              </a:rPr>
              <a:t>Probar si hay errores en la consola del navegador.</a:t>
            </a:r>
          </a:p>
          <a:p>
            <a:pPr marL="647700" lvl="1" indent="-323850" algn="just">
              <a:lnSpc>
                <a:spcPts val="5190"/>
              </a:lnSpc>
              <a:buFont typeface="Arial"/>
              <a:buChar char="•"/>
            </a:pPr>
            <a:r>
              <a:rPr lang="en-US" sz="3000" b="1">
                <a:solidFill>
                  <a:srgbClr val="131416"/>
                </a:solidFill>
                <a:latin typeface="Garet Bold"/>
                <a:ea typeface="Garet Bold"/>
                <a:cs typeface="Garet Bold"/>
                <a:sym typeface="Garet Bold"/>
              </a:rPr>
              <a:t>Evaluar y seleccionar una alternativa</a:t>
            </a:r>
          </a:p>
          <a:p>
            <a:pPr marL="1079499" lvl="2" indent="-359833" algn="just">
              <a:lnSpc>
                <a:spcPts val="4324"/>
              </a:lnSpc>
              <a:buFont typeface="Arial"/>
              <a:buChar char="⚬"/>
            </a:pPr>
            <a:r>
              <a:rPr lang="en-US" sz="2499">
                <a:solidFill>
                  <a:srgbClr val="131416"/>
                </a:solidFill>
                <a:latin typeface="Garet"/>
                <a:ea typeface="Garet"/>
                <a:cs typeface="Garet"/>
                <a:sym typeface="Garet"/>
              </a:rPr>
              <a:t>Se encuentra que el botón no tenía asignada la función guardarDatos(). Se decide conectarlo correctamente como primera opción. </a:t>
            </a:r>
          </a:p>
          <a:p>
            <a:pPr marL="647700" lvl="1" indent="-323850" algn="just">
              <a:lnSpc>
                <a:spcPts val="5190"/>
              </a:lnSpc>
              <a:buFont typeface="Arial"/>
              <a:buChar char="•"/>
            </a:pPr>
            <a:r>
              <a:rPr lang="en-US" sz="3000" b="1">
                <a:solidFill>
                  <a:srgbClr val="131416"/>
                </a:solidFill>
                <a:latin typeface="Garet Bold"/>
                <a:ea typeface="Garet Bold"/>
                <a:cs typeface="Garet Bold"/>
                <a:sym typeface="Garet Bold"/>
              </a:rPr>
              <a:t>Implementar y monitorear</a:t>
            </a:r>
          </a:p>
          <a:p>
            <a:pPr marL="1079499" lvl="2" indent="-359833" algn="just">
              <a:lnSpc>
                <a:spcPts val="4324"/>
              </a:lnSpc>
              <a:buFont typeface="Arial"/>
              <a:buChar char="⚬"/>
            </a:pPr>
            <a:r>
              <a:rPr lang="en-US" sz="2499">
                <a:solidFill>
                  <a:srgbClr val="131416"/>
                </a:solidFill>
                <a:latin typeface="Garet"/>
                <a:ea typeface="Garet"/>
                <a:cs typeface="Garet"/>
                <a:sym typeface="Garet"/>
              </a:rPr>
              <a:t>Se corrige el código, se prueba nuevamente y ahora la información se guarda correctamente. Se verifica varias veces con diferentes datos para asegurar que el problema está resuelto.</a:t>
            </a:r>
          </a:p>
        </p:txBody>
      </p:sp>
      <p:sp>
        <p:nvSpPr>
          <p:cNvPr id="3" name="TextBox 3"/>
          <p:cNvSpPr txBox="1"/>
          <p:nvPr/>
        </p:nvSpPr>
        <p:spPr>
          <a:xfrm>
            <a:off x="1374889" y="654364"/>
            <a:ext cx="13991174" cy="937141"/>
          </a:xfrm>
          <a:prstGeom prst="rect">
            <a:avLst/>
          </a:prstGeom>
        </p:spPr>
        <p:txBody>
          <a:bodyPr lIns="0" tIns="0" rIns="0" bIns="0" rtlCol="0" anchor="t">
            <a:spAutoFit/>
          </a:bodyPr>
          <a:lstStyle/>
          <a:p>
            <a:pPr algn="just">
              <a:lnSpc>
                <a:spcPts val="6890"/>
              </a:lnSpc>
            </a:pPr>
            <a:r>
              <a:rPr lang="en-US" sz="6098">
                <a:solidFill>
                  <a:srgbClr val="131416"/>
                </a:solidFill>
                <a:latin typeface="Horizon"/>
                <a:ea typeface="Horizon"/>
                <a:cs typeface="Horizon"/>
                <a:sym typeface="Horizon"/>
              </a:rPr>
              <a:t>EJEMPLO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3707" y="2118233"/>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374889" y="644839"/>
            <a:ext cx="13991174" cy="858503"/>
          </a:xfrm>
          <a:prstGeom prst="rect">
            <a:avLst/>
          </a:prstGeom>
        </p:spPr>
        <p:txBody>
          <a:bodyPr lIns="0" tIns="0" rIns="0" bIns="0" rtlCol="0" anchor="t">
            <a:spAutoFit/>
          </a:bodyPr>
          <a:lstStyle/>
          <a:p>
            <a:pPr algn="l">
              <a:lnSpc>
                <a:spcPts val="6212"/>
              </a:lnSpc>
            </a:pPr>
            <a:r>
              <a:rPr lang="en-US" sz="5498">
                <a:solidFill>
                  <a:srgbClr val="131416"/>
                </a:solidFill>
                <a:latin typeface="Horizon"/>
                <a:ea typeface="Horizon"/>
                <a:cs typeface="Horizon"/>
                <a:sym typeface="Horizon"/>
              </a:rPr>
              <a:t>BLOQUEOS MENTALES</a:t>
            </a:r>
          </a:p>
        </p:txBody>
      </p:sp>
      <p:sp>
        <p:nvSpPr>
          <p:cNvPr id="4" name="TextBox 4"/>
          <p:cNvSpPr txBox="1"/>
          <p:nvPr/>
        </p:nvSpPr>
        <p:spPr>
          <a:xfrm>
            <a:off x="9627295" y="2235200"/>
            <a:ext cx="7632005" cy="7023100"/>
          </a:xfrm>
          <a:prstGeom prst="rect">
            <a:avLst/>
          </a:prstGeom>
        </p:spPr>
        <p:txBody>
          <a:bodyPr lIns="0" tIns="0" rIns="0" bIns="0" rtlCol="0" anchor="t">
            <a:spAutoFit/>
          </a:bodyPr>
          <a:lstStyle/>
          <a:p>
            <a:pPr algn="just">
              <a:lnSpc>
                <a:spcPts val="5599"/>
              </a:lnSpc>
            </a:pPr>
            <a:r>
              <a:rPr lang="en-US" sz="3999">
                <a:solidFill>
                  <a:srgbClr val="131416"/>
                </a:solidFill>
                <a:latin typeface="Open Sans"/>
                <a:ea typeface="Open Sans"/>
                <a:cs typeface="Open Sans"/>
                <a:sym typeface="Open Sans"/>
              </a:rPr>
              <a:t>Son barreras cognitivas o emocionales que dificultan el pensamiento claro, impiden percibir correctamente un problema o encontrar soluciones. Pueden originarse por el estrés, el miedo o hábitos rígidos de pensamiento, y limitan nuestra capacidad creativa y resolutiva.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202236" y="2862636"/>
            <a:ext cx="8274644" cy="4882040"/>
          </a:xfrm>
          <a:custGeom>
            <a:avLst/>
            <a:gdLst/>
            <a:ahLst/>
            <a:cxnLst/>
            <a:rect l="l" t="t" r="r" b="b"/>
            <a:pathLst>
              <a:path w="8274644" h="4882040">
                <a:moveTo>
                  <a:pt x="0" y="0"/>
                </a:moveTo>
                <a:lnTo>
                  <a:pt x="8274643" y="0"/>
                </a:lnTo>
                <a:lnTo>
                  <a:pt x="8274643" y="4882040"/>
                </a:lnTo>
                <a:lnTo>
                  <a:pt x="0" y="488204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TIPOS DE BLOQUEOS</a:t>
            </a:r>
          </a:p>
        </p:txBody>
      </p:sp>
      <p:sp>
        <p:nvSpPr>
          <p:cNvPr id="4" name="TextBox 4"/>
          <p:cNvSpPr txBox="1"/>
          <p:nvPr/>
        </p:nvSpPr>
        <p:spPr>
          <a:xfrm>
            <a:off x="942672" y="3424056"/>
            <a:ext cx="8028233" cy="3692525"/>
          </a:xfrm>
          <a:prstGeom prst="rect">
            <a:avLst/>
          </a:prstGeom>
        </p:spPr>
        <p:txBody>
          <a:bodyPr lIns="0" tIns="0" rIns="0" bIns="0" rtlCol="0" anchor="t">
            <a:spAutoFit/>
          </a:bodyPr>
          <a:lstStyle/>
          <a:p>
            <a:pPr marL="755651" lvl="1" indent="-377825" algn="just">
              <a:lnSpc>
                <a:spcPts val="4900"/>
              </a:lnSpc>
              <a:buFont typeface="Arial"/>
              <a:buChar char="•"/>
            </a:pPr>
            <a:r>
              <a:rPr lang="en-US" sz="3500">
                <a:solidFill>
                  <a:srgbClr val="131416"/>
                </a:solidFill>
                <a:latin typeface="Open Sans"/>
                <a:ea typeface="Open Sans"/>
                <a:cs typeface="Open Sans"/>
                <a:sym typeface="Open Sans"/>
              </a:rPr>
              <a:t>Bloqueo perceptivo</a:t>
            </a:r>
          </a:p>
          <a:p>
            <a:pPr marL="755651" lvl="1" indent="-377825" algn="just">
              <a:lnSpc>
                <a:spcPts val="4900"/>
              </a:lnSpc>
              <a:buFont typeface="Arial"/>
              <a:buChar char="•"/>
            </a:pPr>
            <a:r>
              <a:rPr lang="en-US" sz="3500">
                <a:solidFill>
                  <a:srgbClr val="131416"/>
                </a:solidFill>
                <a:latin typeface="Open Sans"/>
                <a:ea typeface="Open Sans"/>
                <a:cs typeface="Open Sans"/>
                <a:sym typeface="Open Sans"/>
              </a:rPr>
              <a:t>Bloqueo emocional</a:t>
            </a:r>
          </a:p>
          <a:p>
            <a:pPr marL="755651" lvl="1" indent="-377825" algn="just">
              <a:lnSpc>
                <a:spcPts val="4900"/>
              </a:lnSpc>
              <a:buFont typeface="Arial"/>
              <a:buChar char="•"/>
            </a:pPr>
            <a:r>
              <a:rPr lang="en-US" sz="3500">
                <a:solidFill>
                  <a:srgbClr val="131416"/>
                </a:solidFill>
                <a:latin typeface="Open Sans"/>
                <a:ea typeface="Open Sans"/>
                <a:cs typeface="Open Sans"/>
                <a:sym typeface="Open Sans"/>
              </a:rPr>
              <a:t>Bloqueo cultural</a:t>
            </a:r>
          </a:p>
          <a:p>
            <a:pPr marL="755651" lvl="1" indent="-377825" algn="just">
              <a:lnSpc>
                <a:spcPts val="4900"/>
              </a:lnSpc>
              <a:buFont typeface="Arial"/>
              <a:buChar char="•"/>
            </a:pPr>
            <a:r>
              <a:rPr lang="en-US" sz="3500">
                <a:solidFill>
                  <a:srgbClr val="131416"/>
                </a:solidFill>
                <a:latin typeface="Open Sans"/>
                <a:ea typeface="Open Sans"/>
                <a:cs typeface="Open Sans"/>
                <a:sym typeface="Open Sans"/>
              </a:rPr>
              <a:t>Bloqueo ambiental</a:t>
            </a:r>
          </a:p>
          <a:p>
            <a:pPr marL="755651" lvl="1" indent="-377825" algn="just">
              <a:lnSpc>
                <a:spcPts val="4900"/>
              </a:lnSpc>
              <a:buFont typeface="Arial"/>
              <a:buChar char="•"/>
            </a:pPr>
            <a:r>
              <a:rPr lang="en-US" sz="3500">
                <a:solidFill>
                  <a:srgbClr val="131416"/>
                </a:solidFill>
                <a:latin typeface="Open Sans"/>
                <a:ea typeface="Open Sans"/>
                <a:cs typeface="Open Sans"/>
                <a:sym typeface="Open Sans"/>
              </a:rPr>
              <a:t>Bloqueo intelectual</a:t>
            </a:r>
          </a:p>
          <a:p>
            <a:pPr marL="755651" lvl="1" indent="-377825" algn="just">
              <a:lnSpc>
                <a:spcPts val="4900"/>
              </a:lnSpc>
              <a:buFont typeface="Arial"/>
              <a:buChar char="•"/>
            </a:pPr>
            <a:r>
              <a:rPr lang="en-US" sz="3500">
                <a:solidFill>
                  <a:srgbClr val="131416"/>
                </a:solidFill>
                <a:latin typeface="Open Sans"/>
                <a:ea typeface="Open Sans"/>
                <a:cs typeface="Open Sans"/>
                <a:sym typeface="Open Sans"/>
              </a:rPr>
              <a:t>Bloqueo expresivo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EJEMPLOS DE BLOQUEOS MENTALES</a:t>
            </a:r>
          </a:p>
        </p:txBody>
      </p:sp>
      <p:sp>
        <p:nvSpPr>
          <p:cNvPr id="3" name="TextBox 3"/>
          <p:cNvSpPr txBox="1"/>
          <p:nvPr/>
        </p:nvSpPr>
        <p:spPr>
          <a:xfrm>
            <a:off x="1028700" y="2354946"/>
            <a:ext cx="4898338" cy="261302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Bloqueo perceptivo:</a:t>
            </a:r>
          </a:p>
          <a:p>
            <a:pPr algn="just">
              <a:lnSpc>
                <a:spcPts val="3499"/>
              </a:lnSpc>
            </a:pPr>
            <a:r>
              <a:rPr lang="en-US" sz="2499">
                <a:solidFill>
                  <a:srgbClr val="131416"/>
                </a:solidFill>
                <a:latin typeface="Open Sans"/>
                <a:ea typeface="Open Sans"/>
                <a:cs typeface="Open Sans"/>
                <a:sym typeface="Open Sans"/>
              </a:rPr>
              <a:t>Solo se  ve una solución “correcta” al error en el código, ignorando enfoques alternativos porque estás acostumbrado a un solo patrón.</a:t>
            </a:r>
          </a:p>
        </p:txBody>
      </p:sp>
      <p:sp>
        <p:nvSpPr>
          <p:cNvPr id="4" name="TextBox 4"/>
          <p:cNvSpPr txBox="1"/>
          <p:nvPr/>
        </p:nvSpPr>
        <p:spPr>
          <a:xfrm>
            <a:off x="6947480" y="2574021"/>
            <a:ext cx="4898338" cy="217487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Bloqueo emocional:</a:t>
            </a:r>
          </a:p>
          <a:p>
            <a:pPr algn="just">
              <a:lnSpc>
                <a:spcPts val="3499"/>
              </a:lnSpc>
            </a:pPr>
            <a:r>
              <a:rPr lang="en-US" sz="2499">
                <a:solidFill>
                  <a:srgbClr val="131416"/>
                </a:solidFill>
                <a:latin typeface="Open Sans"/>
                <a:ea typeface="Open Sans"/>
                <a:cs typeface="Open Sans"/>
                <a:sym typeface="Open Sans"/>
              </a:rPr>
              <a:t>Tener miedo a equivocarse frente al equipo, lo que impide proponer ideas nuevas en la reunión.</a:t>
            </a:r>
          </a:p>
        </p:txBody>
      </p:sp>
      <p:sp>
        <p:nvSpPr>
          <p:cNvPr id="5" name="TextBox 5"/>
          <p:cNvSpPr txBox="1"/>
          <p:nvPr/>
        </p:nvSpPr>
        <p:spPr>
          <a:xfrm>
            <a:off x="12866260" y="2354946"/>
            <a:ext cx="4898338" cy="305117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Bloqueo cultural:</a:t>
            </a:r>
          </a:p>
          <a:p>
            <a:pPr algn="just">
              <a:lnSpc>
                <a:spcPts val="3499"/>
              </a:lnSpc>
            </a:pPr>
            <a:r>
              <a:rPr lang="en-US" sz="2499">
                <a:solidFill>
                  <a:srgbClr val="131416"/>
                </a:solidFill>
                <a:latin typeface="Open Sans"/>
                <a:ea typeface="Open Sans"/>
                <a:cs typeface="Open Sans"/>
                <a:sym typeface="Open Sans"/>
              </a:rPr>
              <a:t>Creer que en tu rol como estudiante aún no deberías tomar decisiones importantes, por lo que no participas activamente en el diseño del sistema.</a:t>
            </a:r>
          </a:p>
        </p:txBody>
      </p:sp>
      <p:sp>
        <p:nvSpPr>
          <p:cNvPr id="6" name="TextBox 6"/>
          <p:cNvSpPr txBox="1"/>
          <p:nvPr/>
        </p:nvSpPr>
        <p:spPr>
          <a:xfrm>
            <a:off x="1028700" y="6478395"/>
            <a:ext cx="4898338" cy="217487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Bloqueo ambiental:</a:t>
            </a:r>
          </a:p>
          <a:p>
            <a:pPr algn="just">
              <a:lnSpc>
                <a:spcPts val="3499"/>
              </a:lnSpc>
            </a:pPr>
            <a:r>
              <a:rPr lang="en-US" sz="2499">
                <a:solidFill>
                  <a:srgbClr val="131416"/>
                </a:solidFill>
                <a:latin typeface="Open Sans"/>
                <a:ea typeface="Open Sans"/>
                <a:cs typeface="Open Sans"/>
                <a:sym typeface="Open Sans"/>
              </a:rPr>
              <a:t>El ruido en el aula o la presión del tiempo te impide concentrarte para resolver un problema de lógica.</a:t>
            </a:r>
          </a:p>
        </p:txBody>
      </p:sp>
      <p:sp>
        <p:nvSpPr>
          <p:cNvPr id="7" name="TextBox 7"/>
          <p:cNvSpPr txBox="1"/>
          <p:nvPr/>
        </p:nvSpPr>
        <p:spPr>
          <a:xfrm>
            <a:off x="6694831" y="6478395"/>
            <a:ext cx="4898338" cy="217487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Bloqueo intelectual:</a:t>
            </a:r>
          </a:p>
          <a:p>
            <a:pPr algn="just">
              <a:lnSpc>
                <a:spcPts val="3499"/>
              </a:lnSpc>
            </a:pPr>
            <a:r>
              <a:rPr lang="en-US" sz="2499">
                <a:solidFill>
                  <a:srgbClr val="131416"/>
                </a:solidFill>
                <a:latin typeface="Open Sans"/>
                <a:ea typeface="Open Sans"/>
                <a:cs typeface="Open Sans"/>
                <a:sym typeface="Open Sans"/>
              </a:rPr>
              <a:t>Asumir que no eres “bueno” para la programación, así que ni siquiera intentas solucionar un bug sencillo.</a:t>
            </a:r>
          </a:p>
        </p:txBody>
      </p:sp>
      <p:sp>
        <p:nvSpPr>
          <p:cNvPr id="8" name="TextBox 8"/>
          <p:cNvSpPr txBox="1"/>
          <p:nvPr/>
        </p:nvSpPr>
        <p:spPr>
          <a:xfrm>
            <a:off x="12866260" y="6478395"/>
            <a:ext cx="4898338" cy="2174875"/>
          </a:xfrm>
          <a:prstGeom prst="rect">
            <a:avLst/>
          </a:prstGeom>
        </p:spPr>
        <p:txBody>
          <a:bodyPr lIns="0" tIns="0" rIns="0" bIns="0" rtlCol="0" anchor="t">
            <a:spAutoFit/>
          </a:bodyPr>
          <a:lstStyle/>
          <a:p>
            <a:pPr algn="just">
              <a:lnSpc>
                <a:spcPts val="3499"/>
              </a:lnSpc>
            </a:pPr>
            <a:r>
              <a:rPr lang="en-US" sz="2499" b="1">
                <a:solidFill>
                  <a:srgbClr val="131416"/>
                </a:solidFill>
                <a:latin typeface="Open Sans Bold"/>
                <a:ea typeface="Open Sans Bold"/>
                <a:cs typeface="Open Sans Bold"/>
                <a:sym typeface="Open Sans Bold"/>
              </a:rPr>
              <a:t>Bloqueo expresivo:</a:t>
            </a:r>
          </a:p>
          <a:p>
            <a:pPr algn="just">
              <a:lnSpc>
                <a:spcPts val="3499"/>
              </a:lnSpc>
            </a:pPr>
            <a:r>
              <a:rPr lang="en-US" sz="2499">
                <a:solidFill>
                  <a:srgbClr val="131416"/>
                </a:solidFill>
                <a:latin typeface="Open Sans"/>
                <a:ea typeface="Open Sans"/>
                <a:cs typeface="Open Sans"/>
                <a:sym typeface="Open Sans"/>
              </a:rPr>
              <a:t>Tener una buena idea para optimizar un algoritmo, pero no logras explicarla con claridad al equipo.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8539985" cy="10287000"/>
          </a:xfrm>
          <a:custGeom>
            <a:avLst/>
            <a:gdLst/>
            <a:ahLst/>
            <a:cxnLst/>
            <a:rect l="l" t="t" r="r" b="b"/>
            <a:pathLst>
              <a:path w="8539985" h="10287000">
                <a:moveTo>
                  <a:pt x="0" y="0"/>
                </a:moveTo>
                <a:lnTo>
                  <a:pt x="8539985" y="0"/>
                </a:lnTo>
                <a:lnTo>
                  <a:pt x="8539985" y="10287000"/>
                </a:lnTo>
                <a:lnTo>
                  <a:pt x="0" y="10287000"/>
                </a:lnTo>
                <a:lnTo>
                  <a:pt x="0" y="0"/>
                </a:lnTo>
                <a:close/>
              </a:path>
            </a:pathLst>
          </a:custGeom>
          <a:blipFill>
            <a:blip r:embed="rId2"/>
            <a:stretch>
              <a:fillRect l="-40412" r="-40412"/>
            </a:stretch>
          </a:blipFill>
        </p:spPr>
        <p:txBody>
          <a:bodyPr/>
          <a:lstStyle/>
          <a:p>
            <a:endParaRPr lang="es-GT"/>
          </a:p>
        </p:txBody>
      </p:sp>
      <p:sp>
        <p:nvSpPr>
          <p:cNvPr id="3" name="TextBox 3"/>
          <p:cNvSpPr txBox="1"/>
          <p:nvPr/>
        </p:nvSpPr>
        <p:spPr>
          <a:xfrm>
            <a:off x="9144000" y="4249024"/>
            <a:ext cx="7862708" cy="221615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PRÁCTICA DE LA CREATIVIDAD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5670" y="2575132"/>
            <a:ext cx="4164398" cy="3206586"/>
          </a:xfrm>
          <a:custGeom>
            <a:avLst/>
            <a:gdLst/>
            <a:ahLst/>
            <a:cxnLst/>
            <a:rect l="l" t="t" r="r" b="b"/>
            <a:pathLst>
              <a:path w="4164398" h="3206586">
                <a:moveTo>
                  <a:pt x="0" y="0"/>
                </a:moveTo>
                <a:lnTo>
                  <a:pt x="4164398" y="0"/>
                </a:lnTo>
                <a:lnTo>
                  <a:pt x="4164398" y="3206586"/>
                </a:lnTo>
                <a:lnTo>
                  <a:pt x="0" y="3206586"/>
                </a:lnTo>
                <a:lnTo>
                  <a:pt x="0" y="0"/>
                </a:lnTo>
                <a:close/>
              </a:path>
            </a:pathLst>
          </a:custGeom>
          <a:blipFill>
            <a:blip r:embed="rId2"/>
            <a:stretch>
              <a:fillRect/>
            </a:stretch>
          </a:blipFill>
        </p:spPr>
        <p:txBody>
          <a:bodyPr/>
          <a:lstStyle/>
          <a:p>
            <a:endParaRPr lang="es-GT"/>
          </a:p>
        </p:txBody>
      </p:sp>
      <p:sp>
        <p:nvSpPr>
          <p:cNvPr id="3" name="Freeform 3"/>
          <p:cNvSpPr/>
          <p:nvPr/>
        </p:nvSpPr>
        <p:spPr>
          <a:xfrm>
            <a:off x="6860933" y="2628866"/>
            <a:ext cx="4732236" cy="3152852"/>
          </a:xfrm>
          <a:custGeom>
            <a:avLst/>
            <a:gdLst/>
            <a:ahLst/>
            <a:cxnLst/>
            <a:rect l="l" t="t" r="r" b="b"/>
            <a:pathLst>
              <a:path w="4732236" h="3152852">
                <a:moveTo>
                  <a:pt x="0" y="0"/>
                </a:moveTo>
                <a:lnTo>
                  <a:pt x="4732236" y="0"/>
                </a:lnTo>
                <a:lnTo>
                  <a:pt x="4732236" y="3152852"/>
                </a:lnTo>
                <a:lnTo>
                  <a:pt x="0" y="3152852"/>
                </a:lnTo>
                <a:lnTo>
                  <a:pt x="0" y="0"/>
                </a:lnTo>
                <a:close/>
              </a:path>
            </a:pathLst>
          </a:custGeom>
          <a:blipFill>
            <a:blip r:embed="rId3"/>
            <a:stretch>
              <a:fillRect/>
            </a:stretch>
          </a:blipFill>
        </p:spPr>
        <p:txBody>
          <a:bodyPr/>
          <a:lstStyle/>
          <a:p>
            <a:endParaRPr lang="es-GT"/>
          </a:p>
        </p:txBody>
      </p:sp>
      <p:sp>
        <p:nvSpPr>
          <p:cNvPr id="4" name="Freeform 4"/>
          <p:cNvSpPr/>
          <p:nvPr/>
        </p:nvSpPr>
        <p:spPr>
          <a:xfrm>
            <a:off x="12819318" y="2869834"/>
            <a:ext cx="4748294" cy="2670916"/>
          </a:xfrm>
          <a:custGeom>
            <a:avLst/>
            <a:gdLst/>
            <a:ahLst/>
            <a:cxnLst/>
            <a:rect l="l" t="t" r="r" b="b"/>
            <a:pathLst>
              <a:path w="4748294" h="2670916">
                <a:moveTo>
                  <a:pt x="0" y="0"/>
                </a:moveTo>
                <a:lnTo>
                  <a:pt x="4748294" y="0"/>
                </a:lnTo>
                <a:lnTo>
                  <a:pt x="4748294" y="2670916"/>
                </a:lnTo>
                <a:lnTo>
                  <a:pt x="0" y="2670916"/>
                </a:lnTo>
                <a:lnTo>
                  <a:pt x="0" y="0"/>
                </a:lnTo>
                <a:close/>
              </a:path>
            </a:pathLst>
          </a:custGeom>
          <a:blipFill>
            <a:blip r:embed="rId4"/>
            <a:stretch>
              <a:fillRect/>
            </a:stretch>
          </a:blipFill>
        </p:spPr>
        <p:txBody>
          <a:bodyPr/>
          <a:lstStyle/>
          <a:p>
            <a:endParaRPr lang="es-GT"/>
          </a:p>
        </p:txBody>
      </p:sp>
      <p:sp>
        <p:nvSpPr>
          <p:cNvPr id="5" name="TextBox 5"/>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TÉCNICAS PARA PRODUCIR IDEAS</a:t>
            </a:r>
          </a:p>
        </p:txBody>
      </p:sp>
      <p:sp>
        <p:nvSpPr>
          <p:cNvPr id="6" name="TextBox 6"/>
          <p:cNvSpPr txBox="1"/>
          <p:nvPr/>
        </p:nvSpPr>
        <p:spPr>
          <a:xfrm>
            <a:off x="1028700" y="6207125"/>
            <a:ext cx="4898338" cy="3051175"/>
          </a:xfrm>
          <a:prstGeom prst="rect">
            <a:avLst/>
          </a:prstGeom>
        </p:spPr>
        <p:txBody>
          <a:bodyPr lIns="0" tIns="0" rIns="0" bIns="0" rtlCol="0" anchor="t">
            <a:spAutoFit/>
          </a:bodyPr>
          <a:lstStyle/>
          <a:p>
            <a:pPr algn="just">
              <a:lnSpc>
                <a:spcPts val="3499"/>
              </a:lnSpc>
            </a:pPr>
            <a:r>
              <a:rPr lang="en-US" sz="2499">
                <a:solidFill>
                  <a:srgbClr val="131416"/>
                </a:solidFill>
                <a:latin typeface="Open Sans"/>
                <a:ea typeface="Open Sans"/>
                <a:cs typeface="Open Sans"/>
                <a:sym typeface="Open Sans"/>
              </a:rPr>
              <a:t>En el desarrollo y análisis de sistemas, generar ideas es clave para diseñar soluciones eficientes y novedosas.</a:t>
            </a:r>
          </a:p>
          <a:p>
            <a:pPr algn="just">
              <a:lnSpc>
                <a:spcPts val="3499"/>
              </a:lnSpc>
            </a:pPr>
            <a:endParaRPr lang="en-US" sz="2499">
              <a:solidFill>
                <a:srgbClr val="131416"/>
              </a:solidFill>
              <a:latin typeface="Open Sans"/>
              <a:ea typeface="Open Sans"/>
              <a:cs typeface="Open Sans"/>
              <a:sym typeface="Open Sans"/>
            </a:endParaRPr>
          </a:p>
          <a:p>
            <a:pPr algn="just">
              <a:lnSpc>
                <a:spcPts val="3499"/>
              </a:lnSpc>
            </a:pPr>
            <a:endParaRPr lang="en-US" sz="2499">
              <a:solidFill>
                <a:srgbClr val="131416"/>
              </a:solidFill>
              <a:latin typeface="Open Sans"/>
              <a:ea typeface="Open Sans"/>
              <a:cs typeface="Open Sans"/>
              <a:sym typeface="Open Sans"/>
            </a:endParaRPr>
          </a:p>
          <a:p>
            <a:pPr algn="just">
              <a:lnSpc>
                <a:spcPts val="3499"/>
              </a:lnSpc>
            </a:pPr>
            <a:endParaRPr lang="en-US" sz="2499">
              <a:solidFill>
                <a:srgbClr val="131416"/>
              </a:solidFill>
              <a:latin typeface="Open Sans"/>
              <a:ea typeface="Open Sans"/>
              <a:cs typeface="Open Sans"/>
              <a:sym typeface="Open Sans"/>
            </a:endParaRPr>
          </a:p>
        </p:txBody>
      </p:sp>
      <p:sp>
        <p:nvSpPr>
          <p:cNvPr id="7" name="TextBox 7"/>
          <p:cNvSpPr txBox="1"/>
          <p:nvPr/>
        </p:nvSpPr>
        <p:spPr>
          <a:xfrm>
            <a:off x="6694831" y="6207125"/>
            <a:ext cx="4898338" cy="1736725"/>
          </a:xfrm>
          <a:prstGeom prst="rect">
            <a:avLst/>
          </a:prstGeom>
        </p:spPr>
        <p:txBody>
          <a:bodyPr lIns="0" tIns="0" rIns="0" bIns="0" rtlCol="0" anchor="t">
            <a:spAutoFit/>
          </a:bodyPr>
          <a:lstStyle/>
          <a:p>
            <a:pPr algn="just">
              <a:lnSpc>
                <a:spcPts val="3499"/>
              </a:lnSpc>
            </a:pPr>
            <a:r>
              <a:rPr lang="en-US" sz="2499">
                <a:solidFill>
                  <a:srgbClr val="131416"/>
                </a:solidFill>
                <a:latin typeface="Open Sans"/>
                <a:ea typeface="Open Sans"/>
                <a:cs typeface="Open Sans"/>
                <a:sym typeface="Open Sans"/>
              </a:rPr>
              <a:t>Técnicas como brainstorming, mapas mentales o SCAMPER ayudan a romper la rutina y explorar alternativas.</a:t>
            </a:r>
          </a:p>
        </p:txBody>
      </p:sp>
      <p:sp>
        <p:nvSpPr>
          <p:cNvPr id="8" name="TextBox 8"/>
          <p:cNvSpPr txBox="1"/>
          <p:nvPr/>
        </p:nvSpPr>
        <p:spPr>
          <a:xfrm>
            <a:off x="12669274" y="6207125"/>
            <a:ext cx="4898338" cy="2613025"/>
          </a:xfrm>
          <a:prstGeom prst="rect">
            <a:avLst/>
          </a:prstGeom>
        </p:spPr>
        <p:txBody>
          <a:bodyPr lIns="0" tIns="0" rIns="0" bIns="0" rtlCol="0" anchor="t">
            <a:spAutoFit/>
          </a:bodyPr>
          <a:lstStyle/>
          <a:p>
            <a:pPr algn="just">
              <a:lnSpc>
                <a:spcPts val="3499"/>
              </a:lnSpc>
            </a:pPr>
            <a:r>
              <a:rPr lang="en-US" sz="2499">
                <a:solidFill>
                  <a:srgbClr val="131416"/>
                </a:solidFill>
                <a:latin typeface="Open Sans"/>
                <a:ea typeface="Open Sans"/>
                <a:cs typeface="Open Sans"/>
                <a:sym typeface="Open Sans"/>
              </a:rPr>
              <a:t>La creatividad no es exclusiva de unos pocos: puede entrenarse y aplicarse, especialmente cuando enfrentamos problemas complejos de software o lógica.</a:t>
            </a:r>
          </a:p>
          <a:p>
            <a:pPr algn="just">
              <a:lnSpc>
                <a:spcPts val="3499"/>
              </a:lnSpc>
            </a:pPr>
            <a:endParaRPr lang="en-US" sz="2499">
              <a:solidFill>
                <a:srgbClr val="131416"/>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¿QUIÉNES PRODUCEN IDEAS?</a:t>
            </a:r>
          </a:p>
        </p:txBody>
      </p:sp>
      <p:sp>
        <p:nvSpPr>
          <p:cNvPr id="3" name="TextBox 3"/>
          <p:cNvSpPr txBox="1"/>
          <p:nvPr/>
        </p:nvSpPr>
        <p:spPr>
          <a:xfrm>
            <a:off x="1338901" y="1908240"/>
            <a:ext cx="16126564" cy="6169025"/>
          </a:xfrm>
          <a:prstGeom prst="rect">
            <a:avLst/>
          </a:prstGeom>
        </p:spPr>
        <p:txBody>
          <a:bodyPr lIns="0" tIns="0" rIns="0" bIns="0" rtlCol="0" anchor="t">
            <a:spAutoFit/>
          </a:bodyPr>
          <a:lstStyle/>
          <a:p>
            <a:pPr algn="just">
              <a:lnSpc>
                <a:spcPts val="4900"/>
              </a:lnSpc>
            </a:pPr>
            <a:r>
              <a:rPr lang="en-US" sz="3500" b="1">
                <a:solidFill>
                  <a:srgbClr val="131416"/>
                </a:solidFill>
                <a:latin typeface="Open Sans Bold"/>
                <a:ea typeface="Open Sans Bold"/>
                <a:cs typeface="Open Sans Bold"/>
                <a:sym typeface="Open Sans Bold"/>
              </a:rPr>
              <a:t>1. Speculator (Especulador): </a:t>
            </a:r>
            <a:r>
              <a:rPr lang="en-US" sz="3500">
                <a:solidFill>
                  <a:srgbClr val="131416"/>
                </a:solidFill>
                <a:latin typeface="Open Sans"/>
                <a:ea typeface="Open Sans"/>
                <a:cs typeface="Open Sans"/>
                <a:sym typeface="Open Sans"/>
              </a:rPr>
              <a:t>Persona inquieta, creativa, que busca nuevas combinaciones y mejoras. Es quien innova en lógica, diseño de algoritmos y arquitectura de sistemas.</a:t>
            </a:r>
          </a:p>
          <a:p>
            <a:pPr algn="just">
              <a:lnSpc>
                <a:spcPts val="4900"/>
              </a:lnSpc>
            </a:pPr>
            <a:endParaRPr lang="en-US" sz="3500">
              <a:solidFill>
                <a:srgbClr val="131416"/>
              </a:solidFill>
              <a:latin typeface="Open Sans"/>
              <a:ea typeface="Open Sans"/>
              <a:cs typeface="Open Sans"/>
              <a:sym typeface="Open Sans"/>
            </a:endParaRPr>
          </a:p>
          <a:p>
            <a:pPr algn="just">
              <a:lnSpc>
                <a:spcPts val="4900"/>
              </a:lnSpc>
            </a:pPr>
            <a:r>
              <a:rPr lang="en-US" sz="3500" b="1">
                <a:solidFill>
                  <a:srgbClr val="131416"/>
                </a:solidFill>
                <a:latin typeface="Open Sans Bold"/>
                <a:ea typeface="Open Sans Bold"/>
                <a:cs typeface="Open Sans Bold"/>
                <a:sym typeface="Open Sans Bold"/>
              </a:rPr>
              <a:t>2. Rentier (Accionista): </a:t>
            </a:r>
            <a:r>
              <a:rPr lang="en-US" sz="3500">
                <a:solidFill>
                  <a:srgbClr val="131416"/>
                </a:solidFill>
                <a:latin typeface="Open Sans"/>
                <a:ea typeface="Open Sans"/>
                <a:cs typeface="Open Sans"/>
                <a:sym typeface="Open Sans"/>
              </a:rPr>
              <a:t>Conservador, rutinario, se adapta al sistema sin buscar cambiarlo.</a:t>
            </a:r>
          </a:p>
          <a:p>
            <a:pPr algn="just">
              <a:lnSpc>
                <a:spcPts val="4900"/>
              </a:lnSpc>
            </a:pPr>
            <a:endParaRPr lang="en-US" sz="3500">
              <a:solidFill>
                <a:srgbClr val="131416"/>
              </a:solidFill>
              <a:latin typeface="Open Sans"/>
              <a:ea typeface="Open Sans"/>
              <a:cs typeface="Open Sans"/>
              <a:sym typeface="Open Sans"/>
            </a:endParaRPr>
          </a:p>
          <a:p>
            <a:pPr algn="just">
              <a:lnSpc>
                <a:spcPts val="4900"/>
              </a:lnSpc>
            </a:pPr>
            <a:r>
              <a:rPr lang="en-US" sz="3500" b="1">
                <a:solidFill>
                  <a:srgbClr val="131416"/>
                </a:solidFill>
                <a:latin typeface="Open Sans Bold"/>
                <a:ea typeface="Open Sans Bold"/>
                <a:cs typeface="Open Sans Bold"/>
                <a:sym typeface="Open Sans Bold"/>
              </a:rPr>
              <a:t>3. </a:t>
            </a:r>
            <a:r>
              <a:rPr lang="en-US" sz="3500">
                <a:solidFill>
                  <a:srgbClr val="131416"/>
                </a:solidFill>
                <a:latin typeface="Open Sans"/>
                <a:ea typeface="Open Sans"/>
                <a:cs typeface="Open Sans"/>
                <a:sym typeface="Open Sans"/>
              </a:rPr>
              <a:t>Aunque parezcan opuestos, todos podemos desarrollar habilidades especulativas aplicando técnicas creativas al análisis y resolución de problemas en sistemas.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32736" y="1787808"/>
            <a:ext cx="16126564" cy="37147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En la lógica de sistemas, generar ideas no se trata solo de inspiración, sino de entrenar la mente para reconocer relaciones entre conceptos, procesos y estructuras. Las ideas no surgen de la nada, sino de combinar elementos ya conocidos de formas nuevas. Por eso, más allá de memorizar hechos aislados, es clave desarrollar el hábito de ver conexiones, patrones y principios comunes. Este hábito no solo mejora nuestra capacidad de resolver problemas, sino que también nos permite innovar y encontrar soluciones más eficientes dentro del análisis y diseño de sistemas.</a:t>
            </a:r>
          </a:p>
        </p:txBody>
      </p:sp>
      <p:sp>
        <p:nvSpPr>
          <p:cNvPr id="3" name="Freeform 3"/>
          <p:cNvSpPr/>
          <p:nvPr/>
        </p:nvSpPr>
        <p:spPr>
          <a:xfrm>
            <a:off x="9775127" y="6016908"/>
            <a:ext cx="4770590" cy="3577942"/>
          </a:xfrm>
          <a:custGeom>
            <a:avLst/>
            <a:gdLst/>
            <a:ahLst/>
            <a:cxnLst/>
            <a:rect l="l" t="t" r="r" b="b"/>
            <a:pathLst>
              <a:path w="4770590" h="3577942">
                <a:moveTo>
                  <a:pt x="0" y="0"/>
                </a:moveTo>
                <a:lnTo>
                  <a:pt x="4770590" y="0"/>
                </a:lnTo>
                <a:lnTo>
                  <a:pt x="4770590" y="3577942"/>
                </a:lnTo>
                <a:lnTo>
                  <a:pt x="0" y="3577942"/>
                </a:lnTo>
                <a:lnTo>
                  <a:pt x="0" y="0"/>
                </a:lnTo>
                <a:close/>
              </a:path>
            </a:pathLst>
          </a:custGeom>
          <a:blipFill>
            <a:blip r:embed="rId2"/>
            <a:stretch>
              <a:fillRect/>
            </a:stretch>
          </a:blipFill>
        </p:spPr>
        <p:txBody>
          <a:bodyPr/>
          <a:lstStyle/>
          <a:p>
            <a:endParaRPr lang="es-GT"/>
          </a:p>
        </p:txBody>
      </p:sp>
      <p:sp>
        <p:nvSpPr>
          <p:cNvPr id="4" name="TextBox 4"/>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COMO HACER MAS EFICIENTE LA MENTE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822768"/>
            <a:ext cx="4520828" cy="8207041"/>
          </a:xfrm>
          <a:custGeom>
            <a:avLst/>
            <a:gdLst/>
            <a:ahLst/>
            <a:cxnLst/>
            <a:rect l="l" t="t" r="r" b="b"/>
            <a:pathLst>
              <a:path w="4520828" h="8207041">
                <a:moveTo>
                  <a:pt x="0" y="0"/>
                </a:moveTo>
                <a:lnTo>
                  <a:pt x="4520828" y="0"/>
                </a:lnTo>
                <a:lnTo>
                  <a:pt x="4520828" y="8207040"/>
                </a:lnTo>
                <a:lnTo>
                  <a:pt x="0" y="820704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782003"/>
            <a:ext cx="15884411" cy="10407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MÉTODO PARA HACER MÁS EFICIENTE LA MENTE</a:t>
            </a:r>
          </a:p>
        </p:txBody>
      </p:sp>
      <p:sp>
        <p:nvSpPr>
          <p:cNvPr id="4" name="TextBox 4"/>
          <p:cNvSpPr txBox="1"/>
          <p:nvPr/>
        </p:nvSpPr>
        <p:spPr>
          <a:xfrm>
            <a:off x="6672731" y="3493656"/>
            <a:ext cx="8288394" cy="53149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La producción de ideas sigue un método mental preciso, en cinco etapas que deben respetar su secuencia. Este proceso puede desarrollarse y perfeccionarse con práctica consciente.</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PASO PARA LA PRODUCCION DE IDEAS</a:t>
            </a:r>
          </a:p>
        </p:txBody>
      </p:sp>
      <p:sp>
        <p:nvSpPr>
          <p:cNvPr id="3" name="TextBox 3"/>
          <p:cNvSpPr txBox="1"/>
          <p:nvPr/>
        </p:nvSpPr>
        <p:spPr>
          <a:xfrm>
            <a:off x="651214" y="1567567"/>
            <a:ext cx="16126564" cy="9048750"/>
          </a:xfrm>
          <a:prstGeom prst="rect">
            <a:avLst/>
          </a:prstGeom>
        </p:spPr>
        <p:txBody>
          <a:bodyPr lIns="0" tIns="0" rIns="0" bIns="0" rtlCol="0" anchor="t">
            <a:spAutoFit/>
          </a:bodyPr>
          <a:lstStyle/>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Reunir materia prima: </a:t>
            </a:r>
            <a:r>
              <a:rPr lang="en-US" sz="3000">
                <a:solidFill>
                  <a:srgbClr val="131416"/>
                </a:solidFill>
                <a:latin typeface="Open Sans"/>
                <a:ea typeface="Open Sans"/>
                <a:cs typeface="Open Sans"/>
                <a:sym typeface="Open Sans"/>
              </a:rPr>
              <a:t>Investigar y recopilar datos específicos del problema y conocimientos generales que enriquezcan las ideas.</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a:solidFill>
                  <a:srgbClr val="131416"/>
                </a:solidFill>
                <a:latin typeface="Open Sans"/>
                <a:ea typeface="Open Sans"/>
                <a:cs typeface="Open Sans"/>
                <a:sym typeface="Open Sans"/>
              </a:rPr>
              <a:t> </a:t>
            </a:r>
            <a:r>
              <a:rPr lang="en-US" sz="3000" b="1">
                <a:solidFill>
                  <a:srgbClr val="131416"/>
                </a:solidFill>
                <a:latin typeface="Open Sans Bold"/>
                <a:ea typeface="Open Sans Bold"/>
                <a:cs typeface="Open Sans Bold"/>
                <a:sym typeface="Open Sans Bold"/>
              </a:rPr>
              <a:t>El Proceso Digestivo de la Mente: </a:t>
            </a:r>
            <a:r>
              <a:rPr lang="en-US" sz="3000">
                <a:solidFill>
                  <a:srgbClr val="131416"/>
                </a:solidFill>
                <a:latin typeface="Open Sans"/>
                <a:ea typeface="Open Sans"/>
                <a:cs typeface="Open Sans"/>
                <a:sym typeface="Open Sans"/>
              </a:rPr>
              <a:t>Reflexionar, analizar y relacionar la información. Es el momento de explorar conexiones y posibles soluciones.</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Relajarse:</a:t>
            </a:r>
            <a:r>
              <a:rPr lang="en-US" sz="3000">
                <a:solidFill>
                  <a:srgbClr val="131416"/>
                </a:solidFill>
                <a:latin typeface="Open Sans"/>
                <a:ea typeface="Open Sans"/>
                <a:cs typeface="Open Sans"/>
                <a:sym typeface="Open Sans"/>
              </a:rPr>
              <a:t> Alejar la mente del problema. Esta pausa activa el subconsciente y prepara el terreno para que surja la idea.</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a:solidFill>
                  <a:srgbClr val="131416"/>
                </a:solidFill>
                <a:latin typeface="Open Sans"/>
                <a:ea typeface="Open Sans"/>
                <a:cs typeface="Open Sans"/>
                <a:sym typeface="Open Sans"/>
              </a:rPr>
              <a:t> </a:t>
            </a:r>
            <a:r>
              <a:rPr lang="en-US" sz="3000" b="1">
                <a:solidFill>
                  <a:srgbClr val="131416"/>
                </a:solidFill>
                <a:latin typeface="Open Sans Bold"/>
                <a:ea typeface="Open Sans Bold"/>
                <a:cs typeface="Open Sans Bold"/>
                <a:sym typeface="Open Sans Bold"/>
              </a:rPr>
              <a:t>Producción de Ideas:</a:t>
            </a:r>
            <a:r>
              <a:rPr lang="en-US" sz="3000">
                <a:solidFill>
                  <a:srgbClr val="131416"/>
                </a:solidFill>
                <a:latin typeface="Open Sans"/>
                <a:ea typeface="Open Sans"/>
                <a:cs typeface="Open Sans"/>
                <a:sym typeface="Open Sans"/>
              </a:rPr>
              <a:t> La solución comienza a manifestarse de forma espontánea, producto del trabajo previo y del reposo mental. Es una respuesta que surge cuando el subconsciente ha procesado la información de forma integrada.</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a:solidFill>
                  <a:srgbClr val="131416"/>
                </a:solidFill>
                <a:latin typeface="Open Sans"/>
                <a:ea typeface="Open Sans"/>
                <a:cs typeface="Open Sans"/>
                <a:sym typeface="Open Sans"/>
              </a:rPr>
              <a:t> </a:t>
            </a:r>
            <a:r>
              <a:rPr lang="en-US" sz="3000" b="1">
                <a:solidFill>
                  <a:srgbClr val="131416"/>
                </a:solidFill>
                <a:latin typeface="Open Sans Bold"/>
                <a:ea typeface="Open Sans Bold"/>
                <a:cs typeface="Open Sans Bold"/>
                <a:sym typeface="Open Sans Bold"/>
              </a:rPr>
              <a:t>Etapa Final:</a:t>
            </a:r>
            <a:r>
              <a:rPr lang="en-US" sz="3000">
                <a:solidFill>
                  <a:srgbClr val="131416"/>
                </a:solidFill>
                <a:latin typeface="Open Sans"/>
                <a:ea typeface="Open Sans"/>
                <a:cs typeface="Open Sans"/>
                <a:sym typeface="Open Sans"/>
              </a:rPr>
              <a:t> Poner a prueba la idea en la realidad. Es posible que necesite ajustes, pero ya tienes un punto de partida concreto.</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52333" y="834551"/>
            <a:ext cx="16406967" cy="1688973"/>
          </a:xfrm>
          <a:prstGeom prst="rect">
            <a:avLst/>
          </a:prstGeom>
        </p:spPr>
        <p:txBody>
          <a:bodyPr lIns="0" tIns="0" rIns="0" bIns="0" rtlCol="0" anchor="t">
            <a:spAutoFit/>
          </a:bodyPr>
          <a:lstStyle/>
          <a:p>
            <a:pPr algn="ctr">
              <a:lnSpc>
                <a:spcPts val="5084"/>
              </a:lnSpc>
            </a:pPr>
            <a:r>
              <a:rPr lang="en-US" sz="4500">
                <a:solidFill>
                  <a:srgbClr val="131416"/>
                </a:solidFill>
                <a:latin typeface="Horizon"/>
                <a:ea typeface="Horizon"/>
                <a:cs typeface="Horizon"/>
                <a:sym typeface="Horizon"/>
              </a:rPr>
              <a:t>CONCEPTOS CLAVE APRENDIDOS </a:t>
            </a:r>
          </a:p>
          <a:p>
            <a:pPr algn="ctr">
              <a:lnSpc>
                <a:spcPts val="7797"/>
              </a:lnSpc>
            </a:pPr>
            <a:endParaRPr lang="en-US" sz="4500">
              <a:solidFill>
                <a:srgbClr val="131416"/>
              </a:solidFill>
              <a:latin typeface="Horizon"/>
              <a:ea typeface="Horizon"/>
              <a:cs typeface="Horizon"/>
              <a:sym typeface="Horizon"/>
            </a:endParaRPr>
          </a:p>
        </p:txBody>
      </p:sp>
      <p:sp>
        <p:nvSpPr>
          <p:cNvPr id="3" name="TextBox 3"/>
          <p:cNvSpPr txBox="1"/>
          <p:nvPr/>
        </p:nvSpPr>
        <p:spPr>
          <a:xfrm>
            <a:off x="1605703" y="1954077"/>
            <a:ext cx="14900226" cy="7720924"/>
          </a:xfrm>
          <a:prstGeom prst="rect">
            <a:avLst/>
          </a:prstGeom>
        </p:spPr>
        <p:txBody>
          <a:bodyPr lIns="0" tIns="0" rIns="0" bIns="0" rtlCol="0" anchor="t">
            <a:spAutoFit/>
          </a:bodyPr>
          <a:lstStyle/>
          <a:p>
            <a:pPr marL="680435" lvl="1" indent="-340217" algn="l">
              <a:lnSpc>
                <a:spcPts val="4412"/>
              </a:lnSpc>
              <a:buFont typeface="Arial"/>
              <a:buChar char="•"/>
            </a:pPr>
            <a:r>
              <a:rPr lang="en-US" sz="3151" b="1">
                <a:solidFill>
                  <a:srgbClr val="131416"/>
                </a:solidFill>
                <a:latin typeface="Garet Bold"/>
                <a:ea typeface="Garet Bold"/>
                <a:cs typeface="Garet Bold"/>
                <a:sym typeface="Garet Bold"/>
              </a:rPr>
              <a:t>Creatividad: </a:t>
            </a:r>
            <a:r>
              <a:rPr lang="en-US" sz="3151">
                <a:solidFill>
                  <a:srgbClr val="131416"/>
                </a:solidFill>
                <a:latin typeface="Garet"/>
                <a:ea typeface="Garet"/>
                <a:cs typeface="Garet"/>
                <a:sym typeface="Garet"/>
              </a:rPr>
              <a:t>Capacidad de generar ideas nuevas y útiles.</a:t>
            </a:r>
          </a:p>
          <a:p>
            <a:pPr marL="680435" lvl="1" indent="-340217" algn="l">
              <a:lnSpc>
                <a:spcPts val="4412"/>
              </a:lnSpc>
              <a:buFont typeface="Arial"/>
              <a:buChar char="•"/>
            </a:pPr>
            <a:r>
              <a:rPr lang="en-US" sz="3151" b="1">
                <a:solidFill>
                  <a:srgbClr val="131416"/>
                </a:solidFill>
                <a:latin typeface="Garet Bold"/>
                <a:ea typeface="Garet Bold"/>
                <a:cs typeface="Garet Bold"/>
                <a:sym typeface="Garet Bold"/>
              </a:rPr>
              <a:t>Resolución de problemas:</a:t>
            </a:r>
            <a:r>
              <a:rPr lang="en-US" sz="3151">
                <a:solidFill>
                  <a:srgbClr val="131416"/>
                </a:solidFill>
                <a:latin typeface="Garet"/>
                <a:ea typeface="Garet"/>
                <a:cs typeface="Garet"/>
                <a:sym typeface="Garet"/>
              </a:rPr>
              <a:t> Proceso estructurado para enfrentar y solucionar desafíos.</a:t>
            </a:r>
          </a:p>
          <a:p>
            <a:pPr marL="680435" lvl="1" indent="-340217" algn="l">
              <a:lnSpc>
                <a:spcPts val="4412"/>
              </a:lnSpc>
              <a:buFont typeface="Arial"/>
              <a:buChar char="•"/>
            </a:pPr>
            <a:r>
              <a:rPr lang="en-US" sz="3151" b="1">
                <a:solidFill>
                  <a:srgbClr val="131416"/>
                </a:solidFill>
                <a:latin typeface="Garet Bold"/>
                <a:ea typeface="Garet Bold"/>
                <a:cs typeface="Garet Bold"/>
                <a:sym typeface="Garet Bold"/>
              </a:rPr>
              <a:t>Producción de ideas:</a:t>
            </a:r>
            <a:r>
              <a:rPr lang="en-US" sz="3151">
                <a:solidFill>
                  <a:srgbClr val="131416"/>
                </a:solidFill>
                <a:latin typeface="Garet"/>
                <a:ea typeface="Garet"/>
                <a:cs typeface="Garet"/>
                <a:sym typeface="Garet"/>
              </a:rPr>
              <a:t> Combinación de elementos previos para generar soluciones.</a:t>
            </a:r>
          </a:p>
          <a:p>
            <a:pPr marL="680435" lvl="1" indent="-340217" algn="l">
              <a:lnSpc>
                <a:spcPts val="4412"/>
              </a:lnSpc>
              <a:buFont typeface="Arial"/>
              <a:buChar char="•"/>
            </a:pPr>
            <a:r>
              <a:rPr lang="en-US" sz="3151" b="1">
                <a:solidFill>
                  <a:srgbClr val="131416"/>
                </a:solidFill>
                <a:latin typeface="Garet Bold"/>
                <a:ea typeface="Garet Bold"/>
                <a:cs typeface="Garet Bold"/>
                <a:sym typeface="Garet Bold"/>
              </a:rPr>
              <a:t>Bloqueos mentales</a:t>
            </a:r>
            <a:r>
              <a:rPr lang="en-US" sz="3151">
                <a:solidFill>
                  <a:srgbClr val="131416"/>
                </a:solidFill>
                <a:latin typeface="Garet"/>
                <a:ea typeface="Garet"/>
                <a:cs typeface="Garet"/>
                <a:sym typeface="Garet"/>
              </a:rPr>
              <a:t>: Barreras internas que dificultan pensar con claridad o innovar.</a:t>
            </a:r>
          </a:p>
          <a:p>
            <a:pPr marL="680435" lvl="1" indent="-340217" algn="l">
              <a:lnSpc>
                <a:spcPts val="4412"/>
              </a:lnSpc>
              <a:buFont typeface="Arial"/>
              <a:buChar char="•"/>
            </a:pPr>
            <a:r>
              <a:rPr lang="en-US" sz="3151" b="1">
                <a:solidFill>
                  <a:srgbClr val="131416"/>
                </a:solidFill>
                <a:latin typeface="Garet Bold"/>
                <a:ea typeface="Garet Bold"/>
                <a:cs typeface="Garet Bold"/>
                <a:sym typeface="Garet Bold"/>
              </a:rPr>
              <a:t>Etapas para generar ideas:</a:t>
            </a:r>
          </a:p>
          <a:p>
            <a:pPr marL="1360870" lvl="2" indent="-453623" algn="l">
              <a:lnSpc>
                <a:spcPts val="4412"/>
              </a:lnSpc>
              <a:buFont typeface="Arial"/>
              <a:buChar char="⚬"/>
            </a:pPr>
            <a:r>
              <a:rPr lang="en-US" sz="3151">
                <a:solidFill>
                  <a:srgbClr val="131416"/>
                </a:solidFill>
                <a:latin typeface="Garet"/>
                <a:ea typeface="Garet"/>
                <a:cs typeface="Garet"/>
                <a:sym typeface="Garet"/>
              </a:rPr>
              <a:t>Reunir materia prima</a:t>
            </a:r>
          </a:p>
          <a:p>
            <a:pPr marL="1360870" lvl="2" indent="-453623" algn="l">
              <a:lnSpc>
                <a:spcPts val="4412"/>
              </a:lnSpc>
              <a:buFont typeface="Arial"/>
              <a:buChar char="⚬"/>
            </a:pPr>
            <a:r>
              <a:rPr lang="en-US" sz="3151">
                <a:solidFill>
                  <a:srgbClr val="131416"/>
                </a:solidFill>
                <a:latin typeface="Garet"/>
                <a:ea typeface="Garet"/>
                <a:cs typeface="Garet"/>
                <a:sym typeface="Garet"/>
              </a:rPr>
              <a:t>El Proceso Digestivo de la Mente</a:t>
            </a:r>
          </a:p>
          <a:p>
            <a:pPr marL="1360870" lvl="2" indent="-453623" algn="l">
              <a:lnSpc>
                <a:spcPts val="4412"/>
              </a:lnSpc>
              <a:buFont typeface="Arial"/>
              <a:buChar char="⚬"/>
            </a:pPr>
            <a:r>
              <a:rPr lang="en-US" sz="3151">
                <a:solidFill>
                  <a:srgbClr val="131416"/>
                </a:solidFill>
                <a:latin typeface="Garet"/>
                <a:ea typeface="Garet"/>
                <a:cs typeface="Garet"/>
                <a:sym typeface="Garet"/>
              </a:rPr>
              <a:t>Relajación</a:t>
            </a:r>
          </a:p>
          <a:p>
            <a:pPr marL="1360870" lvl="2" indent="-453623" algn="l">
              <a:lnSpc>
                <a:spcPts val="4412"/>
              </a:lnSpc>
              <a:buFont typeface="Arial"/>
              <a:buChar char="⚬"/>
            </a:pPr>
            <a:r>
              <a:rPr lang="en-US" sz="3151">
                <a:solidFill>
                  <a:srgbClr val="131416"/>
                </a:solidFill>
                <a:latin typeface="Garet"/>
                <a:ea typeface="Garet"/>
                <a:cs typeface="Garet"/>
                <a:sym typeface="Garet"/>
              </a:rPr>
              <a:t>Producción de Ideas</a:t>
            </a:r>
          </a:p>
          <a:p>
            <a:pPr marL="1360870" lvl="2" indent="-453623" algn="l">
              <a:lnSpc>
                <a:spcPts val="4412"/>
              </a:lnSpc>
              <a:buFont typeface="Arial"/>
              <a:buChar char="⚬"/>
            </a:pPr>
            <a:r>
              <a:rPr lang="en-US" sz="3151">
                <a:solidFill>
                  <a:srgbClr val="131416"/>
                </a:solidFill>
                <a:latin typeface="Garet"/>
                <a:ea typeface="Garet"/>
                <a:cs typeface="Garet"/>
                <a:sym typeface="Garet"/>
              </a:rPr>
              <a:t>Etapa Final:</a:t>
            </a:r>
          </a:p>
          <a:p>
            <a:pPr algn="l">
              <a:lnSpc>
                <a:spcPts val="4412"/>
              </a:lnSpc>
            </a:pPr>
            <a:endParaRPr lang="en-US" sz="3151">
              <a:solidFill>
                <a:srgbClr val="131416"/>
              </a:solidFill>
              <a:latin typeface="Garet"/>
              <a:ea typeface="Garet"/>
              <a:cs typeface="Garet"/>
              <a:sym typeface="Gare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9" y="644839"/>
            <a:ext cx="13991174" cy="858503"/>
          </a:xfrm>
          <a:prstGeom prst="rect">
            <a:avLst/>
          </a:prstGeom>
        </p:spPr>
        <p:txBody>
          <a:bodyPr lIns="0" tIns="0" rIns="0" bIns="0" rtlCol="0" anchor="t">
            <a:spAutoFit/>
          </a:bodyPr>
          <a:lstStyle/>
          <a:p>
            <a:pPr algn="l">
              <a:lnSpc>
                <a:spcPts val="6212"/>
              </a:lnSpc>
            </a:pPr>
            <a:r>
              <a:rPr lang="en-US" sz="5498">
                <a:solidFill>
                  <a:srgbClr val="131416"/>
                </a:solidFill>
                <a:latin typeface="Horizon"/>
                <a:ea typeface="Horizon"/>
                <a:cs typeface="Horizon"/>
                <a:sym typeface="Horizon"/>
              </a:rPr>
              <a:t>EJERCICIO</a:t>
            </a:r>
          </a:p>
        </p:txBody>
      </p:sp>
      <p:sp>
        <p:nvSpPr>
          <p:cNvPr id="3" name="TextBox 3"/>
          <p:cNvSpPr txBox="1"/>
          <p:nvPr/>
        </p:nvSpPr>
        <p:spPr>
          <a:xfrm>
            <a:off x="607246" y="1799727"/>
            <a:ext cx="17051377" cy="9104630"/>
          </a:xfrm>
          <a:prstGeom prst="rect">
            <a:avLst/>
          </a:prstGeom>
        </p:spPr>
        <p:txBody>
          <a:bodyPr lIns="0" tIns="0" rIns="0" bIns="0" rtlCol="0" anchor="t">
            <a:spAutoFit/>
          </a:bodyPr>
          <a:lstStyle/>
          <a:p>
            <a:pPr algn="just">
              <a:lnSpc>
                <a:spcPts val="5040"/>
              </a:lnSpc>
            </a:pPr>
            <a:r>
              <a:rPr lang="en-US" sz="3600">
                <a:solidFill>
                  <a:srgbClr val="131416"/>
                </a:solidFill>
                <a:latin typeface="Open Sans"/>
                <a:ea typeface="Open Sans"/>
                <a:cs typeface="Open Sans"/>
                <a:sym typeface="Open Sans"/>
              </a:rPr>
              <a:t>Un estudiante de programación se encuentra estancado en el desarrollo de su proyecto final. Pasa mucho tiempo frente a la computadora, pero no logra comenzar a codificar porque siente que “no tiene ideas claras” y teme que cualquier intento sea incorrecto o inútil. Aunque ha leído el enunciado del proyecto varias veces, no logra generar una propuesta ni tomar decisiones iniciales.</a:t>
            </a:r>
          </a:p>
          <a:p>
            <a:pPr algn="just">
              <a:lnSpc>
                <a:spcPts val="5040"/>
              </a:lnSpc>
            </a:pPr>
            <a:endParaRPr lang="en-US" sz="3600">
              <a:solidFill>
                <a:srgbClr val="131416"/>
              </a:solidFill>
              <a:latin typeface="Open Sans"/>
              <a:ea typeface="Open Sans"/>
              <a:cs typeface="Open Sans"/>
              <a:sym typeface="Open Sans"/>
            </a:endParaRPr>
          </a:p>
          <a:p>
            <a:pPr algn="just">
              <a:lnSpc>
                <a:spcPts val="5040"/>
              </a:lnSpc>
            </a:pPr>
            <a:r>
              <a:rPr lang="en-US" sz="3600" b="1">
                <a:solidFill>
                  <a:srgbClr val="131416"/>
                </a:solidFill>
                <a:latin typeface="Open Sans Bold"/>
                <a:ea typeface="Open Sans Bold"/>
                <a:cs typeface="Open Sans Bold"/>
                <a:sym typeface="Open Sans Bold"/>
              </a:rPr>
              <a:t>Preguntas:</a:t>
            </a:r>
          </a:p>
          <a:p>
            <a:pPr marL="777242" lvl="1" indent="-388621" algn="just">
              <a:lnSpc>
                <a:spcPts val="5040"/>
              </a:lnSpc>
              <a:buAutoNum type="arabicPeriod"/>
            </a:pPr>
            <a:r>
              <a:rPr lang="en-US" sz="3600">
                <a:solidFill>
                  <a:srgbClr val="131416"/>
                </a:solidFill>
                <a:latin typeface="Open Sans"/>
                <a:ea typeface="Open Sans"/>
                <a:cs typeface="Open Sans"/>
                <a:sym typeface="Open Sans"/>
              </a:rPr>
              <a:t>¿Qué tipo de bloqueo mental está experimentando el estudiante?</a:t>
            </a:r>
          </a:p>
          <a:p>
            <a:pPr marL="777242" lvl="1" indent="-388621" algn="just">
              <a:lnSpc>
                <a:spcPts val="5040"/>
              </a:lnSpc>
              <a:buAutoNum type="arabicPeriod"/>
            </a:pPr>
            <a:r>
              <a:rPr lang="en-US" sz="3600">
                <a:solidFill>
                  <a:srgbClr val="131416"/>
                </a:solidFill>
                <a:latin typeface="Open Sans"/>
                <a:ea typeface="Open Sans"/>
                <a:cs typeface="Open Sans"/>
                <a:sym typeface="Open Sans"/>
              </a:rPr>
              <a:t>¿Qué técnica creativa podrías aplicar para ayudarle a superar este bloqueo?</a:t>
            </a:r>
          </a:p>
          <a:p>
            <a:pPr marL="777242" lvl="1" indent="-388621" algn="just">
              <a:lnSpc>
                <a:spcPts val="5040"/>
              </a:lnSpc>
              <a:buAutoNum type="arabicPeriod"/>
            </a:pPr>
            <a:r>
              <a:rPr lang="en-US" sz="3600">
                <a:solidFill>
                  <a:srgbClr val="131416"/>
                </a:solidFill>
                <a:latin typeface="Open Sans"/>
                <a:ea typeface="Open Sans"/>
                <a:cs typeface="Open Sans"/>
                <a:sym typeface="Open Sans"/>
              </a:rPr>
              <a:t>¿Qué pasos seguirías para implementar esa técnica?</a:t>
            </a:r>
          </a:p>
          <a:p>
            <a:pPr algn="just">
              <a:lnSpc>
                <a:spcPts val="5599"/>
              </a:lnSpc>
            </a:pPr>
            <a:endParaRPr lang="en-US" sz="3600">
              <a:solidFill>
                <a:srgbClr val="131416"/>
              </a:solidFill>
              <a:latin typeface="Open Sans"/>
              <a:ea typeface="Open Sans"/>
              <a:cs typeface="Open Sans"/>
              <a:sym typeface="Open Sans"/>
            </a:endParaRPr>
          </a:p>
          <a:p>
            <a:pPr algn="just">
              <a:lnSpc>
                <a:spcPts val="5599"/>
              </a:lnSpc>
            </a:pPr>
            <a:endParaRPr lang="en-US" sz="3600">
              <a:solidFill>
                <a:srgbClr val="131416"/>
              </a:solidFill>
              <a:latin typeface="Open Sans"/>
              <a:ea typeface="Open Sans"/>
              <a:cs typeface="Open Sans"/>
              <a:sym typeface="Open Sans"/>
            </a:endParaRPr>
          </a:p>
          <a:p>
            <a:pPr algn="just">
              <a:lnSpc>
                <a:spcPts val="5599"/>
              </a:lnSpc>
            </a:pPr>
            <a:endParaRPr lang="en-US" sz="3600">
              <a:solidFill>
                <a:srgbClr val="131416"/>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9" y="644839"/>
            <a:ext cx="13991174" cy="858503"/>
          </a:xfrm>
          <a:prstGeom prst="rect">
            <a:avLst/>
          </a:prstGeom>
        </p:spPr>
        <p:txBody>
          <a:bodyPr lIns="0" tIns="0" rIns="0" bIns="0" rtlCol="0" anchor="t">
            <a:spAutoFit/>
          </a:bodyPr>
          <a:lstStyle/>
          <a:p>
            <a:pPr algn="l">
              <a:lnSpc>
                <a:spcPts val="6212"/>
              </a:lnSpc>
            </a:pPr>
            <a:r>
              <a:rPr lang="en-US" sz="5498">
                <a:solidFill>
                  <a:srgbClr val="131416"/>
                </a:solidFill>
                <a:latin typeface="Horizon"/>
                <a:ea typeface="Horizon"/>
                <a:cs typeface="Horizon"/>
                <a:sym typeface="Horizon"/>
              </a:rPr>
              <a:t>SOLUCION</a:t>
            </a:r>
          </a:p>
        </p:txBody>
      </p:sp>
      <p:sp>
        <p:nvSpPr>
          <p:cNvPr id="3" name="TextBox 3"/>
          <p:cNvSpPr txBox="1"/>
          <p:nvPr/>
        </p:nvSpPr>
        <p:spPr>
          <a:xfrm>
            <a:off x="607246" y="1809252"/>
            <a:ext cx="17051377" cy="9319895"/>
          </a:xfrm>
          <a:prstGeom prst="rect">
            <a:avLst/>
          </a:prstGeom>
        </p:spPr>
        <p:txBody>
          <a:bodyPr lIns="0" tIns="0" rIns="0" bIns="0" rtlCol="0" anchor="t">
            <a:spAutoFit/>
          </a:bodyPr>
          <a:lstStyle/>
          <a:p>
            <a:pPr marL="604526" lvl="1" indent="-302263" algn="just">
              <a:lnSpc>
                <a:spcPts val="3920"/>
              </a:lnSpc>
              <a:buAutoNum type="arabicPeriod"/>
            </a:pPr>
            <a:r>
              <a:rPr lang="en-US" sz="2800">
                <a:solidFill>
                  <a:srgbClr val="131416"/>
                </a:solidFill>
                <a:latin typeface="Open Sans"/>
                <a:ea typeface="Open Sans"/>
                <a:cs typeface="Open Sans"/>
                <a:sym typeface="Open Sans"/>
              </a:rPr>
              <a:t> ¿Qué tipo de bloqueo mental está experimentando el estudiante?</a:t>
            </a:r>
          </a:p>
          <a:p>
            <a:pPr algn="just">
              <a:lnSpc>
                <a:spcPts val="3920"/>
              </a:lnSpc>
            </a:pPr>
            <a:r>
              <a:rPr lang="en-US" sz="2800">
                <a:solidFill>
                  <a:srgbClr val="5AA3B6"/>
                </a:solidFill>
                <a:latin typeface="Open Sans"/>
                <a:ea typeface="Open Sans"/>
                <a:cs typeface="Open Sans"/>
                <a:sym typeface="Open Sans"/>
              </a:rPr>
              <a:t> El estudiante presenta principalmente un bloqueo emocional, ya que el miedo a equivocarse le impide iniciar el trabajo. También se observa un bloqueo perceptivo, porque no logra visualizar alternativas o enfoques distintos para su proyecto.</a:t>
            </a:r>
          </a:p>
          <a:p>
            <a:pPr algn="just">
              <a:lnSpc>
                <a:spcPts val="3920"/>
              </a:lnSpc>
            </a:pPr>
            <a:endParaRPr lang="en-US" sz="2800">
              <a:solidFill>
                <a:srgbClr val="5AA3B6"/>
              </a:solidFill>
              <a:latin typeface="Open Sans"/>
              <a:ea typeface="Open Sans"/>
              <a:cs typeface="Open Sans"/>
              <a:sym typeface="Open Sans"/>
            </a:endParaRPr>
          </a:p>
          <a:p>
            <a:pPr algn="just">
              <a:lnSpc>
                <a:spcPts val="3920"/>
              </a:lnSpc>
            </a:pPr>
            <a:r>
              <a:rPr lang="en-US" sz="2800">
                <a:solidFill>
                  <a:srgbClr val="000000"/>
                </a:solidFill>
                <a:latin typeface="Open Sans"/>
                <a:ea typeface="Open Sans"/>
                <a:cs typeface="Open Sans"/>
                <a:sym typeface="Open Sans"/>
              </a:rPr>
              <a:t>2. ¿Qué técnica creativa podrías aplicar para ayudarle a superar este bloqueo?</a:t>
            </a:r>
          </a:p>
          <a:p>
            <a:pPr algn="just">
              <a:lnSpc>
                <a:spcPts val="3920"/>
              </a:lnSpc>
            </a:pPr>
            <a:r>
              <a:rPr lang="en-US" sz="2800">
                <a:solidFill>
                  <a:srgbClr val="5AA3B6"/>
                </a:solidFill>
                <a:latin typeface="Open Sans"/>
                <a:ea typeface="Open Sans"/>
                <a:cs typeface="Open Sans"/>
                <a:sym typeface="Open Sans"/>
              </a:rPr>
              <a:t> Se puede utilizar la técnica de “Lluvia de ideas guiada” o un “Mapa mental”. Ambas permiten liberar la mente de la autocensura, generar múltiples ideas y visualizar conexiones entre ellas.</a:t>
            </a:r>
          </a:p>
          <a:p>
            <a:pPr algn="just">
              <a:lnSpc>
                <a:spcPts val="3920"/>
              </a:lnSpc>
            </a:pPr>
            <a:endParaRPr lang="en-US" sz="2800">
              <a:solidFill>
                <a:srgbClr val="5AA3B6"/>
              </a:solidFill>
              <a:latin typeface="Open Sans"/>
              <a:ea typeface="Open Sans"/>
              <a:cs typeface="Open Sans"/>
              <a:sym typeface="Open Sans"/>
            </a:endParaRPr>
          </a:p>
          <a:p>
            <a:pPr algn="just">
              <a:lnSpc>
                <a:spcPts val="3920"/>
              </a:lnSpc>
            </a:pPr>
            <a:r>
              <a:rPr lang="en-US" sz="2800">
                <a:solidFill>
                  <a:srgbClr val="000000"/>
                </a:solidFill>
                <a:latin typeface="Open Sans"/>
                <a:ea typeface="Open Sans"/>
                <a:cs typeface="Open Sans"/>
                <a:sym typeface="Open Sans"/>
              </a:rPr>
              <a:t>3. ¿Qué pasos seguirías para implementar esa técnica?</a:t>
            </a:r>
          </a:p>
          <a:p>
            <a:pPr marL="604526" lvl="1" indent="-302263" algn="just">
              <a:lnSpc>
                <a:spcPts val="3920"/>
              </a:lnSpc>
              <a:buFont typeface="Arial"/>
              <a:buChar char="•"/>
            </a:pPr>
            <a:r>
              <a:rPr lang="en-US" sz="2800">
                <a:solidFill>
                  <a:srgbClr val="5AA3B6"/>
                </a:solidFill>
                <a:latin typeface="Open Sans"/>
                <a:ea typeface="Open Sans"/>
                <a:cs typeface="Open Sans"/>
                <a:sym typeface="Open Sans"/>
              </a:rPr>
              <a:t>Crear un ambiente relajado y sin juicios para fomentar la libre expresión de ideas.</a:t>
            </a:r>
          </a:p>
          <a:p>
            <a:pPr marL="604526" lvl="1" indent="-302263" algn="just">
              <a:lnSpc>
                <a:spcPts val="3920"/>
              </a:lnSpc>
              <a:buFont typeface="Arial"/>
              <a:buChar char="•"/>
            </a:pPr>
            <a:r>
              <a:rPr lang="en-US" sz="2800">
                <a:solidFill>
                  <a:srgbClr val="5AA3B6"/>
                </a:solidFill>
                <a:latin typeface="Open Sans"/>
                <a:ea typeface="Open Sans"/>
                <a:cs typeface="Open Sans"/>
                <a:sym typeface="Open Sans"/>
              </a:rPr>
              <a:t>Escribir o decir todas las ideas posibles relacionadas con el proyecto, sin importar si parecen útiles o no.</a:t>
            </a:r>
          </a:p>
          <a:p>
            <a:pPr marL="604526" lvl="1" indent="-302263" algn="just">
              <a:lnSpc>
                <a:spcPts val="3920"/>
              </a:lnSpc>
              <a:buFont typeface="Arial"/>
              <a:buChar char="•"/>
            </a:pPr>
            <a:r>
              <a:rPr lang="en-US" sz="2800">
                <a:solidFill>
                  <a:srgbClr val="5AA3B6"/>
                </a:solidFill>
                <a:latin typeface="Open Sans"/>
                <a:ea typeface="Open Sans"/>
                <a:cs typeface="Open Sans"/>
                <a:sym typeface="Open Sans"/>
              </a:rPr>
              <a:t>Revisar las ideas generadas y agruparlas por temas o posibles soluciones.</a:t>
            </a:r>
          </a:p>
          <a:p>
            <a:pPr marL="604526" lvl="1" indent="-302263" algn="just">
              <a:lnSpc>
                <a:spcPts val="3920"/>
              </a:lnSpc>
              <a:buFont typeface="Arial"/>
              <a:buChar char="•"/>
            </a:pPr>
            <a:r>
              <a:rPr lang="en-US" sz="2800">
                <a:solidFill>
                  <a:srgbClr val="5AA3B6"/>
                </a:solidFill>
                <a:latin typeface="Open Sans"/>
                <a:ea typeface="Open Sans"/>
                <a:cs typeface="Open Sans"/>
                <a:sym typeface="Open Sans"/>
              </a:rPr>
              <a:t>Seleccionar las ideas más viables y desarrollar un plan de acción inicial para comenzar el trabajo.</a:t>
            </a:r>
          </a:p>
          <a:p>
            <a:pPr algn="just">
              <a:lnSpc>
                <a:spcPts val="5040"/>
              </a:lnSpc>
            </a:pPr>
            <a:endParaRPr lang="en-US" sz="2800">
              <a:solidFill>
                <a:srgbClr val="5AA3B6"/>
              </a:solidFill>
              <a:latin typeface="Open Sans"/>
              <a:ea typeface="Open Sans"/>
              <a:cs typeface="Open Sans"/>
              <a:sym typeface="Open Sans"/>
            </a:endParaRPr>
          </a:p>
          <a:p>
            <a:pPr algn="just">
              <a:lnSpc>
                <a:spcPts val="5040"/>
              </a:lnSpc>
            </a:pPr>
            <a:endParaRPr lang="en-US" sz="2800">
              <a:solidFill>
                <a:srgbClr val="5AA3B6"/>
              </a:solidFill>
              <a:latin typeface="Open Sans"/>
              <a:ea typeface="Open Sans"/>
              <a:cs typeface="Open Sans"/>
              <a:sym typeface="Open Sans"/>
            </a:endParaRPr>
          </a:p>
          <a:p>
            <a:pPr algn="just">
              <a:lnSpc>
                <a:spcPts val="5040"/>
              </a:lnSpc>
            </a:pPr>
            <a:endParaRPr lang="en-US" sz="2800">
              <a:solidFill>
                <a:srgbClr val="5AA3B6"/>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318447"/>
            <a:ext cx="8640435" cy="7963514"/>
          </a:xfrm>
          <a:prstGeom prst="rect">
            <a:avLst/>
          </a:prstGeom>
        </p:spPr>
        <p:txBody>
          <a:bodyPr lIns="0" tIns="0" rIns="0" bIns="0" rtlCol="0" anchor="t">
            <a:spAutoFit/>
          </a:bodyPr>
          <a:lstStyle/>
          <a:p>
            <a:pPr algn="l">
              <a:lnSpc>
                <a:spcPts val="3919"/>
              </a:lnSpc>
            </a:pPr>
            <a:r>
              <a:rPr lang="en-US" sz="2799">
                <a:solidFill>
                  <a:srgbClr val="131416"/>
                </a:solidFill>
                <a:latin typeface="Garet"/>
                <a:ea typeface="Garet"/>
                <a:cs typeface="Garet"/>
                <a:sym typeface="Garet"/>
              </a:rPr>
              <a:t>La perseverancia es la capacidad de mantenerse constante en la realización de una tarea, a pesar de los obstáculos o dificultades.</a:t>
            </a:r>
          </a:p>
          <a:p>
            <a:pPr algn="l">
              <a:lnSpc>
                <a:spcPts val="3919"/>
              </a:lnSpc>
            </a:pPr>
            <a:endParaRPr lang="en-US" sz="2799">
              <a:solidFill>
                <a:srgbClr val="131416"/>
              </a:solidFill>
              <a:latin typeface="Garet"/>
              <a:ea typeface="Garet"/>
              <a:cs typeface="Garet"/>
              <a:sym typeface="Garet"/>
            </a:endParaRPr>
          </a:p>
          <a:p>
            <a:pPr algn="l">
              <a:lnSpc>
                <a:spcPts val="3919"/>
              </a:lnSpc>
            </a:pPr>
            <a:r>
              <a:rPr lang="en-US" sz="2799">
                <a:solidFill>
                  <a:srgbClr val="131416"/>
                </a:solidFill>
                <a:latin typeface="Garet"/>
                <a:ea typeface="Garet"/>
                <a:cs typeface="Garet"/>
                <a:sym typeface="Garet"/>
              </a:rPr>
              <a:t>Aplicación en clase:</a:t>
            </a:r>
          </a:p>
          <a:p>
            <a:pPr marL="604519" lvl="1" indent="-302260" algn="l">
              <a:lnSpc>
                <a:spcPts val="3919"/>
              </a:lnSpc>
              <a:buFont typeface="Arial"/>
              <a:buChar char="•"/>
            </a:pPr>
            <a:r>
              <a:rPr lang="en-US" sz="2799">
                <a:solidFill>
                  <a:srgbClr val="131416"/>
                </a:solidFill>
                <a:latin typeface="Garet"/>
                <a:ea typeface="Garet"/>
                <a:cs typeface="Garet"/>
                <a:sym typeface="Garet"/>
              </a:rPr>
              <a:t>Se demuestra cuando los estudiantes insisten en superar bloqueos mentales utilizando técnicas aprendidas (como el método para producir ideas).</a:t>
            </a:r>
          </a:p>
          <a:p>
            <a:pPr marL="604519" lvl="1" indent="-302260" algn="l">
              <a:lnSpc>
                <a:spcPts val="3919"/>
              </a:lnSpc>
              <a:buFont typeface="Arial"/>
              <a:buChar char="•"/>
            </a:pPr>
            <a:r>
              <a:rPr lang="en-US" sz="2799">
                <a:solidFill>
                  <a:srgbClr val="131416"/>
                </a:solidFill>
                <a:latin typeface="Garet"/>
                <a:ea typeface="Garet"/>
                <a:cs typeface="Garet"/>
                <a:sym typeface="Garet"/>
              </a:rPr>
              <a:t>Al enfrentar dificultades para generar ideas, se motiva a los alumnos a seguir intentando en lugar de rendirse.</a:t>
            </a:r>
          </a:p>
          <a:p>
            <a:pPr marL="604519" lvl="1" indent="-302260" algn="l">
              <a:lnSpc>
                <a:spcPts val="3919"/>
              </a:lnSpc>
              <a:buFont typeface="Arial"/>
              <a:buChar char="•"/>
            </a:pPr>
            <a:r>
              <a:rPr lang="en-US" sz="2799">
                <a:solidFill>
                  <a:srgbClr val="131416"/>
                </a:solidFill>
                <a:latin typeface="Garet"/>
                <a:ea typeface="Garet"/>
                <a:cs typeface="Garet"/>
                <a:sym typeface="Garet"/>
              </a:rPr>
              <a:t>Se promueve al reconocer el esfuerzo de quienes participan activamente, incluso si sus ideas aún no están completas.</a:t>
            </a:r>
          </a:p>
          <a:p>
            <a:pPr algn="l">
              <a:lnSpc>
                <a:spcPts val="4412"/>
              </a:lnSpc>
            </a:pPr>
            <a:endParaRPr lang="en-US" sz="2799">
              <a:solidFill>
                <a:srgbClr val="131416"/>
              </a:solidFill>
              <a:latin typeface="Garet"/>
              <a:ea typeface="Garet"/>
              <a:cs typeface="Garet"/>
              <a:sym typeface="Garet"/>
            </a:endParaRPr>
          </a:p>
        </p:txBody>
      </p:sp>
      <p:sp>
        <p:nvSpPr>
          <p:cNvPr id="3" name="Freeform 3"/>
          <p:cNvSpPr/>
          <p:nvPr/>
        </p:nvSpPr>
        <p:spPr>
          <a:xfrm>
            <a:off x="10539874" y="3004716"/>
            <a:ext cx="7059223" cy="5515018"/>
          </a:xfrm>
          <a:custGeom>
            <a:avLst/>
            <a:gdLst/>
            <a:ahLst/>
            <a:cxnLst/>
            <a:rect l="l" t="t" r="r" b="b"/>
            <a:pathLst>
              <a:path w="7059223" h="5515018">
                <a:moveTo>
                  <a:pt x="0" y="0"/>
                </a:moveTo>
                <a:lnTo>
                  <a:pt x="7059224" y="0"/>
                </a:lnTo>
                <a:lnTo>
                  <a:pt x="7059224" y="5515018"/>
                </a:lnTo>
                <a:lnTo>
                  <a:pt x="0" y="5515018"/>
                </a:lnTo>
                <a:lnTo>
                  <a:pt x="0" y="0"/>
                </a:lnTo>
                <a:close/>
              </a:path>
            </a:pathLst>
          </a:custGeom>
          <a:blipFill>
            <a:blip r:embed="rId2"/>
            <a:stretch>
              <a:fillRect/>
            </a:stretch>
          </a:blipFill>
        </p:spPr>
        <p:txBody>
          <a:bodyPr/>
          <a:lstStyle/>
          <a:p>
            <a:endParaRPr lang="es-GT"/>
          </a:p>
        </p:txBody>
      </p:sp>
      <p:sp>
        <p:nvSpPr>
          <p:cNvPr id="4" name="TextBox 4"/>
          <p:cNvSpPr txBox="1"/>
          <p:nvPr/>
        </p:nvSpPr>
        <p:spPr>
          <a:xfrm>
            <a:off x="2507390" y="1000125"/>
            <a:ext cx="13503315" cy="1070991"/>
          </a:xfrm>
          <a:prstGeom prst="rect">
            <a:avLst/>
          </a:prstGeom>
        </p:spPr>
        <p:txBody>
          <a:bodyPr lIns="0" tIns="0" rIns="0" bIns="0" rtlCol="0" anchor="t">
            <a:spAutoFit/>
          </a:bodyPr>
          <a:lstStyle/>
          <a:p>
            <a:pPr algn="ctr">
              <a:lnSpc>
                <a:spcPts val="7797"/>
              </a:lnSpc>
            </a:pPr>
            <a:r>
              <a:rPr lang="en-US" sz="6900">
                <a:solidFill>
                  <a:srgbClr val="131416"/>
                </a:solidFill>
                <a:latin typeface="Horizon"/>
                <a:ea typeface="Horizon"/>
                <a:cs typeface="Horizon"/>
                <a:sym typeface="Horizon"/>
              </a:rPr>
              <a:t>PERSEVERANCIA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7390" y="1000125"/>
            <a:ext cx="13503315" cy="1070991"/>
          </a:xfrm>
          <a:prstGeom prst="rect">
            <a:avLst/>
          </a:prstGeom>
        </p:spPr>
        <p:txBody>
          <a:bodyPr lIns="0" tIns="0" rIns="0" bIns="0" rtlCol="0" anchor="t">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id="3" name="TextBox 3"/>
          <p:cNvSpPr txBox="1"/>
          <p:nvPr/>
        </p:nvSpPr>
        <p:spPr>
          <a:xfrm>
            <a:off x="1951202" y="2679988"/>
            <a:ext cx="15013327" cy="6724650"/>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131416"/>
                </a:solidFill>
                <a:latin typeface="Garet"/>
                <a:ea typeface="Garet"/>
                <a:cs typeface="Garet"/>
                <a:sym typeface="Garet"/>
              </a:rPr>
              <a:t>Psicología y Mente. (s.f.). Bloqueos emocionales: qué son, causas, síntomas y tratamiento. Recuperado de https://psicologiaymente.com/clinica/bloqueos-emocionales</a:t>
            </a:r>
          </a:p>
          <a:p>
            <a:pPr algn="l">
              <a:lnSpc>
                <a:spcPts val="3499"/>
              </a:lnSpc>
            </a:pPr>
            <a:endParaRPr lang="en-US" sz="2499">
              <a:solidFill>
                <a:srgbClr val="131416"/>
              </a:solidFill>
              <a:latin typeface="Garet"/>
              <a:ea typeface="Garet"/>
              <a:cs typeface="Garet"/>
              <a:sym typeface="Garet"/>
            </a:endParaRPr>
          </a:p>
          <a:p>
            <a:pPr marL="539749" lvl="1" indent="-269875" algn="l">
              <a:lnSpc>
                <a:spcPts val="3499"/>
              </a:lnSpc>
              <a:buFont typeface="Arial"/>
              <a:buChar char="•"/>
            </a:pPr>
            <a:r>
              <a:rPr lang="en-US" sz="2499">
                <a:solidFill>
                  <a:srgbClr val="131416"/>
                </a:solidFill>
                <a:latin typeface="Garet"/>
                <a:ea typeface="Garet"/>
                <a:cs typeface="Garet"/>
                <a:sym typeface="Garet"/>
              </a:rPr>
              <a:t>ClickUp. (2023). Bloqueos mentales: cómo superarlos y aumentar tu productividad. Recuperado de https://clickup.com/es-ES/blog/127571/bloqueos-mentales</a:t>
            </a:r>
          </a:p>
          <a:p>
            <a:pPr algn="l">
              <a:lnSpc>
                <a:spcPts val="3499"/>
              </a:lnSpc>
            </a:pPr>
            <a:endParaRPr lang="en-US" sz="2499">
              <a:solidFill>
                <a:srgbClr val="131416"/>
              </a:solidFill>
              <a:latin typeface="Garet"/>
              <a:ea typeface="Garet"/>
              <a:cs typeface="Garet"/>
              <a:sym typeface="Garet"/>
            </a:endParaRPr>
          </a:p>
          <a:p>
            <a:pPr marL="539749" lvl="1" indent="-269875" algn="l">
              <a:lnSpc>
                <a:spcPts val="3499"/>
              </a:lnSpc>
              <a:buFont typeface="Arial"/>
              <a:buChar char="•"/>
            </a:pPr>
            <a:r>
              <a:rPr lang="en-US" sz="2499">
                <a:solidFill>
                  <a:srgbClr val="131416"/>
                </a:solidFill>
                <a:latin typeface="Garet"/>
                <a:ea typeface="Garet"/>
                <a:cs typeface="Garet"/>
                <a:sym typeface="Garet"/>
              </a:rPr>
              <a:t>Universidad de Palermo. (s.f.). El bloqueo mental: un fenómeno psíquico común. Recuperado de https://www.palermo.edu/psicologia/articulospsicologia/bloqueo-mental.html</a:t>
            </a:r>
          </a:p>
          <a:p>
            <a:pPr algn="l">
              <a:lnSpc>
                <a:spcPts val="3499"/>
              </a:lnSpc>
            </a:pPr>
            <a:endParaRPr lang="en-US" sz="2499">
              <a:solidFill>
                <a:srgbClr val="131416"/>
              </a:solidFill>
              <a:latin typeface="Garet"/>
              <a:ea typeface="Garet"/>
              <a:cs typeface="Garet"/>
              <a:sym typeface="Garet"/>
            </a:endParaRPr>
          </a:p>
          <a:p>
            <a:pPr marL="539749" lvl="1" indent="-269875" algn="l">
              <a:lnSpc>
                <a:spcPts val="3499"/>
              </a:lnSpc>
              <a:buFont typeface="Arial"/>
              <a:buChar char="•"/>
            </a:pPr>
            <a:r>
              <a:rPr lang="en-US" sz="2499">
                <a:solidFill>
                  <a:srgbClr val="131416"/>
                </a:solidFill>
                <a:latin typeface="Garet"/>
                <a:ea typeface="Garet"/>
                <a:cs typeface="Garet"/>
                <a:sym typeface="Garet"/>
              </a:rPr>
              <a:t>Universidad de San Carlos de Guatemala. (s.f.). Unidad 1: Creatividad y modelos mentales [Material del curso Lógica de Sistemas, Facultad de Ingeniería]. Plataforma UEDI.</a:t>
            </a:r>
          </a:p>
          <a:p>
            <a:pPr algn="l">
              <a:lnSpc>
                <a:spcPts val="4900"/>
              </a:lnSpc>
            </a:pPr>
            <a:endParaRPr lang="en-US" sz="2499">
              <a:solidFill>
                <a:srgbClr val="131416"/>
              </a:solidFill>
              <a:latin typeface="Garet"/>
              <a:ea typeface="Garet"/>
              <a:cs typeface="Garet"/>
              <a:sym typeface="Gare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37795" y="3389104"/>
            <a:ext cx="8658828" cy="2495677"/>
          </a:xfrm>
          <a:prstGeom prst="rect">
            <a:avLst/>
          </a:prstGeom>
        </p:spPr>
        <p:txBody>
          <a:bodyPr lIns="0" tIns="0" rIns="0" bIns="0" rtlCol="0" anchor="t">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endParaRPr lang="en-US" sz="6099">
              <a:solidFill>
                <a:srgbClr val="131416"/>
              </a:solidFill>
              <a:latin typeface="Horizon"/>
              <a:ea typeface="Horizon"/>
              <a:cs typeface="Horizon"/>
              <a:sym typeface="Horizon"/>
            </a:endParaRPr>
          </a:p>
        </p:txBody>
      </p:sp>
      <p:sp>
        <p:nvSpPr>
          <p:cNvPr id="3" name="TextBox 3"/>
          <p:cNvSpPr txBox="1"/>
          <p:nvPr/>
        </p:nvSpPr>
        <p:spPr>
          <a:xfrm>
            <a:off x="5414714" y="5958103"/>
            <a:ext cx="6704991" cy="898525"/>
          </a:xfrm>
          <a:prstGeom prst="rect">
            <a:avLst/>
          </a:prstGeom>
        </p:spPr>
        <p:txBody>
          <a:bodyPr lIns="0" tIns="0" rIns="0" bIns="0" rtlCol="0" anchor="t">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id="4" name="Freeform 4"/>
          <p:cNvSpPr/>
          <p:nvPr/>
        </p:nvSpPr>
        <p:spPr>
          <a:xfrm>
            <a:off x="13963751" y="1028700"/>
            <a:ext cx="2757268" cy="3770970"/>
          </a:xfrm>
          <a:custGeom>
            <a:avLst/>
            <a:gdLst/>
            <a:ahLst/>
            <a:cxnLst/>
            <a:rect l="l" t="t" r="r" b="b"/>
            <a:pathLst>
              <a:path w="2757268" h="3770970">
                <a:moveTo>
                  <a:pt x="0" y="0"/>
                </a:moveTo>
                <a:lnTo>
                  <a:pt x="2757268" y="0"/>
                </a:lnTo>
                <a:lnTo>
                  <a:pt x="2757268" y="3770970"/>
                </a:lnTo>
                <a:lnTo>
                  <a:pt x="0" y="3770970"/>
                </a:lnTo>
                <a:lnTo>
                  <a:pt x="0" y="0"/>
                </a:lnTo>
                <a:close/>
              </a:path>
            </a:pathLst>
          </a:custGeom>
          <a:blipFill>
            <a:blip r:embed="rId2"/>
            <a:stretch>
              <a:fillRect/>
            </a:stretch>
          </a:blipFill>
        </p:spPr>
        <p:txBody>
          <a:bodyPr/>
          <a:lstStyle/>
          <a:p>
            <a:endParaRPr lang="es-GT"/>
          </a:p>
        </p:txBody>
      </p:sp>
      <p:sp>
        <p:nvSpPr>
          <p:cNvPr id="5" name="TextBox 5"/>
          <p:cNvSpPr txBox="1"/>
          <p:nvPr/>
        </p:nvSpPr>
        <p:spPr>
          <a:xfrm>
            <a:off x="2411098" y="7899735"/>
            <a:ext cx="13465804" cy="719455"/>
          </a:xfrm>
          <a:prstGeom prst="rect">
            <a:avLst/>
          </a:prstGeom>
        </p:spPr>
        <p:txBody>
          <a:bodyPr lIns="0" tIns="0" rIns="0" bIns="0" rtlCol="0" anchor="t">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1702</Words>
  <Application>Microsoft Office PowerPoint</Application>
  <PresentationFormat>Personalizado</PresentationFormat>
  <Paragraphs>163</Paragraphs>
  <Slides>25</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25</vt:i4>
      </vt:variant>
    </vt:vector>
  </HeadingPairs>
  <TitlesOfParts>
    <vt:vector size="35" baseType="lpstr">
      <vt:lpstr>Calibri</vt:lpstr>
      <vt:lpstr>Arial</vt:lpstr>
      <vt:lpstr>Open Sans Bold</vt:lpstr>
      <vt:lpstr>Open Sans</vt:lpstr>
      <vt:lpstr>Arial Bold</vt:lpstr>
      <vt:lpstr>Garet Bold</vt:lpstr>
      <vt:lpstr>Garet</vt:lpstr>
      <vt:lpstr>Horizon</vt:lpstr>
      <vt:lpstr>Playlist Script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1: La creatividad y bloqueos mentales 1S2026</dc:title>
  <cp:lastModifiedBy>Gerson Ruiz</cp:lastModifiedBy>
  <cp:revision>2</cp:revision>
  <dcterms:created xsi:type="dcterms:W3CDTF">2006-08-16T00:00:00Z</dcterms:created>
  <dcterms:modified xsi:type="dcterms:W3CDTF">2025-11-05T03:16:49Z</dcterms:modified>
  <dc:identifier>DAG0tpeOTFs</dc:identifier>
</cp:coreProperties>
</file>