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10287000" cx="18288000"/>
  <p:notesSz cx="6858000" cy="9144000"/>
  <p:embeddedFontLst>
    <p:embeddedFont>
      <p:font typeface="Play"/>
      <p:regular r:id="rId27"/>
      <p:bold r:id="rId28"/>
    </p:embeddedFont>
    <p:embeddedFont>
      <p:font typeface="Arimo"/>
      <p:regular r:id="rId29"/>
      <p:bold r:id="rId30"/>
      <p:italic r:id="rId31"/>
      <p:boldItalic r:id="rId32"/>
    </p:embeddedFont>
    <p:embeddedFont>
      <p:font typeface="Open Sans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jeZn63K/kIXol7caFm0Z8Q15sx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3D0244-CE92-49E5-824F-4B2703D6E799}">
  <a:tblStyle styleId="{0F3D0244-CE92-49E5-824F-4B2703D6E79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-italic.fntdata"/><Relationship Id="rId30" Type="http://schemas.openxmlformats.org/officeDocument/2006/relationships/font" Target="fonts/Arimo-bold.fntdata"/><Relationship Id="rId11" Type="http://schemas.openxmlformats.org/officeDocument/2006/relationships/slide" Target="slides/slide5.xml"/><Relationship Id="rId33" Type="http://schemas.openxmlformats.org/officeDocument/2006/relationships/font" Target="fonts/OpenSans-bold.fntdata"/><Relationship Id="rId10" Type="http://schemas.openxmlformats.org/officeDocument/2006/relationships/slide" Target="slides/slide4.xml"/><Relationship Id="rId32" Type="http://schemas.openxmlformats.org/officeDocument/2006/relationships/font" Target="fonts/Arimo-boldItalic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hyperlink" Target="https://youtu.be/tNoXBPeJyMg" TargetMode="External"/><Relationship Id="rId6" Type="http://schemas.openxmlformats.org/officeDocument/2006/relationships/hyperlink" Target="https://create.kahoot.it/details/cc5c8611-02c0-4f81-959c-f007e35484b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9.jp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Relationship Id="rId4" Type="http://schemas.openxmlformats.org/officeDocument/2006/relationships/image" Target="../media/image2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8459661" y="2087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{0F3D0244-CE92-49E5-824F-4B2703D6E799}</a:tableStyleId>
              </a:tblPr>
              <a:tblGrid>
                <a:gridCol w="4350925"/>
                <a:gridCol w="4917525"/>
              </a:tblGrid>
              <a:tr h="112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6" name="Google Shape;86;p1"/>
          <p:cNvGrpSpPr/>
          <p:nvPr/>
        </p:nvGrpSpPr>
        <p:grpSpPr>
          <a:xfrm>
            <a:off x="1198672" y="5459689"/>
            <a:ext cx="8989218" cy="1193187"/>
            <a:chOff x="0" y="-76200"/>
            <a:chExt cx="2367531" cy="314255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2367530" cy="238055"/>
            </a:xfrm>
            <a:custGeom>
              <a:rect b="b" l="l" r="r" t="t"/>
              <a:pathLst>
                <a:path extrusionOk="0" h="238055" w="2367530">
                  <a:moveTo>
                    <a:pt x="0" y="0"/>
                  </a:moveTo>
                  <a:lnTo>
                    <a:pt x="2367530" y="0"/>
                  </a:lnTo>
                  <a:lnTo>
                    <a:pt x="2367530" y="238055"/>
                  </a:lnTo>
                  <a:lnTo>
                    <a:pt x="0" y="238055"/>
                  </a:lnTo>
                  <a:close/>
                </a:path>
              </a:pathLst>
            </a:custGeom>
            <a:solidFill>
              <a:srgbClr val="FFF3C2"/>
            </a:solidFill>
            <a:ln>
              <a:noFill/>
            </a:ln>
          </p:spPr>
        </p:sp>
        <p:sp>
          <p:nvSpPr>
            <p:cNvPr id="88" name="Google Shape;88;p1"/>
            <p:cNvSpPr txBox="1"/>
            <p:nvPr/>
          </p:nvSpPr>
          <p:spPr>
            <a:xfrm>
              <a:off x="0" y="-76200"/>
              <a:ext cx="2367531" cy="314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Lógica de Sistemas Sección </a:t>
              </a:r>
              <a:endParaRPr/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1977804" y="6943173"/>
            <a:ext cx="7166196" cy="1111125"/>
            <a:chOff x="0" y="-57150"/>
            <a:chExt cx="1887393" cy="292642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1887393" cy="235492"/>
            </a:xfrm>
            <a:custGeom>
              <a:rect b="b" l="l" r="r" t="t"/>
              <a:pathLst>
                <a:path extrusionOk="0" h="235492" w="1887393">
                  <a:moveTo>
                    <a:pt x="0" y="0"/>
                  </a:moveTo>
                  <a:lnTo>
                    <a:pt x="1887393" y="0"/>
                  </a:lnTo>
                  <a:lnTo>
                    <a:pt x="1887393" y="235492"/>
                  </a:lnTo>
                  <a:lnTo>
                    <a:pt x="0" y="235492"/>
                  </a:lnTo>
                  <a:close/>
                </a:path>
              </a:pathLst>
            </a:custGeom>
            <a:solidFill>
              <a:srgbClr val="FFF3C2"/>
            </a:solidFill>
            <a:ln>
              <a:noFill/>
            </a:ln>
          </p:spPr>
        </p:sp>
        <p:sp>
          <p:nvSpPr>
            <p:cNvPr id="91" name="Google Shape;91;p1"/>
            <p:cNvSpPr txBox="1"/>
            <p:nvPr/>
          </p:nvSpPr>
          <p:spPr>
            <a:xfrm>
              <a:off x="0" y="-57150"/>
              <a:ext cx="1887393" cy="2926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NOMBRE DEL TUTOR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 txBox="1"/>
          <p:nvPr/>
        </p:nvSpPr>
        <p:spPr>
          <a:xfrm>
            <a:off x="1063303" y="7833952"/>
            <a:ext cx="5953683" cy="863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Lógica de Sistemas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3124885" y="3915649"/>
            <a:ext cx="11499949" cy="1566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Repaso unidad 1 y 2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3"/>
          <p:cNvGrpSpPr/>
          <p:nvPr/>
        </p:nvGrpSpPr>
        <p:grpSpPr>
          <a:xfrm>
            <a:off x="651754" y="5083378"/>
            <a:ext cx="4613551" cy="845385"/>
            <a:chOff x="0" y="-76200"/>
            <a:chExt cx="1964221" cy="359923"/>
          </a:xfrm>
        </p:grpSpPr>
        <p:sp>
          <p:nvSpPr>
            <p:cNvPr id="107" name="Google Shape;107;p3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8" name="Google Shape;108;p3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Parcial 1</a:t>
              </a:r>
              <a:endParaRPr/>
            </a:p>
          </p:txBody>
        </p:sp>
      </p:grpSp>
      <p:sp>
        <p:nvSpPr>
          <p:cNvPr id="109" name="Google Shape;109;p3"/>
          <p:cNvSpPr/>
          <p:nvPr/>
        </p:nvSpPr>
        <p:spPr>
          <a:xfrm>
            <a:off x="1353790" y="53033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0" name="Google Shape;110;p3"/>
          <p:cNvGrpSpPr/>
          <p:nvPr/>
        </p:nvGrpSpPr>
        <p:grpSpPr>
          <a:xfrm>
            <a:off x="2342125" y="3576877"/>
            <a:ext cx="4115190" cy="1556484"/>
            <a:chOff x="0" y="-76200"/>
            <a:chExt cx="1083836" cy="409938"/>
          </a:xfrm>
        </p:grpSpPr>
        <p:sp>
          <p:nvSpPr>
            <p:cNvPr id="111" name="Google Shape;111;p3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3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3" name="Google Shape;113;p3"/>
          <p:cNvSpPr/>
          <p:nvPr/>
        </p:nvSpPr>
        <p:spPr>
          <a:xfrm>
            <a:off x="1126889" y="3992629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3"/>
          <p:cNvGrpSpPr/>
          <p:nvPr/>
        </p:nvGrpSpPr>
        <p:grpSpPr>
          <a:xfrm>
            <a:off x="651754" y="-320617"/>
            <a:ext cx="6140237" cy="3052280"/>
            <a:chOff x="0" y="-95250"/>
            <a:chExt cx="8186982" cy="4069708"/>
          </a:xfrm>
        </p:grpSpPr>
        <p:sp>
          <p:nvSpPr>
            <p:cNvPr id="115" name="Google Shape;115;p3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3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18" name="Google Shape;118;p3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3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1" name="Google Shape;121;p3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2" name="Google Shape;122;p3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/>
            </a:p>
          </p:txBody>
        </p:sp>
      </p:grpSp>
      <p:grpSp>
        <p:nvGrpSpPr>
          <p:cNvPr id="123" name="Google Shape;123;p3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5" name="Google Shape;125;p3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sp>
        <p:nvSpPr>
          <p:cNvPr id="126" name="Google Shape;126;p3"/>
          <p:cNvSpPr txBox="1"/>
          <p:nvPr/>
        </p:nvSpPr>
        <p:spPr>
          <a:xfrm>
            <a:off x="9888401" y="4188362"/>
            <a:ext cx="7954677" cy="80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9" u="sng" cap="none" strike="noStrike">
                <a:solidFill>
                  <a:srgbClr val="5271FF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https://youtu.be/tNoXBPeJyMg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9762073" y="6223629"/>
            <a:ext cx="8207333" cy="977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47" u="sng" cap="none" strike="noStrike">
                <a:solidFill>
                  <a:srgbClr val="5271FF"/>
                </a:solidFill>
                <a:latin typeface="Arimo"/>
                <a:ea typeface="Arimo"/>
                <a:cs typeface="Arimo"/>
                <a:sym typeface="Arim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https://create.kahoot.it/details/cc5c8611-02c0-4f81-959c-f007e35484be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/>
        </p:nvSpPr>
        <p:spPr>
          <a:xfrm>
            <a:off x="1374889" y="1009650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028700" y="4082770"/>
            <a:ext cx="16331985" cy="3393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1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Reconoce los distintos tipos de bloqueos mentales mediante la identificación de ejemplos en experiencias cotidianas que dificultan la resolución de problemas</a:t>
            </a:r>
            <a:endParaRPr/>
          </a:p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18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1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Analiza proposiciones y razonamientos en el lenguaje identificando premisas, conclusiones y sus relaciones lógicas dentro de textos y enunciados</a:t>
            </a:r>
            <a:endParaRPr/>
          </a:p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18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2232063" y="4846644"/>
            <a:ext cx="4445120" cy="5347513"/>
          </a:xfrm>
          <a:custGeom>
            <a:rect b="b" l="l" r="r" t="t"/>
            <a:pathLst>
              <a:path extrusionOk="0" h="5347513" w="4445120">
                <a:moveTo>
                  <a:pt x="0" y="0"/>
                </a:moveTo>
                <a:lnTo>
                  <a:pt x="4445120" y="0"/>
                </a:lnTo>
                <a:lnTo>
                  <a:pt x="4445120" y="5347513"/>
                </a:lnTo>
                <a:lnTo>
                  <a:pt x="0" y="5347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/>
          <p:nvPr/>
        </p:nvSpPr>
        <p:spPr>
          <a:xfrm>
            <a:off x="9527931" y="4420370"/>
            <a:ext cx="5636660" cy="5773788"/>
          </a:xfrm>
          <a:custGeom>
            <a:rect b="b" l="l" r="r" t="t"/>
            <a:pathLst>
              <a:path extrusionOk="0" h="5773788" w="5636660">
                <a:moveTo>
                  <a:pt x="0" y="0"/>
                </a:moveTo>
                <a:lnTo>
                  <a:pt x="5636660" y="0"/>
                </a:lnTo>
                <a:lnTo>
                  <a:pt x="5636660" y="5773787"/>
                </a:lnTo>
                <a:lnTo>
                  <a:pt x="0" y="5773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 txBox="1"/>
          <p:nvPr/>
        </p:nvSpPr>
        <p:spPr>
          <a:xfrm>
            <a:off x="2148413" y="1000125"/>
            <a:ext cx="13991174" cy="939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¿QUÉ ES UN PROBLEMA?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1028700" y="3103571"/>
            <a:ext cx="16384246" cy="978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16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problema es una situación en la que hay una diferencia entre el estado actual y el deseado, sin una solución evidente inmediata.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222613" y="5392591"/>
            <a:ext cx="4397950" cy="4660080"/>
          </a:xfrm>
          <a:custGeom>
            <a:rect b="b" l="l" r="r" t="t"/>
            <a:pathLst>
              <a:path extrusionOk="0" h="4660080" w="4397950">
                <a:moveTo>
                  <a:pt x="0" y="0"/>
                </a:moveTo>
                <a:lnTo>
                  <a:pt x="4397950" y="0"/>
                </a:lnTo>
                <a:lnTo>
                  <a:pt x="4397950" y="4660079"/>
                </a:lnTo>
                <a:lnTo>
                  <a:pt x="0" y="4660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6"/>
          <p:cNvSpPr txBox="1"/>
          <p:nvPr/>
        </p:nvSpPr>
        <p:spPr>
          <a:xfrm>
            <a:off x="2148413" y="1000125"/>
            <a:ext cx="13991174" cy="152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PASOS EN LA RESOLUCIÓN DE PROBLEMAS</a:t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4860633" y="3809540"/>
            <a:ext cx="13026159" cy="3994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49482" lvl="1" marL="1498966" marR="0" rtl="0" algn="l">
              <a:lnSpc>
                <a:spcPct val="113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942"/>
              <a:buFont typeface="Open Sans"/>
              <a:buAutoNum type="arabicPeriod"/>
            </a:pPr>
            <a:r>
              <a:rPr b="0" i="0" lang="en-US" sz="694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Definir el problema</a:t>
            </a:r>
            <a:endParaRPr/>
          </a:p>
          <a:p>
            <a:pPr indent="-749482" lvl="1" marL="1498966" marR="0" rtl="0" algn="l">
              <a:lnSpc>
                <a:spcPct val="113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942"/>
              <a:buFont typeface="Open Sans"/>
              <a:buAutoNum type="arabicPeriod"/>
            </a:pPr>
            <a:r>
              <a:rPr b="0" i="0" lang="en-US" sz="694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Generar alternativas</a:t>
            </a:r>
            <a:endParaRPr/>
          </a:p>
          <a:p>
            <a:pPr indent="-749482" lvl="1" marL="1498966" marR="0" rtl="0" algn="l">
              <a:lnSpc>
                <a:spcPct val="113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942"/>
              <a:buFont typeface="Open Sans"/>
              <a:buAutoNum type="arabicPeriod"/>
            </a:pPr>
            <a:r>
              <a:rPr b="0" i="0" lang="en-US" sz="694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Evaluar y elegir</a:t>
            </a:r>
            <a:endParaRPr/>
          </a:p>
          <a:p>
            <a:pPr indent="-749482" lvl="1" marL="1498966" marR="0" rtl="0" algn="l">
              <a:lnSpc>
                <a:spcPct val="113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942"/>
              <a:buFont typeface="Open Sans"/>
              <a:buAutoNum type="arabicPeriod"/>
            </a:pPr>
            <a:r>
              <a:rPr b="0" i="0" lang="en-US" sz="694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Implementar y monitorear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13256506" y="4770074"/>
            <a:ext cx="3830505" cy="4114800"/>
          </a:xfrm>
          <a:custGeom>
            <a:rect b="b" l="l" r="r" t="t"/>
            <a:pathLst>
              <a:path extrusionOk="0" h="4114800" w="3830505">
                <a:moveTo>
                  <a:pt x="0" y="0"/>
                </a:moveTo>
                <a:lnTo>
                  <a:pt x="3830505" y="0"/>
                </a:lnTo>
                <a:lnTo>
                  <a:pt x="38305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7"/>
          <p:cNvSpPr txBox="1"/>
          <p:nvPr/>
        </p:nvSpPr>
        <p:spPr>
          <a:xfrm>
            <a:off x="2148413" y="1009650"/>
            <a:ext cx="13991174" cy="7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PASO 1 - DEFINIR EL PROBLEMA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2630921" y="2136964"/>
            <a:ext cx="13026159" cy="1621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04520" lvl="1" marL="1209041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600"/>
              <a:buFont typeface="Open Sans"/>
              <a:buAutoNum type="arabicPeriod"/>
            </a:pPr>
            <a:r>
              <a:rPr b="0" i="0" lang="en-US" sz="5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Identificar el problema real.</a:t>
            </a:r>
            <a:endParaRPr/>
          </a:p>
          <a:p>
            <a:pPr indent="-604520" lvl="1" marL="1209041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600"/>
              <a:buFont typeface="Open Sans"/>
              <a:buAutoNum type="arabicPeriod"/>
            </a:pPr>
            <a:r>
              <a:rPr b="0" i="0" lang="en-US" sz="5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Separar hechos de opiniones.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934968" y="4924777"/>
            <a:ext cx="8563325" cy="358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impresora no imprime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Definiendo el problema sería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Verificar conexión USB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3347886" y="5862102"/>
            <a:ext cx="3757447" cy="3757447"/>
          </a:xfrm>
          <a:custGeom>
            <a:rect b="b" l="l" r="r" t="t"/>
            <a:pathLst>
              <a:path extrusionOk="0" h="3757447" w="3757447">
                <a:moveTo>
                  <a:pt x="0" y="0"/>
                </a:moveTo>
                <a:lnTo>
                  <a:pt x="3757447" y="0"/>
                </a:lnTo>
                <a:lnTo>
                  <a:pt x="3757447" y="3757447"/>
                </a:lnTo>
                <a:lnTo>
                  <a:pt x="0" y="3757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8"/>
          <p:cNvSpPr/>
          <p:nvPr/>
        </p:nvSpPr>
        <p:spPr>
          <a:xfrm>
            <a:off x="9975349" y="5862102"/>
            <a:ext cx="3879594" cy="3879594"/>
          </a:xfrm>
          <a:custGeom>
            <a:rect b="b" l="l" r="r" t="t"/>
            <a:pathLst>
              <a:path extrusionOk="0" h="3879594" w="3879594">
                <a:moveTo>
                  <a:pt x="0" y="0"/>
                </a:moveTo>
                <a:lnTo>
                  <a:pt x="3879594" y="0"/>
                </a:lnTo>
                <a:lnTo>
                  <a:pt x="3879594" y="3879594"/>
                </a:lnTo>
                <a:lnTo>
                  <a:pt x="0" y="3879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8"/>
          <p:cNvSpPr txBox="1"/>
          <p:nvPr/>
        </p:nvSpPr>
        <p:spPr>
          <a:xfrm>
            <a:off x="2148413" y="1009650"/>
            <a:ext cx="13991174" cy="7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PASO 2 - GENERAR SOLUCIONES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2630921" y="2136964"/>
            <a:ext cx="13026159" cy="1621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04520" lvl="1" marL="1209041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600"/>
              <a:buFont typeface="Open Sans"/>
              <a:buAutoNum type="arabicPeriod"/>
            </a:pPr>
            <a:r>
              <a:rPr b="0" i="0" lang="en-US" sz="5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Lluvia de ideas sin juzgar.</a:t>
            </a:r>
            <a:endParaRPr/>
          </a:p>
          <a:p>
            <a:pPr indent="-604520" lvl="1" marL="1209041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600"/>
              <a:buFont typeface="Open Sans"/>
              <a:buAutoNum type="arabicPeriod"/>
            </a:pPr>
            <a:r>
              <a:rPr b="0" i="0" lang="en-US" sz="5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Involucrar diferentes perspectivas.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3163448" y="4519856"/>
            <a:ext cx="12882407" cy="1180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Revisar drivers, cambiar cable, probar otra impresora.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13173947" y="5580906"/>
            <a:ext cx="3879594" cy="3879594"/>
          </a:xfrm>
          <a:custGeom>
            <a:rect b="b" l="l" r="r" t="t"/>
            <a:pathLst>
              <a:path extrusionOk="0" h="3879594" w="3879594">
                <a:moveTo>
                  <a:pt x="0" y="0"/>
                </a:moveTo>
                <a:lnTo>
                  <a:pt x="3879594" y="0"/>
                </a:lnTo>
                <a:lnTo>
                  <a:pt x="3879594" y="3879594"/>
                </a:lnTo>
                <a:lnTo>
                  <a:pt x="0" y="3879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9"/>
          <p:cNvSpPr/>
          <p:nvPr/>
        </p:nvSpPr>
        <p:spPr>
          <a:xfrm>
            <a:off x="1504618" y="5855786"/>
            <a:ext cx="3604714" cy="3604714"/>
          </a:xfrm>
          <a:custGeom>
            <a:rect b="b" l="l" r="r" t="t"/>
            <a:pathLst>
              <a:path extrusionOk="0" h="3604714" w="3604714">
                <a:moveTo>
                  <a:pt x="0" y="0"/>
                </a:moveTo>
                <a:lnTo>
                  <a:pt x="3604714" y="0"/>
                </a:lnTo>
                <a:lnTo>
                  <a:pt x="3604714" y="3604714"/>
                </a:lnTo>
                <a:lnTo>
                  <a:pt x="0" y="3604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9"/>
          <p:cNvSpPr/>
          <p:nvPr/>
        </p:nvSpPr>
        <p:spPr>
          <a:xfrm>
            <a:off x="6987220" y="5707195"/>
            <a:ext cx="4143672" cy="4143672"/>
          </a:xfrm>
          <a:custGeom>
            <a:rect b="b" l="l" r="r" t="t"/>
            <a:pathLst>
              <a:path extrusionOk="0" h="4143672" w="4143672">
                <a:moveTo>
                  <a:pt x="0" y="0"/>
                </a:moveTo>
                <a:lnTo>
                  <a:pt x="4143672" y="0"/>
                </a:lnTo>
                <a:lnTo>
                  <a:pt x="4143672" y="4143672"/>
                </a:lnTo>
                <a:lnTo>
                  <a:pt x="0" y="4143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9"/>
          <p:cNvSpPr txBox="1"/>
          <p:nvPr/>
        </p:nvSpPr>
        <p:spPr>
          <a:xfrm>
            <a:off x="2148413" y="1009650"/>
            <a:ext cx="13991174" cy="65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PASO 3 - EVALUAR Y SELECCIONAR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2630921" y="2136964"/>
            <a:ext cx="13026159" cy="1621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04520" lvl="1" marL="1209041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600"/>
              <a:buFont typeface="Open Sans"/>
              <a:buAutoNum type="arabicPeriod"/>
            </a:pPr>
            <a:r>
              <a:rPr b="0" i="0" lang="en-US" sz="5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Dentajas y desventajas de cada opción.</a:t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3163448" y="4519856"/>
            <a:ext cx="12882407" cy="1780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Se decide cambiar el cable dañado.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/>
          <p:nvPr/>
        </p:nvSpPr>
        <p:spPr>
          <a:xfrm>
            <a:off x="4456461" y="5583797"/>
            <a:ext cx="3745312" cy="3745312"/>
          </a:xfrm>
          <a:custGeom>
            <a:rect b="b" l="l" r="r" t="t"/>
            <a:pathLst>
              <a:path extrusionOk="0" h="3745312" w="3745312">
                <a:moveTo>
                  <a:pt x="0" y="0"/>
                </a:moveTo>
                <a:lnTo>
                  <a:pt x="3745312" y="0"/>
                </a:lnTo>
                <a:lnTo>
                  <a:pt x="3745312" y="3745312"/>
                </a:lnTo>
                <a:lnTo>
                  <a:pt x="0" y="3745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0"/>
          <p:cNvSpPr/>
          <p:nvPr/>
        </p:nvSpPr>
        <p:spPr>
          <a:xfrm>
            <a:off x="10461155" y="5366532"/>
            <a:ext cx="3891768" cy="3891768"/>
          </a:xfrm>
          <a:custGeom>
            <a:rect b="b" l="l" r="r" t="t"/>
            <a:pathLst>
              <a:path extrusionOk="0" h="3891768" w="3891768">
                <a:moveTo>
                  <a:pt x="0" y="0"/>
                </a:moveTo>
                <a:lnTo>
                  <a:pt x="3891767" y="0"/>
                </a:lnTo>
                <a:lnTo>
                  <a:pt x="3891767" y="3891768"/>
                </a:lnTo>
                <a:lnTo>
                  <a:pt x="0" y="38917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0"/>
          <p:cNvSpPr txBox="1"/>
          <p:nvPr/>
        </p:nvSpPr>
        <p:spPr>
          <a:xfrm>
            <a:off x="2148413" y="1009650"/>
            <a:ext cx="13991174" cy="5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PASO 4 - IMPLEMENTAR Y MONITOREAR</a:t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2630921" y="2136964"/>
            <a:ext cx="13026159" cy="1621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04520" lvl="1" marL="1209041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600"/>
              <a:buFont typeface="Open Sans"/>
              <a:buAutoNum type="arabicPeriod"/>
            </a:pPr>
            <a:r>
              <a:rPr b="0" i="0" lang="en-US" sz="5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Aplicar la solución.</a:t>
            </a:r>
            <a:endParaRPr/>
          </a:p>
          <a:p>
            <a:pPr indent="-604520" lvl="1" marL="1209041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600"/>
              <a:buFont typeface="Open Sans"/>
              <a:buAutoNum type="arabicPeriod"/>
            </a:pPr>
            <a:r>
              <a:rPr b="0" i="0" lang="en-US" sz="5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Verificar funcionamiento.</a:t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3128299" y="4346107"/>
            <a:ext cx="12882407" cy="58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Probar impresión con diferentes documentos.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584165" y="5962370"/>
            <a:ext cx="3493408" cy="3493408"/>
          </a:xfrm>
          <a:custGeom>
            <a:rect b="b" l="l" r="r" t="t"/>
            <a:pathLst>
              <a:path extrusionOk="0" h="3493408" w="3493408">
                <a:moveTo>
                  <a:pt x="0" y="0"/>
                </a:moveTo>
                <a:lnTo>
                  <a:pt x="3493408" y="0"/>
                </a:lnTo>
                <a:lnTo>
                  <a:pt x="3493408" y="3493407"/>
                </a:lnTo>
                <a:lnTo>
                  <a:pt x="0" y="34934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1"/>
          <p:cNvSpPr/>
          <p:nvPr/>
        </p:nvSpPr>
        <p:spPr>
          <a:xfrm>
            <a:off x="10861332" y="5705195"/>
            <a:ext cx="6925209" cy="4276317"/>
          </a:xfrm>
          <a:custGeom>
            <a:rect b="b" l="l" r="r" t="t"/>
            <a:pathLst>
              <a:path extrusionOk="0" h="4276317" w="6925209">
                <a:moveTo>
                  <a:pt x="0" y="0"/>
                </a:moveTo>
                <a:lnTo>
                  <a:pt x="6925209" y="0"/>
                </a:lnTo>
                <a:lnTo>
                  <a:pt x="6925209" y="4276316"/>
                </a:lnTo>
                <a:lnTo>
                  <a:pt x="0" y="42763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1"/>
          <p:cNvSpPr/>
          <p:nvPr/>
        </p:nvSpPr>
        <p:spPr>
          <a:xfrm>
            <a:off x="5998086" y="5833029"/>
            <a:ext cx="4020649" cy="4020649"/>
          </a:xfrm>
          <a:custGeom>
            <a:rect b="b" l="l" r="r" t="t"/>
            <a:pathLst>
              <a:path extrusionOk="0" h="4020649" w="4020649">
                <a:moveTo>
                  <a:pt x="0" y="0"/>
                </a:moveTo>
                <a:lnTo>
                  <a:pt x="4020649" y="0"/>
                </a:lnTo>
                <a:lnTo>
                  <a:pt x="4020649" y="4020649"/>
                </a:lnTo>
                <a:lnTo>
                  <a:pt x="0" y="4020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1"/>
          <p:cNvSpPr txBox="1"/>
          <p:nvPr/>
        </p:nvSpPr>
        <p:spPr>
          <a:xfrm>
            <a:off x="2148413" y="1009650"/>
            <a:ext cx="13991174" cy="5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TÉCNICAS PARA PRODUCIR IDEAS</a:t>
            </a:r>
            <a:endParaRPr/>
          </a:p>
        </p:txBody>
      </p:sp>
      <p:sp>
        <p:nvSpPr>
          <p:cNvPr id="193" name="Google Shape;193;p11"/>
          <p:cNvSpPr txBox="1"/>
          <p:nvPr/>
        </p:nvSpPr>
        <p:spPr>
          <a:xfrm>
            <a:off x="2148413" y="2162765"/>
            <a:ext cx="13026159" cy="2421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04520" lvl="1" marL="1209041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600"/>
              <a:buFont typeface="Arial"/>
              <a:buChar char="•"/>
            </a:pPr>
            <a:r>
              <a:rPr b="0" i="0" lang="en-US" sz="5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Brainstorming</a:t>
            </a:r>
            <a:endParaRPr/>
          </a:p>
          <a:p>
            <a:pPr indent="-604520" lvl="1" marL="1209041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600"/>
              <a:buFont typeface="Arial"/>
              <a:buChar char="•"/>
            </a:pPr>
            <a:r>
              <a:rPr b="0" i="0" lang="en-US" sz="5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Mapas mentales</a:t>
            </a:r>
            <a:endParaRPr/>
          </a:p>
          <a:p>
            <a:pPr indent="-604520" lvl="1" marL="1209041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600"/>
              <a:buFont typeface="Arial"/>
              <a:buChar char="•"/>
            </a:pPr>
            <a:r>
              <a:rPr b="0" i="0" lang="en-US" sz="5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SCAMPER</a:t>
            </a:r>
            <a:endParaRPr/>
          </a:p>
        </p:txBody>
      </p:sp>
      <p:sp>
        <p:nvSpPr>
          <p:cNvPr id="194" name="Google Shape;194;p11"/>
          <p:cNvSpPr txBox="1"/>
          <p:nvPr/>
        </p:nvSpPr>
        <p:spPr>
          <a:xfrm>
            <a:off x="2778596" y="4819930"/>
            <a:ext cx="11765793" cy="58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Estas técnicas estimulan la creatividad y rompen patrones.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15174572" y="1342092"/>
            <a:ext cx="2246654" cy="2246654"/>
          </a:xfrm>
          <a:custGeom>
            <a:rect b="b" l="l" r="r" t="t"/>
            <a:pathLst>
              <a:path extrusionOk="0" h="2246654" w="2246654">
                <a:moveTo>
                  <a:pt x="0" y="0"/>
                </a:moveTo>
                <a:lnTo>
                  <a:pt x="2246654" y="0"/>
                </a:lnTo>
                <a:lnTo>
                  <a:pt x="2246654" y="2246653"/>
                </a:lnTo>
                <a:lnTo>
                  <a:pt x="0" y="22466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2"/>
          <p:cNvSpPr/>
          <p:nvPr/>
        </p:nvSpPr>
        <p:spPr>
          <a:xfrm>
            <a:off x="12635335" y="4596388"/>
            <a:ext cx="5652665" cy="5391229"/>
          </a:xfrm>
          <a:custGeom>
            <a:rect b="b" l="l" r="r" t="t"/>
            <a:pathLst>
              <a:path extrusionOk="0" h="5391229" w="5652665">
                <a:moveTo>
                  <a:pt x="0" y="0"/>
                </a:moveTo>
                <a:lnTo>
                  <a:pt x="5652665" y="0"/>
                </a:lnTo>
                <a:lnTo>
                  <a:pt x="5652665" y="5391229"/>
                </a:lnTo>
                <a:lnTo>
                  <a:pt x="0" y="53912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2"/>
          <p:cNvSpPr txBox="1"/>
          <p:nvPr/>
        </p:nvSpPr>
        <p:spPr>
          <a:xfrm>
            <a:off x="2148413" y="3995112"/>
            <a:ext cx="9573048" cy="4305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Hacer el planteamiento de ideas:</a:t>
            </a:r>
            <a:endParaRPr/>
          </a:p>
          <a:p>
            <a:pPr indent="-531480" lvl="1" marL="1062962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Reconocimiento de voz</a:t>
            </a:r>
            <a:endParaRPr/>
          </a:p>
          <a:p>
            <a:pPr indent="-531480" lvl="1" marL="1062962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Sincronización</a:t>
            </a:r>
            <a:endParaRPr/>
          </a:p>
          <a:p>
            <a:pPr indent="-531480" lvl="1" marL="1062962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Alertas inteligentes</a:t>
            </a:r>
            <a:endParaRPr/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92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2148413" y="1009650"/>
            <a:ext cx="13991174" cy="5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DE BRAINSTORMING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148413" y="2069033"/>
            <a:ext cx="13026159" cy="821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Problema: Mejorar una app de notas.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/>
          <p:nvPr/>
        </p:nvSpPr>
        <p:spPr>
          <a:xfrm>
            <a:off x="2516692" y="5143500"/>
            <a:ext cx="4723638" cy="4723638"/>
          </a:xfrm>
          <a:custGeom>
            <a:rect b="b" l="l" r="r" t="t"/>
            <a:pathLst>
              <a:path extrusionOk="0" h="4723638" w="4723638">
                <a:moveTo>
                  <a:pt x="0" y="0"/>
                </a:moveTo>
                <a:lnTo>
                  <a:pt x="4723638" y="0"/>
                </a:lnTo>
                <a:lnTo>
                  <a:pt x="4723638" y="4723638"/>
                </a:lnTo>
                <a:lnTo>
                  <a:pt x="0" y="4723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3"/>
          <p:cNvSpPr/>
          <p:nvPr/>
        </p:nvSpPr>
        <p:spPr>
          <a:xfrm>
            <a:off x="10133093" y="5143500"/>
            <a:ext cx="4723638" cy="4723638"/>
          </a:xfrm>
          <a:custGeom>
            <a:rect b="b" l="l" r="r" t="t"/>
            <a:pathLst>
              <a:path extrusionOk="0" h="4723638" w="4723638">
                <a:moveTo>
                  <a:pt x="0" y="0"/>
                </a:moveTo>
                <a:lnTo>
                  <a:pt x="4723638" y="0"/>
                </a:lnTo>
                <a:lnTo>
                  <a:pt x="4723638" y="4723638"/>
                </a:lnTo>
                <a:lnTo>
                  <a:pt x="0" y="4723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3"/>
          <p:cNvSpPr txBox="1"/>
          <p:nvPr/>
        </p:nvSpPr>
        <p:spPr>
          <a:xfrm>
            <a:off x="2148426" y="2121175"/>
            <a:ext cx="12078300" cy="18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Speculator: Innovador, curioso.</a:t>
            </a:r>
            <a:endParaRPr/>
          </a:p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Rentier: Conservador, tradicional.</a:t>
            </a:r>
            <a:endParaRPr/>
          </a:p>
        </p:txBody>
      </p:sp>
      <p:sp>
        <p:nvSpPr>
          <p:cNvPr id="211" name="Google Shape;211;p13"/>
          <p:cNvSpPr txBox="1"/>
          <p:nvPr/>
        </p:nvSpPr>
        <p:spPr>
          <a:xfrm>
            <a:off x="2148413" y="1009650"/>
            <a:ext cx="13991174" cy="5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TIPOS DE PENSADORES</a:t>
            </a:r>
            <a:endParaRPr/>
          </a:p>
        </p:txBody>
      </p:sp>
      <p:sp>
        <p:nvSpPr>
          <p:cNvPr id="212" name="Google Shape;212;p13"/>
          <p:cNvSpPr txBox="1"/>
          <p:nvPr/>
        </p:nvSpPr>
        <p:spPr>
          <a:xfrm>
            <a:off x="2750321" y="3939763"/>
            <a:ext cx="13026300" cy="16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Todos pueden aprender a producir ideas.</a:t>
            </a:r>
            <a:endParaRPr/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1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234528" y="3093633"/>
            <a:ext cx="12111984" cy="5161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Etapas para producir ideas:</a:t>
            </a:r>
            <a:endParaRPr/>
          </a:p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Reunir información</a:t>
            </a:r>
            <a:endParaRPr/>
          </a:p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Analizarla</a:t>
            </a:r>
            <a:endParaRPr/>
          </a:p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Relajarse</a:t>
            </a:r>
            <a:endParaRPr/>
          </a:p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Generar ideas</a:t>
            </a:r>
            <a:endParaRPr/>
          </a:p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Probar y ajustar</a:t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13501580" y="1984012"/>
            <a:ext cx="3159488" cy="3159488"/>
          </a:xfrm>
          <a:custGeom>
            <a:rect b="b" l="l" r="r" t="t"/>
            <a:pathLst>
              <a:path extrusionOk="0" h="3159488" w="3159488">
                <a:moveTo>
                  <a:pt x="0" y="0"/>
                </a:moveTo>
                <a:lnTo>
                  <a:pt x="3159488" y="0"/>
                </a:lnTo>
                <a:lnTo>
                  <a:pt x="3159488" y="3159488"/>
                </a:lnTo>
                <a:lnTo>
                  <a:pt x="0" y="31594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4"/>
          <p:cNvSpPr/>
          <p:nvPr/>
        </p:nvSpPr>
        <p:spPr>
          <a:xfrm>
            <a:off x="10614675" y="4325327"/>
            <a:ext cx="3013032" cy="3013032"/>
          </a:xfrm>
          <a:custGeom>
            <a:rect b="b" l="l" r="r" t="t"/>
            <a:pathLst>
              <a:path extrusionOk="0" h="3013032" w="3013032">
                <a:moveTo>
                  <a:pt x="0" y="0"/>
                </a:moveTo>
                <a:lnTo>
                  <a:pt x="3013032" y="0"/>
                </a:lnTo>
                <a:lnTo>
                  <a:pt x="3013032" y="3013032"/>
                </a:lnTo>
                <a:lnTo>
                  <a:pt x="0" y="3013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14"/>
          <p:cNvSpPr/>
          <p:nvPr/>
        </p:nvSpPr>
        <p:spPr>
          <a:xfrm>
            <a:off x="14113766" y="6267719"/>
            <a:ext cx="2661538" cy="2661538"/>
          </a:xfrm>
          <a:custGeom>
            <a:rect b="b" l="l" r="r" t="t"/>
            <a:pathLst>
              <a:path extrusionOk="0" h="2661538" w="2661538">
                <a:moveTo>
                  <a:pt x="0" y="0"/>
                </a:moveTo>
                <a:lnTo>
                  <a:pt x="2661538" y="0"/>
                </a:lnTo>
                <a:lnTo>
                  <a:pt x="2661538" y="2661538"/>
                </a:lnTo>
                <a:lnTo>
                  <a:pt x="0" y="26615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4"/>
          <p:cNvSpPr txBox="1"/>
          <p:nvPr/>
        </p:nvSpPr>
        <p:spPr>
          <a:xfrm>
            <a:off x="2148413" y="1009650"/>
            <a:ext cx="13991174" cy="63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MÉTODO PARA SER MÁS EFICIENTE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/>
        </p:nvSpPr>
        <p:spPr>
          <a:xfrm>
            <a:off x="2572483" y="2520089"/>
            <a:ext cx="13143033" cy="5161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Caso: Crear un nuevo sistema de reservas.</a:t>
            </a:r>
            <a:endParaRPr/>
          </a:p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Paso 1: Reunir datos de usuarios.</a:t>
            </a:r>
            <a:endParaRPr/>
          </a:p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Paso 2: Analizar patrones de uso.</a:t>
            </a:r>
            <a:endParaRPr/>
          </a:p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Paso 3: Relajarse.</a:t>
            </a:r>
            <a:endParaRPr/>
          </a:p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Paso 4: Surge idea de un chatbot.</a:t>
            </a:r>
            <a:endParaRPr/>
          </a:p>
          <a:p>
            <a:pPr indent="-531482" lvl="1" marL="1062963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923"/>
              <a:buFont typeface="Arial"/>
              <a:buChar char="•"/>
            </a:pPr>
            <a:r>
              <a:rPr b="0" i="0" lang="en-US" sz="49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Paso 5: Implementar y ajustar.</a:t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2148413" y="1009650"/>
            <a:ext cx="13991174" cy="63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DEL MÉTODO EFICIENTE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 txBox="1"/>
          <p:nvPr/>
        </p:nvSpPr>
        <p:spPr>
          <a:xfrm>
            <a:off x="1207514" y="5182273"/>
            <a:ext cx="15872972" cy="285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45124" lvl="1" marL="890247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123"/>
              <a:buFont typeface="Arial"/>
              <a:buChar char="•"/>
            </a:pPr>
            <a:r>
              <a:rPr b="0" i="0" lang="en-US" sz="41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Pensar: Formar imágenes mentales.</a:t>
            </a:r>
            <a:endParaRPr/>
          </a:p>
          <a:p>
            <a:pPr indent="-445124" lvl="1" marL="890247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123"/>
              <a:buFont typeface="Arial"/>
              <a:buChar char="•"/>
            </a:pPr>
            <a:r>
              <a:rPr b="0" i="0" lang="en-US" sz="41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Razón: Buscar coherencia entre conceptos.</a:t>
            </a:r>
            <a:endParaRPr/>
          </a:p>
          <a:p>
            <a:pPr indent="-445124" lvl="1" marL="890247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123"/>
              <a:buFont typeface="Arial"/>
              <a:buChar char="•"/>
            </a:pPr>
            <a:r>
              <a:rPr b="0" i="0" lang="en-US" sz="41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Razonamiento lógico: Premisas que llevan a una Conclusión.</a:t>
            </a:r>
            <a:endParaRPr/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2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2148413" y="1000125"/>
            <a:ext cx="13991174" cy="767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INTRODUCCIÓN A LA LÓGICA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2148413" y="2688626"/>
            <a:ext cx="12085934" cy="1553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6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Lógica se puede definir con los tres aspectos claves que a continuación se detallan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/>
          <p:nvPr/>
        </p:nvSpPr>
        <p:spPr>
          <a:xfrm>
            <a:off x="7245954" y="4242242"/>
            <a:ext cx="3341922" cy="4725083"/>
          </a:xfrm>
          <a:custGeom>
            <a:rect b="b" l="l" r="r" t="t"/>
            <a:pathLst>
              <a:path extrusionOk="0" h="4725083" w="3341922">
                <a:moveTo>
                  <a:pt x="0" y="0"/>
                </a:moveTo>
                <a:lnTo>
                  <a:pt x="3341922" y="0"/>
                </a:lnTo>
                <a:lnTo>
                  <a:pt x="3341922" y="4725083"/>
                </a:lnTo>
                <a:lnTo>
                  <a:pt x="0" y="4725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7"/>
          <p:cNvSpPr/>
          <p:nvPr/>
        </p:nvSpPr>
        <p:spPr>
          <a:xfrm>
            <a:off x="12024787" y="4336469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17"/>
          <p:cNvSpPr txBox="1"/>
          <p:nvPr/>
        </p:nvSpPr>
        <p:spPr>
          <a:xfrm>
            <a:off x="1597739" y="4175567"/>
            <a:ext cx="5379564" cy="3581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45124" lvl="1" marL="890247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123"/>
              <a:buFont typeface="Arial"/>
              <a:buChar char="•"/>
            </a:pPr>
            <a:r>
              <a:rPr b="0" i="0" lang="en-US" sz="41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Matemáticas</a:t>
            </a:r>
            <a:endParaRPr/>
          </a:p>
          <a:p>
            <a:pPr indent="-445124" lvl="1" marL="890247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123"/>
              <a:buFont typeface="Arial"/>
              <a:buChar char="•"/>
            </a:pPr>
            <a:r>
              <a:rPr b="0" i="0" lang="en-US" sz="41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Filosofía</a:t>
            </a:r>
            <a:endParaRPr/>
          </a:p>
          <a:p>
            <a:pPr indent="-445124" lvl="1" marL="890247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123"/>
              <a:buFont typeface="Arial"/>
              <a:buChar char="•"/>
            </a:pPr>
            <a:r>
              <a:rPr b="0" i="0" lang="en-US" sz="41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Gramática</a:t>
            </a:r>
            <a:endParaRPr/>
          </a:p>
          <a:p>
            <a:pPr indent="-445124" lvl="1" marL="890247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123"/>
              <a:buFont typeface="Arial"/>
              <a:buChar char="•"/>
            </a:pPr>
            <a:r>
              <a:rPr b="0" i="0" lang="en-US" sz="41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Sociología</a:t>
            </a:r>
            <a:endParaRPr/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2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2148413" y="1000125"/>
            <a:ext cx="13991174" cy="767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APLICACIONES DE LA LÓGICA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2148413" y="2688626"/>
            <a:ext cx="12085934" cy="1553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6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lógica es transversal a muchas disciplinas.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6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/>
        </p:nvSpPr>
        <p:spPr>
          <a:xfrm>
            <a:off x="1644605" y="3512111"/>
            <a:ext cx="14998791" cy="4063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99096" lvl="1" marL="998195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623"/>
              <a:buFont typeface="Arial"/>
              <a:buChar char="•"/>
            </a:pPr>
            <a:r>
              <a:rPr b="0" i="0" lang="en-US" sz="46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Apofántica: Concepto, juicio, razonamiento.</a:t>
            </a:r>
            <a:endParaRPr/>
          </a:p>
          <a:p>
            <a:pPr indent="-499096" lvl="1" marL="998195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623"/>
              <a:buFont typeface="Arial"/>
              <a:buChar char="•"/>
            </a:pPr>
            <a:r>
              <a:rPr b="0" i="0" lang="en-US" sz="46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Teorética: Plantea y resuelve problemas.</a:t>
            </a:r>
            <a:endParaRPr/>
          </a:p>
          <a:p>
            <a:pPr indent="-499096" lvl="1" marL="998195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623"/>
              <a:buFont typeface="Arial"/>
              <a:buChar char="•"/>
            </a:pPr>
            <a:r>
              <a:rPr b="0" i="0" lang="en-US" sz="46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Método científico: Pasos para buscar soluciones.</a:t>
            </a:r>
            <a:endParaRPr/>
          </a:p>
          <a:p>
            <a:pPr indent="-499096" lvl="1" marL="998195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623"/>
              <a:buFont typeface="Arial"/>
              <a:buChar char="•"/>
            </a:pPr>
            <a:r>
              <a:rPr b="0" i="0" lang="en-US" sz="462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Lógica matemática: Razonamiento exacto y formal.</a:t>
            </a:r>
            <a:endParaRPr/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2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2148413" y="1339903"/>
            <a:ext cx="13991174" cy="82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ESTRUCTURA DE LA LÓGICA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1552418" y="4033938"/>
            <a:ext cx="15183164" cy="3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2601" lvl="1" marL="745202" marR="0" rtl="0" algn="l">
              <a:lnSpc>
                <a:spcPct val="16605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50"/>
              <a:buFont typeface="Arial"/>
              <a:buChar char="•"/>
            </a:pPr>
            <a:r>
              <a:rPr b="0" i="0" lang="en-US" sz="345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Guatemala. (s.f.). Unidad 1: La creatividad y bloqueos mentales [Material del curso Lógica de Sistemas, Facultad de Ingeniería].</a:t>
            </a:r>
            <a:endParaRPr/>
          </a:p>
          <a:p>
            <a:pPr indent="-372601" lvl="1" marL="745202" marR="0" rtl="0" algn="l">
              <a:lnSpc>
                <a:spcPct val="16605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50"/>
              <a:buFont typeface="Arial"/>
              <a:buChar char="•"/>
            </a:pPr>
            <a:r>
              <a:rPr b="0" i="0" lang="en-US" sz="345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Guatemala. (s.f.). Unidad 2: Lógica [Material del curso Lógica de Sistemas, Facultad de Ingeniería].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20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