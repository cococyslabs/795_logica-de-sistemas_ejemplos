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Arial Bold" panose="020B0604020202020204" charset="0"/>
      <p:regular r:id="rId29"/>
    </p:embeddedFont>
    <p:embeddedFont>
      <p:font typeface="Garet" panose="020B0604020202020204" charset="0"/>
      <p:regular r:id="rId30"/>
    </p:embeddedFont>
    <p:embeddedFont>
      <p:font typeface="Garet Bold" panose="020B0604020202020204" charset="0"/>
      <p:regular r:id="rId31"/>
    </p:embeddedFont>
    <p:embeddedFont>
      <p:font typeface="Glacial Indifference" panose="020B0604020202020204" charset="0"/>
      <p:regular r:id="rId32"/>
    </p:embeddedFont>
    <p:embeddedFont>
      <p:font typeface="Horizon" panose="020B0604020202020204" charset="0"/>
      <p:regular r:id="rId33"/>
    </p:embeddedFont>
    <p:embeddedFont>
      <p:font typeface="Open Sans" panose="020B0606030504020204" pitchFamily="34" charset="0"/>
      <p:regular r:id="rId34"/>
    </p:embeddedFont>
    <p:embeddedFont>
      <p:font typeface="Open Sans Bold" panose="020B0604020202020204" charset="0"/>
      <p:regular r:id="rId35"/>
    </p:embeddedFont>
    <p:embeddedFont>
      <p:font typeface="Playlist Script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09860"/>
          </a:xfrm>
          <a:custGeom>
            <a:avLst/>
            <a:gdLst/>
            <a:ahLst/>
            <a:cxnLst/>
            <a:rect l="l" t="t" r="r" b="b"/>
            <a:pathLst>
              <a:path w="18288000" h="1030986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459661" y="2087779"/>
          <a:ext cx="9268438" cy="2162175"/>
        </p:xfrm>
        <a:graphic>
          <a:graphicData uri="http://schemas.openxmlformats.org/drawingml/2006/table">
            <a:tbl>
              <a:tblPr/>
              <a:tblGrid>
                <a:gridCol w="435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4719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456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198672" y="5749011"/>
            <a:ext cx="8989218" cy="903931"/>
            <a:chOff x="0" y="0"/>
            <a:chExt cx="2367531" cy="238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67530" cy="238072"/>
            </a:xfrm>
            <a:custGeom>
              <a:avLst/>
              <a:gdLst/>
              <a:ahLst/>
              <a:cxnLst/>
              <a:rect l="l" t="t" r="r" b="b"/>
              <a:pathLst>
                <a:path w="2367530" h="238072">
                  <a:moveTo>
                    <a:pt x="0" y="0"/>
                  </a:moveTo>
                  <a:lnTo>
                    <a:pt x="2367530" y="0"/>
                  </a:lnTo>
                  <a:lnTo>
                    <a:pt x="2367530" y="238072"/>
                  </a:lnTo>
                  <a:lnTo>
                    <a:pt x="0" y="238072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2367531" cy="314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Lógica de Sistemas Sección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77804" y="7160164"/>
            <a:ext cx="7166196" cy="894134"/>
            <a:chOff x="0" y="0"/>
            <a:chExt cx="1887393" cy="235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7393" cy="235492"/>
            </a:xfrm>
            <a:custGeom>
              <a:avLst/>
              <a:gdLst/>
              <a:ahLst/>
              <a:cxnLst/>
              <a:rect l="l" t="t" r="r" b="b"/>
              <a:pathLst>
                <a:path w="1887393" h="235492">
                  <a:moveTo>
                    <a:pt x="0" y="0"/>
                  </a:moveTo>
                  <a:lnTo>
                    <a:pt x="1887393" y="0"/>
                  </a:lnTo>
                  <a:lnTo>
                    <a:pt x="1887393" y="235492"/>
                  </a:lnTo>
                  <a:lnTo>
                    <a:pt x="0" y="235492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87393" cy="292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NOMBRE DEL TUTOR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945148" y="7834026"/>
            <a:ext cx="7436852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</a:t>
            </a:r>
            <a:r>
              <a:rPr lang="en-US" sz="5000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Sistemas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1593" y="3355266"/>
            <a:ext cx="1512653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Unidad 3: Lógica del Concepto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Ingenieria de </a:t>
            </a:r>
            <a:r>
              <a:rPr lang="en-US" sz="2499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Ciencias</a:t>
            </a: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Sistemas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210675"/>
            <a:ext cx="5600700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</a:t>
            </a: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Ingenieria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585325"/>
            <a:ext cx="7124700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619" y="4699462"/>
            <a:ext cx="4613551" cy="666407"/>
            <a:chOff x="0" y="0"/>
            <a:chExt cx="1964221" cy="283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Actividad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6" name="Group 6"/>
          <p:cNvGrpSpPr/>
          <p:nvPr/>
        </p:nvGrpSpPr>
        <p:grpSpPr>
          <a:xfrm>
            <a:off x="1866989" y="3303305"/>
            <a:ext cx="4115190" cy="1267162"/>
            <a:chOff x="0" y="0"/>
            <a:chExt cx="1083836" cy="3337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RECORDATORIOS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0" name="Group 10"/>
          <p:cNvGrpSpPr/>
          <p:nvPr/>
        </p:nvGrpSpPr>
        <p:grpSpPr>
          <a:xfrm>
            <a:off x="651754" y="-249180"/>
            <a:ext cx="6140237" cy="2980843"/>
            <a:chOff x="0" y="0"/>
            <a:chExt cx="8186982" cy="397445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Agenda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3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131715" y="154716"/>
            <a:ext cx="8416862" cy="2844707"/>
            <a:chOff x="0" y="0"/>
            <a:chExt cx="11222483" cy="379294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Recursos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531875" y="4126813"/>
            <a:ext cx="5353646" cy="1267162"/>
            <a:chOff x="0" y="0"/>
            <a:chExt cx="1410014" cy="3337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95714" cy="38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60"/>
                </a:lnSpc>
              </a:pPr>
              <a:r>
                <a:rPr lang="en-US" sz="2000" b="1" spc="5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Link del Video:</a:t>
              </a:r>
            </a:p>
            <a:p>
              <a:pPr algn="ctr">
                <a:lnSpc>
                  <a:spcPts val="2960"/>
                </a:lnSpc>
              </a:pPr>
              <a:r>
                <a:rPr lang="en-US" sz="2000" spc="5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https://youtu.be/_NtkqXFMhJw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COMPETENCIA(S) QUE DESARROLLAREMOS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91966" y="4432648"/>
            <a:ext cx="13448312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 la construcción de árboles lógicos y tríadas conceptuales para representar gráficamente las estructuras de pensamiento trabajadas en el curso.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4889" y="3027816"/>
            <a:ext cx="12625499" cy="678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Concepto y realidad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Objeto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Objetos Como dispositivos de reconocimiento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Ciclo de vida de un Objeto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Triadas del concepto 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Triadas parciales</a:t>
            </a:r>
          </a:p>
          <a:p>
            <a:pPr algn="l">
              <a:lnSpc>
                <a:spcPts val="6793"/>
              </a:lnSpc>
            </a:pPr>
            <a:endParaRPr lang="en-US" sz="3926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CONTENIDO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34755"/>
            <a:ext cx="6771863" cy="5417490"/>
          </a:xfrm>
          <a:custGeom>
            <a:avLst/>
            <a:gdLst/>
            <a:ahLst/>
            <a:cxnLst/>
            <a:rect l="l" t="t" r="r" b="b"/>
            <a:pathLst>
              <a:path w="6771863" h="5417490">
                <a:moveTo>
                  <a:pt x="0" y="0"/>
                </a:moveTo>
                <a:lnTo>
                  <a:pt x="6771863" y="0"/>
                </a:lnTo>
                <a:lnTo>
                  <a:pt x="6771863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3991174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CONCEPTO Y REALIDAD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56683" y="1955258"/>
            <a:ext cx="7632005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concepto es una idea o representación mental que nos permite identificar, clasificar y comprender objetos, hechos o experiencias. La realidad es aquello que existe independientemente de nuestra percepción. Los conceptos surgen de la experiencia con la realidad y nos ayudan a interpretarla y organizar nuestro conocimiento del mundo.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ejemplo: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El concepto de “árbol” nos permite reconocer distintos tipos de árboles en la realidad, aunque cada uno sea diferente.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2919265"/>
            <a:ext cx="7908390" cy="4448470"/>
          </a:xfrm>
          <a:custGeom>
            <a:avLst/>
            <a:gdLst/>
            <a:ahLst/>
            <a:cxnLst/>
            <a:rect l="l" t="t" r="r" b="b"/>
            <a:pathLst>
              <a:path w="7908390" h="4448470">
                <a:moveTo>
                  <a:pt x="0" y="0"/>
                </a:moveTo>
                <a:lnTo>
                  <a:pt x="7908390" y="0"/>
                </a:lnTo>
                <a:lnTo>
                  <a:pt x="7908390" y="4448470"/>
                </a:lnTo>
                <a:lnTo>
                  <a:pt x="0" y="444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¿QUE ES UN OBJETO?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1713" y="2495368"/>
            <a:ext cx="8028233" cy="554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objeto es cualquier cosa concreta o abstracta a la que se puede aplicar un concepto. Es una instancia particular que podemos percibir, describir o analizar gracias a los conceptos que poseemos.</a:t>
            </a:r>
          </a:p>
          <a:p>
            <a:pPr algn="just">
              <a:lnSpc>
                <a:spcPts val="4900"/>
              </a:lnSpc>
            </a:pPr>
            <a:r>
              <a:rPr lang="en-US" sz="35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 celular específico que usas todos los días es un objeto del concepto general “teléfono móvil”.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35117" y="4318419"/>
            <a:ext cx="8404128" cy="5594159"/>
          </a:xfrm>
          <a:custGeom>
            <a:avLst/>
            <a:gdLst/>
            <a:ahLst/>
            <a:cxnLst/>
            <a:rect l="l" t="t" r="r" b="b"/>
            <a:pathLst>
              <a:path w="8404128" h="5594159">
                <a:moveTo>
                  <a:pt x="0" y="0"/>
                </a:moveTo>
                <a:lnTo>
                  <a:pt x="8404127" y="0"/>
                </a:lnTo>
                <a:lnTo>
                  <a:pt x="8404127" y="5594159"/>
                </a:lnTo>
                <a:lnTo>
                  <a:pt x="0" y="5594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80718" y="1984794"/>
            <a:ext cx="16126564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objetos funcionan como medios a través de los cuales aplicamos y activamos conceptos. Al percibir un objeto, lo reconocemos gracias al concepto asociado, ya sea concreto, intangible o relacional. Es decir, los objetos permiten que nuestros conceptos cobren sentido en la experiencia.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OBJETOS COMO DISPOSITIVOS DE RECONOCIMIENTO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2333" y="834551"/>
            <a:ext cx="16406967" cy="1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TIPOS DE CONCEPTOS</a:t>
            </a:r>
          </a:p>
          <a:p>
            <a:pPr algn="ctr">
              <a:lnSpc>
                <a:spcPts val="7797"/>
              </a:lnSpc>
            </a:pPr>
            <a:endParaRPr lang="en-US" sz="4500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34014" y="3183276"/>
            <a:ext cx="14900226" cy="385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Concretos: Lápiz, auto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Intangibles: Tiempo, calidad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Por relación: Matrimonio, propiedad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Eventos: Venta, cumpleaños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Papeles: Director, paciente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Juicios: Buen ejemplo, salario alto</a:t>
            </a:r>
          </a:p>
          <a:p>
            <a:pPr algn="l">
              <a:lnSpc>
                <a:spcPts val="4412"/>
              </a:lnSpc>
            </a:pPr>
            <a:endParaRPr lang="en-US" sz="3151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243" y="2416621"/>
            <a:ext cx="8656757" cy="5453757"/>
          </a:xfrm>
          <a:custGeom>
            <a:avLst/>
            <a:gdLst/>
            <a:ahLst/>
            <a:cxnLst/>
            <a:rect l="l" t="t" r="r" b="b"/>
            <a:pathLst>
              <a:path w="8656757" h="5453757">
                <a:moveTo>
                  <a:pt x="0" y="0"/>
                </a:moveTo>
                <a:lnTo>
                  <a:pt x="8656757" y="0"/>
                </a:lnTo>
                <a:lnTo>
                  <a:pt x="8656757" y="5453758"/>
                </a:lnTo>
                <a:lnTo>
                  <a:pt x="0" y="545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3991174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27295" y="3708400"/>
            <a:ext cx="7632005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ver un pastel con velas, personas reunidas y música, identificamos el concepto de “cumpleaños”.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4704" y="1291349"/>
            <a:ext cx="10840323" cy="5813164"/>
          </a:xfrm>
          <a:custGeom>
            <a:avLst/>
            <a:gdLst/>
            <a:ahLst/>
            <a:cxnLst/>
            <a:rect l="l" t="t" r="r" b="b"/>
            <a:pathLst>
              <a:path w="10840323" h="5813164">
                <a:moveTo>
                  <a:pt x="0" y="0"/>
                </a:moveTo>
                <a:lnTo>
                  <a:pt x="10840323" y="0"/>
                </a:lnTo>
                <a:lnTo>
                  <a:pt x="10840323" y="5813164"/>
                </a:lnTo>
                <a:lnTo>
                  <a:pt x="0" y="5813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9800621" y="7313257"/>
            <a:ext cx="7862708" cy="150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CICLO DE VIDA DE UN OBJETO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PASOS DEL CICLO DE VIDA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1214" y="1567567"/>
            <a:ext cx="16126564" cy="744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Nacimiento del concepto: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Se forma una idea inicial a partir de una experiencia o interacción con el entorno.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del objeto: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identifica un objeto físico que representa la idea que se formó.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Madurar el concepto: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idea inicial se enriquece o se transforma por nuevas experiencias o usos.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Cambio en el objeto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: El objeto se transforma, ya sea en su forma, función o contexto.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Cambio en el concepto: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La idea que teníamos sobre el objeto también cambia, lo vemos desde otra perspectiva.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97262" y="2615317"/>
            <a:ext cx="9093475" cy="7155576"/>
          </a:xfrm>
          <a:custGeom>
            <a:avLst/>
            <a:gdLst/>
            <a:ahLst/>
            <a:cxnLst/>
            <a:rect l="l" t="t" r="r" b="b"/>
            <a:pathLst>
              <a:path w="9093475" h="7155576">
                <a:moveTo>
                  <a:pt x="0" y="0"/>
                </a:moveTo>
                <a:lnTo>
                  <a:pt x="9093476" y="0"/>
                </a:lnTo>
                <a:lnTo>
                  <a:pt x="9093476" y="7155576"/>
                </a:lnTo>
                <a:lnTo>
                  <a:pt x="0" y="7155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22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214" y="1567567"/>
            <a:ext cx="1612656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 continuación se presenta un ejemplo del ciclo de vida del concepto zapato: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RELACIONES DE UN OBJETO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8901" y="1927290"/>
            <a:ext cx="16126564" cy="699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Relación Jerárquica: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objeto tiene mayor autoridad o nivel que otro dentro de una estructura.</a:t>
            </a: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maestro tiene autoridad sobre un alumno en el aula.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Relación de Contención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objeto está dentro de otro o forma parte de un conjunto más grande.</a:t>
            </a: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Una pelota está dentro de una caja de juguetes.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Relación de Colección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Varios objetos similares se agrupan por compartir características o funciones.</a:t>
            </a: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conjunto de pelotas usadas en diferentes deportes: fútbol, baloncesto, voleibol.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TRIADAS DEL CONCEPTO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96015" y="1632672"/>
            <a:ext cx="15863285" cy="851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 el conjunto de tres elementos mentales que usamos para comprender y reconocer un concepto: el nombre del concepto, sus características principales (intensidad) y los ejemplos que lo representan (extensión).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elementos que componen las triadas del concepto son: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Símbolo: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Es la palabra o etiqueta con la que identificamos mentalmente una idea.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Intensidad: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las características esenciales que definen al concepto.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Extensión: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los ejemplos concretos que representan ese concepto.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71410" y="2620099"/>
            <a:ext cx="13112495" cy="6638201"/>
          </a:xfrm>
          <a:custGeom>
            <a:avLst/>
            <a:gdLst/>
            <a:ahLst/>
            <a:cxnLst/>
            <a:rect l="l" t="t" r="r" b="b"/>
            <a:pathLst>
              <a:path w="13112495" h="6638201">
                <a:moveTo>
                  <a:pt x="0" y="0"/>
                </a:moveTo>
                <a:lnTo>
                  <a:pt x="13112495" y="0"/>
                </a:lnTo>
                <a:lnTo>
                  <a:pt x="13112495" y="6638201"/>
                </a:lnTo>
                <a:lnTo>
                  <a:pt x="0" y="663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6015" y="1632672"/>
            <a:ext cx="15863285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Triada del concepto “Cepillo”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TRIADAS PARCIALES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43589" y="1538445"/>
            <a:ext cx="15863285" cy="744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alguna circunstancia, vemos triadas parciales, es decir triadas a las que les falta uno de los elementos que mencionamos con anterioridad, estos casos especiales son: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Conceptos sin nombre: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 concepto puede existir en nuestra mente sin tener un nombre específico. Sin embargo, al nombrarlo con un símbolo o palabra, podemos comunicarlo de forma más rápida y efectiva.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Conceptos sin objeto: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conceptos que existen en nuestra mente, pero que no tienen un objeto real o presente asociado. Sirven para anticipar, imaginar o prevenir situaciones, aunque no exista un ejemplo concreto.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Conceptos sin definición: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conceptos a los que se les asignan objetos o casos, pero no tienen una definición clara que explique qué los caracteriza o por qué pertenecen a ese concepto.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2591" y="2400241"/>
            <a:ext cx="15956709" cy="5884036"/>
          </a:xfrm>
          <a:custGeom>
            <a:avLst/>
            <a:gdLst/>
            <a:ahLst/>
            <a:cxnLst/>
            <a:rect l="l" t="t" r="r" b="b"/>
            <a:pathLst>
              <a:path w="15956709" h="5884036">
                <a:moveTo>
                  <a:pt x="0" y="0"/>
                </a:moveTo>
                <a:lnTo>
                  <a:pt x="15956709" y="0"/>
                </a:lnTo>
                <a:lnTo>
                  <a:pt x="15956709" y="5884036"/>
                </a:lnTo>
                <a:lnTo>
                  <a:pt x="0" y="58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 DE TRIADA DE CONCEPTOS SIN NOMBRE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3056" y="2195630"/>
            <a:ext cx="15210055" cy="7300826"/>
          </a:xfrm>
          <a:custGeom>
            <a:avLst/>
            <a:gdLst/>
            <a:ahLst/>
            <a:cxnLst/>
            <a:rect l="l" t="t" r="r" b="b"/>
            <a:pathLst>
              <a:path w="15210055" h="7300826">
                <a:moveTo>
                  <a:pt x="0" y="0"/>
                </a:moveTo>
                <a:lnTo>
                  <a:pt x="15210055" y="0"/>
                </a:lnTo>
                <a:lnTo>
                  <a:pt x="15210055" y="7300826"/>
                </a:lnTo>
                <a:lnTo>
                  <a:pt x="0" y="7300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 DE TRIADA DE CONCEPTOS SIN OBJETO: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11169" y="2047597"/>
            <a:ext cx="13003996" cy="7846080"/>
          </a:xfrm>
          <a:custGeom>
            <a:avLst/>
            <a:gdLst/>
            <a:ahLst/>
            <a:cxnLst/>
            <a:rect l="l" t="t" r="r" b="b"/>
            <a:pathLst>
              <a:path w="13003996" h="7846080">
                <a:moveTo>
                  <a:pt x="0" y="0"/>
                </a:moveTo>
                <a:lnTo>
                  <a:pt x="13003996" y="0"/>
                </a:lnTo>
                <a:lnTo>
                  <a:pt x="13003996" y="7846080"/>
                </a:lnTo>
                <a:lnTo>
                  <a:pt x="0" y="784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 DE TRIADA DE CONCEPTOS SIN DEFINICIÓN: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SINÓNIMOS Y HOMÓNIMOS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0032" y="2259179"/>
            <a:ext cx="15863285" cy="485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Conceptos Sinónimos:</a:t>
            </a: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 Los conceptos sinónimos son aquellos que, aunque tienen diferentes símbolos, se refieren a la misma idea o conjunto de objetos.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Conceptos Homónimos: </a:t>
            </a: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conceptos que comparten el mismo símbolo, pero se refieren a ideas u objetos completamente diferentes según el contexto, tienen diferente intensidad y extensión.</a:t>
            </a:r>
          </a:p>
          <a:p>
            <a:pPr algn="just">
              <a:lnSpc>
                <a:spcPts val="4200"/>
              </a:lnSpc>
            </a:pPr>
            <a:endParaRPr lang="en-US"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8894" y="2481580"/>
            <a:ext cx="16410212" cy="5476908"/>
          </a:xfrm>
          <a:custGeom>
            <a:avLst/>
            <a:gdLst/>
            <a:ahLst/>
            <a:cxnLst/>
            <a:rect l="l" t="t" r="r" b="b"/>
            <a:pathLst>
              <a:path w="16410212" h="5476908">
                <a:moveTo>
                  <a:pt x="0" y="0"/>
                </a:moveTo>
                <a:lnTo>
                  <a:pt x="16410212" y="0"/>
                </a:lnTo>
                <a:lnTo>
                  <a:pt x="16410212" y="5476908"/>
                </a:lnTo>
                <a:lnTo>
                  <a:pt x="0" y="54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TRIADA DE SINÓNIMOS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32" y="1260793"/>
            <a:ext cx="15863285" cy="23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Dibuje la pareja de tríadas que correspondan a sinónimos del concepto "anciano".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2340441" y="8199975"/>
            <a:ext cx="1827415" cy="182741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8B97"/>
            </a:solid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2628950" y="8802615"/>
            <a:ext cx="1250396" cy="909550"/>
          </a:xfrm>
          <a:custGeom>
            <a:avLst/>
            <a:gdLst/>
            <a:ahLst/>
            <a:cxnLst/>
            <a:rect l="l" t="t" r="r" b="b"/>
            <a:pathLst>
              <a:path w="1250396" h="909550">
                <a:moveTo>
                  <a:pt x="0" y="0"/>
                </a:moveTo>
                <a:lnTo>
                  <a:pt x="1250396" y="0"/>
                </a:lnTo>
                <a:lnTo>
                  <a:pt x="1250396" y="909550"/>
                </a:lnTo>
                <a:lnTo>
                  <a:pt x="0" y="9095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8" name="Group 8"/>
          <p:cNvGrpSpPr/>
          <p:nvPr/>
        </p:nvGrpSpPr>
        <p:grpSpPr>
          <a:xfrm>
            <a:off x="4167856" y="8506884"/>
            <a:ext cx="3817938" cy="1205281"/>
            <a:chOff x="0" y="0"/>
            <a:chExt cx="1005548" cy="31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548" cy="317440"/>
            </a:xfrm>
            <a:custGeom>
              <a:avLst/>
              <a:gdLst/>
              <a:ahLst/>
              <a:cxnLst/>
              <a:rect l="l" t="t" r="r" b="b"/>
              <a:pathLst>
                <a:path w="1005548" h="317440">
                  <a:moveTo>
                    <a:pt x="158720" y="0"/>
                  </a:moveTo>
                  <a:lnTo>
                    <a:pt x="846827" y="0"/>
                  </a:lnTo>
                  <a:cubicBezTo>
                    <a:pt x="888923" y="0"/>
                    <a:pt x="929294" y="16722"/>
                    <a:pt x="959059" y="46488"/>
                  </a:cubicBezTo>
                  <a:cubicBezTo>
                    <a:pt x="988825" y="76254"/>
                    <a:pt x="1005548" y="116625"/>
                    <a:pt x="1005548" y="158720"/>
                  </a:cubicBezTo>
                  <a:lnTo>
                    <a:pt x="1005548" y="158720"/>
                  </a:lnTo>
                  <a:cubicBezTo>
                    <a:pt x="1005548" y="200815"/>
                    <a:pt x="988825" y="241186"/>
                    <a:pt x="959059" y="270952"/>
                  </a:cubicBezTo>
                  <a:cubicBezTo>
                    <a:pt x="929294" y="300718"/>
                    <a:pt x="888923" y="317440"/>
                    <a:pt x="846827" y="317440"/>
                  </a:cubicBezTo>
                  <a:lnTo>
                    <a:pt x="158720" y="317440"/>
                  </a:lnTo>
                  <a:cubicBezTo>
                    <a:pt x="116625" y="317440"/>
                    <a:pt x="76254" y="300718"/>
                    <a:pt x="46488" y="270952"/>
                  </a:cubicBezTo>
                  <a:cubicBezTo>
                    <a:pt x="16722" y="241186"/>
                    <a:pt x="0" y="200815"/>
                    <a:pt x="0" y="158720"/>
                  </a:cubicBezTo>
                  <a:lnTo>
                    <a:pt x="0" y="158720"/>
                  </a:lnTo>
                  <a:cubicBezTo>
                    <a:pt x="0" y="116625"/>
                    <a:pt x="16722" y="76254"/>
                    <a:pt x="46488" y="46488"/>
                  </a:cubicBezTo>
                  <a:cubicBezTo>
                    <a:pt x="76254" y="16722"/>
                    <a:pt x="116625" y="0"/>
                    <a:pt x="15872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05548" cy="34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96571" lvl="1" indent="-248285" algn="ctr">
                <a:lnSpc>
                  <a:spcPts val="2921"/>
                </a:lnSpc>
                <a:buFont typeface="Arial"/>
                <a:buChar char="•"/>
              </a:pPr>
              <a:r>
                <a:rPr lang="en-US" sz="230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Diferente símbolo</a:t>
              </a:r>
            </a:p>
            <a:p>
              <a:pPr marL="496571" lvl="1" indent="-248285" algn="ctr">
                <a:lnSpc>
                  <a:spcPts val="2921"/>
                </a:lnSpc>
                <a:buFont typeface="Arial"/>
                <a:buChar char="•"/>
              </a:pPr>
              <a:r>
                <a:rPr lang="en-US" sz="230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Misma Intensidad</a:t>
              </a:r>
            </a:p>
            <a:p>
              <a:pPr marL="496571" lvl="1" indent="-248285" algn="ctr">
                <a:lnSpc>
                  <a:spcPts val="2921"/>
                </a:lnSpc>
                <a:buFont typeface="Arial"/>
                <a:buChar char="•"/>
              </a:pPr>
              <a:r>
                <a:rPr lang="en-US" sz="230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Misma extensión 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0441" y="8199975"/>
            <a:ext cx="1827415" cy="182741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8B97"/>
            </a:solid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4" name="Freeform 4"/>
          <p:cNvSpPr/>
          <p:nvPr/>
        </p:nvSpPr>
        <p:spPr>
          <a:xfrm>
            <a:off x="2628950" y="8802615"/>
            <a:ext cx="1250396" cy="909550"/>
          </a:xfrm>
          <a:custGeom>
            <a:avLst/>
            <a:gdLst/>
            <a:ahLst/>
            <a:cxnLst/>
            <a:rect l="l" t="t" r="r" b="b"/>
            <a:pathLst>
              <a:path w="1250396" h="909550">
                <a:moveTo>
                  <a:pt x="0" y="0"/>
                </a:moveTo>
                <a:lnTo>
                  <a:pt x="1250396" y="0"/>
                </a:lnTo>
                <a:lnTo>
                  <a:pt x="1250396" y="909550"/>
                </a:lnTo>
                <a:lnTo>
                  <a:pt x="0" y="90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Freeform 5"/>
          <p:cNvSpPr/>
          <p:nvPr/>
        </p:nvSpPr>
        <p:spPr>
          <a:xfrm>
            <a:off x="634555" y="2670034"/>
            <a:ext cx="17018890" cy="5339677"/>
          </a:xfrm>
          <a:custGeom>
            <a:avLst/>
            <a:gdLst/>
            <a:ahLst/>
            <a:cxnLst/>
            <a:rect l="l" t="t" r="r" b="b"/>
            <a:pathLst>
              <a:path w="17018890" h="5339677">
                <a:moveTo>
                  <a:pt x="0" y="0"/>
                </a:moveTo>
                <a:lnTo>
                  <a:pt x="17018890" y="0"/>
                </a:lnTo>
                <a:lnTo>
                  <a:pt x="17018890" y="5339677"/>
                </a:lnTo>
                <a:lnTo>
                  <a:pt x="0" y="5339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6" name="TextBox 6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TRIADA DE homónimos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0032" y="1260793"/>
            <a:ext cx="15863285" cy="23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Dibuje la pareja de tríadas que correspondan a sinónimos del concepto "cañon".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00"/>
              </a:lnSpc>
            </a:pPr>
            <a:endParaRPr lang="en-US"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167856" y="8506884"/>
            <a:ext cx="3817938" cy="1205281"/>
            <a:chOff x="0" y="0"/>
            <a:chExt cx="1005548" cy="31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548" cy="317440"/>
            </a:xfrm>
            <a:custGeom>
              <a:avLst/>
              <a:gdLst/>
              <a:ahLst/>
              <a:cxnLst/>
              <a:rect l="l" t="t" r="r" b="b"/>
              <a:pathLst>
                <a:path w="1005548" h="317440">
                  <a:moveTo>
                    <a:pt x="158720" y="0"/>
                  </a:moveTo>
                  <a:lnTo>
                    <a:pt x="846827" y="0"/>
                  </a:lnTo>
                  <a:cubicBezTo>
                    <a:pt x="888923" y="0"/>
                    <a:pt x="929294" y="16722"/>
                    <a:pt x="959059" y="46488"/>
                  </a:cubicBezTo>
                  <a:cubicBezTo>
                    <a:pt x="988825" y="76254"/>
                    <a:pt x="1005548" y="116625"/>
                    <a:pt x="1005548" y="158720"/>
                  </a:cubicBezTo>
                  <a:lnTo>
                    <a:pt x="1005548" y="158720"/>
                  </a:lnTo>
                  <a:cubicBezTo>
                    <a:pt x="1005548" y="200815"/>
                    <a:pt x="988825" y="241186"/>
                    <a:pt x="959059" y="270952"/>
                  </a:cubicBezTo>
                  <a:cubicBezTo>
                    <a:pt x="929294" y="300718"/>
                    <a:pt x="888923" y="317440"/>
                    <a:pt x="846827" y="317440"/>
                  </a:cubicBezTo>
                  <a:lnTo>
                    <a:pt x="158720" y="317440"/>
                  </a:lnTo>
                  <a:cubicBezTo>
                    <a:pt x="116625" y="317440"/>
                    <a:pt x="76254" y="300718"/>
                    <a:pt x="46488" y="270952"/>
                  </a:cubicBezTo>
                  <a:cubicBezTo>
                    <a:pt x="16722" y="241186"/>
                    <a:pt x="0" y="200815"/>
                    <a:pt x="0" y="158720"/>
                  </a:cubicBezTo>
                  <a:lnTo>
                    <a:pt x="0" y="158720"/>
                  </a:lnTo>
                  <a:cubicBezTo>
                    <a:pt x="0" y="116625"/>
                    <a:pt x="16722" y="76254"/>
                    <a:pt x="46488" y="46488"/>
                  </a:cubicBezTo>
                  <a:cubicBezTo>
                    <a:pt x="76254" y="16722"/>
                    <a:pt x="116625" y="0"/>
                    <a:pt x="15872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05548" cy="34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96571" lvl="1" indent="-248285" algn="ctr">
                <a:lnSpc>
                  <a:spcPts val="2921"/>
                </a:lnSpc>
                <a:buFont typeface="Arial"/>
                <a:buChar char="•"/>
              </a:pPr>
              <a:r>
                <a:rPr lang="en-US" sz="230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Mismo símbolo</a:t>
              </a:r>
            </a:p>
            <a:p>
              <a:pPr marL="496571" lvl="1" indent="-248285" algn="ctr">
                <a:lnSpc>
                  <a:spcPts val="2921"/>
                </a:lnSpc>
                <a:buFont typeface="Arial"/>
                <a:buChar char="•"/>
              </a:pPr>
              <a:r>
                <a:rPr lang="en-US" sz="230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Diferente Intensidad</a:t>
              </a:r>
            </a:p>
            <a:p>
              <a:pPr marL="496571" lvl="1" indent="-248285" algn="ctr">
                <a:lnSpc>
                  <a:spcPts val="2921"/>
                </a:lnSpc>
                <a:buFont typeface="Arial"/>
                <a:buChar char="•"/>
              </a:pPr>
              <a:r>
                <a:rPr lang="en-US" sz="230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Diferente extensión 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2333" y="834551"/>
            <a:ext cx="16406967" cy="1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CONCEPTOS CLAVE APRENDIDOS </a:t>
            </a:r>
          </a:p>
          <a:p>
            <a:pPr algn="ctr">
              <a:lnSpc>
                <a:spcPts val="7797"/>
              </a:lnSpc>
            </a:pPr>
            <a:endParaRPr lang="en-US" sz="4500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05703" y="1963602"/>
            <a:ext cx="14900226" cy="746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Objeto: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cualquier cosa concreta o abstracta a la que se puede aplicar un concepto.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Triadas del concepto: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conjunto de tres elementos mentales que usamos para comprender y reconocer un concepto.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Símbolo: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Es la palabra o etiqueta con la que identificamos mentalmente una idea.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Intensidad: 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Son las características esenciales que definen al concepto.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Extensión: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Son los ejemplos concretos que representan ese concepto.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Pasos del ciclo de vida: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Nacimiento del concepto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Definición del objeto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Madurar el concepto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Cambio en el objeto</a:t>
            </a: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Cambio en el concepto</a:t>
            </a:r>
          </a:p>
          <a:p>
            <a:pPr algn="l">
              <a:lnSpc>
                <a:spcPts val="4412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33814" y="3753534"/>
            <a:ext cx="6737414" cy="4219306"/>
          </a:xfrm>
          <a:custGeom>
            <a:avLst/>
            <a:gdLst/>
            <a:ahLst/>
            <a:cxnLst/>
            <a:rect l="l" t="t" r="r" b="b"/>
            <a:pathLst>
              <a:path w="6737414" h="4219306">
                <a:moveTo>
                  <a:pt x="0" y="0"/>
                </a:moveTo>
                <a:lnTo>
                  <a:pt x="6737414" y="0"/>
                </a:lnTo>
                <a:lnTo>
                  <a:pt x="6737414" y="4219306"/>
                </a:lnTo>
                <a:lnTo>
                  <a:pt x="0" y="4219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2318447"/>
            <a:ext cx="8640435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Es la capacidad de organizar ideas y conceptos de manera jerárquica y coherente para facilitar el aprendizaje y la comunicación.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Aplicación en clase: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Ayuda a clarificar el pensamiento.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Facilita la comprensión y el análisis.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Mejora la presentación de ideas.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ORDEN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REFERENCIAS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36037"/>
            <a:ext cx="16454242" cy="48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555" lvl="1" indent="-332778" algn="just">
              <a:lnSpc>
                <a:spcPts val="4315"/>
              </a:lnSpc>
              <a:buFont typeface="Arial"/>
              <a:buChar char="•"/>
            </a:pPr>
            <a:r>
              <a:rPr lang="en-US" sz="3082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López, J. (s.f.). Lógica del concepto. EmailMeForm.https://files.emailmeform.com/1928589/P4qJvi1L/ACFrOgBZ65aG69rmUesY2VjZrHIqnbxSdtAtptOmt31CphUCicJJw-hnr72u4juhx9yzcO17vA9B80wYIC9IcvfT5iLfWskum9WMWpE-OFkOCX16P6-lz7ZlsOkpf8I%3D.pdf</a:t>
            </a:r>
          </a:p>
          <a:p>
            <a:pPr algn="just">
              <a:lnSpc>
                <a:spcPts val="4315"/>
              </a:lnSpc>
            </a:pPr>
            <a:endParaRPr lang="en-US" sz="3082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65555" lvl="1" indent="-332778" algn="just">
              <a:lnSpc>
                <a:spcPts val="4315"/>
              </a:lnSpc>
              <a:buFont typeface="Arial"/>
              <a:buChar char="•"/>
            </a:pPr>
            <a:r>
              <a:rPr lang="en-US" sz="3082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Universidad de San Carlos de Guatemala. (s.f.). Unidad 3: Lógica del Concepto [Material del curso Lógica de Sistemas, Facultad de Ingeniería]. Plataforma UEDI.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B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  <a:endParaRPr lang="en-US" sz="6099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spc="116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DUDAS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spc="464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Microsoft Office PowerPoint</Application>
  <PresentationFormat>Personalizado</PresentationFormat>
  <Paragraphs>138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8" baseType="lpstr">
      <vt:lpstr>Calibri</vt:lpstr>
      <vt:lpstr>Arial</vt:lpstr>
      <vt:lpstr>Garet</vt:lpstr>
      <vt:lpstr>Horizon</vt:lpstr>
      <vt:lpstr>Open Sans Bold</vt:lpstr>
      <vt:lpstr>Glacial Indifference</vt:lpstr>
      <vt:lpstr>Playlist Script</vt:lpstr>
      <vt:lpstr>Open Sans</vt:lpstr>
      <vt:lpstr>Arial Bold</vt:lpstr>
      <vt:lpstr>Garet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3: Lógica del Concepto 1S2026</dc:title>
  <cp:lastModifiedBy>Gerson Ruiz</cp:lastModifiedBy>
  <cp:revision>2</cp:revision>
  <dcterms:created xsi:type="dcterms:W3CDTF">2006-08-16T00:00:00Z</dcterms:created>
  <dcterms:modified xsi:type="dcterms:W3CDTF">2025-11-05T03:20:39Z</dcterms:modified>
  <dc:identifier>DAG22uV4hmk</dc:identifier>
</cp:coreProperties>
</file>