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Arial Bold" charset="1" panose="020B0704020202020204"/>
      <p:regular r:id="rId29"/>
    </p:embeddedFont>
    <p:embeddedFont>
      <p:font typeface="Garet Bold" charset="1" panose="00000000000000000000"/>
      <p:regular r:id="rId30"/>
    </p:embeddedFont>
    <p:embeddedFont>
      <p:font typeface="Open Sans Bold" charset="1" panose="020B0806030504020204"/>
      <p:regular r:id="rId31"/>
    </p:embeddedFont>
    <p:embeddedFont>
      <p:font typeface="Open Sans" charset="1" panose="020B0606030504020204"/>
      <p:regular r:id="rId32"/>
    </p:embeddedFont>
    <p:embeddedFont>
      <p:font typeface="Garet" charset="1" panose="00000000000000000000"/>
      <p:regular r:id="rId33"/>
    </p:embeddedFont>
    <p:embeddedFont>
      <p:font typeface="Playlist Script" charset="1" panose="00000000000000000000"/>
      <p:regular r:id="rId34"/>
    </p:embeddedFont>
    <p:embeddedFont>
      <p:font typeface="Arimo" charset="1" panose="020B0604020202020204"/>
      <p:regular r:id="rId35"/>
    </p:embeddedFont>
    <p:embeddedFont>
      <p:font typeface="Horizon" charset="1" panose="020005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https://create.kahoot.it/details/3c1131ac-9caf-45fa-b6c7-bb04e1c780e9" TargetMode="External" Type="http://schemas.openxmlformats.org/officeDocument/2006/relationships/hyperlink"/><Relationship Id="rId7" Target="https://youtu.be/VgPwkOUWoNo"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309860"/>
          </a:xfrm>
          <a:custGeom>
            <a:avLst/>
            <a:gdLst/>
            <a:ahLst/>
            <a:cxnLst/>
            <a:rect r="r" b="b" t="t" l="l"/>
            <a:pathLst>
              <a:path h="10309860" w="18288000">
                <a:moveTo>
                  <a:pt x="0" y="0"/>
                </a:moveTo>
                <a:lnTo>
                  <a:pt x="18288000" y="0"/>
                </a:lnTo>
                <a:lnTo>
                  <a:pt x="18288000" y="10309860"/>
                </a:lnTo>
                <a:lnTo>
                  <a:pt x="0" y="10309860"/>
                </a:lnTo>
                <a:lnTo>
                  <a:pt x="0" y="0"/>
                </a:lnTo>
                <a:close/>
              </a:path>
            </a:pathLst>
          </a:custGeom>
          <a:blipFill>
            <a:blip r:embed="rId2"/>
            <a:stretch>
              <a:fillRect l="0" t="0" r="0" b="0"/>
            </a:stretch>
          </a:blipFill>
          <a:ln cap="sq">
            <a:noFill/>
            <a:prstDash val="solid"/>
            <a:miter/>
          </a:ln>
        </p:spPr>
      </p:sp>
      <p:graphicFrame>
        <p:nvGraphicFramePr>
          <p:cNvPr name="Table 3" id="3"/>
          <p:cNvGraphicFramePr>
            <a:graphicFrameLocks noGrp="true"/>
          </p:cNvGraphicFramePr>
          <p:nvPr/>
        </p:nvGraphicFramePr>
        <p:xfrm>
          <a:off x="8459661" y="2087779"/>
          <a:ext cx="9268437" cy="2162175"/>
        </p:xfrm>
        <a:graphic>
          <a:graphicData uri="http://schemas.openxmlformats.org/drawingml/2006/table">
            <a:tbl>
              <a:tblPr/>
              <a:tblGrid>
                <a:gridCol w="4350920"/>
                <a:gridCol w="4917518"/>
              </a:tblGrid>
              <a:tr h="1124719">
                <a:tc>
                  <a:txBody>
                    <a:bodyPr anchor="t" rtlCol="false"/>
                    <a:lstStyle/>
                    <a:p>
                      <a:pPr algn="ctr">
                        <a:lnSpc>
                          <a:spcPts val="4619"/>
                        </a:lnSpc>
                        <a:defRPr/>
                      </a:pPr>
                      <a:r>
                        <a:rPr lang="en-US" sz="3299" b="true">
                          <a:solidFill>
                            <a:srgbClr val="000000"/>
                          </a:solidFill>
                          <a:latin typeface="Arial Bold"/>
                          <a:ea typeface="Arial Bold"/>
                          <a:cs typeface="Arial Bold"/>
                          <a:sym typeface="Arial Bold"/>
                        </a:rPr>
                        <a:t>Dia, Fecha: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037456">
                <a:tc>
                  <a:txBody>
                    <a:bodyPr anchor="t" rtlCol="false"/>
                    <a:lstStyle/>
                    <a:p>
                      <a:pPr algn="ctr">
                        <a:lnSpc>
                          <a:spcPts val="3919"/>
                        </a:lnSpc>
                        <a:defRPr/>
                      </a:pPr>
                      <a:r>
                        <a:rPr lang="en-US" sz="2799" b="true">
                          <a:solidFill>
                            <a:srgbClr val="000000"/>
                          </a:solidFill>
                          <a:latin typeface="Garet Bold"/>
                          <a:ea typeface="Garet Bold"/>
                          <a:cs typeface="Garet Bold"/>
                          <a:sym typeface="Garet Bold"/>
                        </a:rPr>
                        <a:t>Hora de inicio: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grpSp>
        <p:nvGrpSpPr>
          <p:cNvPr name="Group 4" id="4"/>
          <p:cNvGrpSpPr/>
          <p:nvPr/>
        </p:nvGrpSpPr>
        <p:grpSpPr>
          <a:xfrm rot="0">
            <a:off x="1198672" y="5749011"/>
            <a:ext cx="8989218" cy="903865"/>
            <a:chOff x="0" y="0"/>
            <a:chExt cx="2367531" cy="238055"/>
          </a:xfrm>
        </p:grpSpPr>
        <p:sp>
          <p:nvSpPr>
            <p:cNvPr name="Freeform 5" id="5"/>
            <p:cNvSpPr/>
            <p:nvPr/>
          </p:nvSpPr>
          <p:spPr>
            <a:xfrm flipH="false" flipV="false" rot="0">
              <a:off x="0" y="0"/>
              <a:ext cx="2367530" cy="238055"/>
            </a:xfrm>
            <a:custGeom>
              <a:avLst/>
              <a:gdLst/>
              <a:ahLst/>
              <a:cxnLst/>
              <a:rect r="r" b="b" t="t" l="l"/>
              <a:pathLst>
                <a:path h="238055" w="2367530">
                  <a:moveTo>
                    <a:pt x="0" y="0"/>
                  </a:moveTo>
                  <a:lnTo>
                    <a:pt x="2367530" y="0"/>
                  </a:lnTo>
                  <a:lnTo>
                    <a:pt x="2367530" y="238055"/>
                  </a:lnTo>
                  <a:lnTo>
                    <a:pt x="0" y="238055"/>
                  </a:lnTo>
                  <a:close/>
                </a:path>
              </a:pathLst>
            </a:custGeom>
            <a:solidFill>
              <a:srgbClr val="FFF3C2"/>
            </a:solidFill>
          </p:spPr>
        </p:sp>
        <p:sp>
          <p:nvSpPr>
            <p:cNvPr name="TextBox 6" id="6"/>
            <p:cNvSpPr txBox="true"/>
            <p:nvPr/>
          </p:nvSpPr>
          <p:spPr>
            <a:xfrm>
              <a:off x="0" y="-76200"/>
              <a:ext cx="2367531" cy="314255"/>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ns Bold"/>
                  <a:ea typeface="Open Sans Bold"/>
                  <a:cs typeface="Open Sans Bold"/>
                  <a:sym typeface="Open Sans Bold"/>
                </a:rPr>
                <a:t>Lógica de Sistemas Sección </a:t>
              </a:r>
            </a:p>
          </p:txBody>
        </p:sp>
      </p:grpSp>
      <p:grpSp>
        <p:nvGrpSpPr>
          <p:cNvPr name="Group 7" id="7"/>
          <p:cNvGrpSpPr/>
          <p:nvPr/>
        </p:nvGrpSpPr>
        <p:grpSpPr>
          <a:xfrm rot="0">
            <a:off x="1977804" y="7160164"/>
            <a:ext cx="7166196" cy="894134"/>
            <a:chOff x="0" y="0"/>
            <a:chExt cx="1887393" cy="235492"/>
          </a:xfrm>
        </p:grpSpPr>
        <p:sp>
          <p:nvSpPr>
            <p:cNvPr name="Freeform 8" id="8"/>
            <p:cNvSpPr/>
            <p:nvPr/>
          </p:nvSpPr>
          <p:spPr>
            <a:xfrm flipH="false" flipV="false" rot="0">
              <a:off x="0" y="0"/>
              <a:ext cx="1887393" cy="235492"/>
            </a:xfrm>
            <a:custGeom>
              <a:avLst/>
              <a:gdLst/>
              <a:ahLst/>
              <a:cxnLst/>
              <a:rect r="r" b="b" t="t" l="l"/>
              <a:pathLst>
                <a:path h="235492" w="1887393">
                  <a:moveTo>
                    <a:pt x="0" y="0"/>
                  </a:moveTo>
                  <a:lnTo>
                    <a:pt x="1887393" y="0"/>
                  </a:lnTo>
                  <a:lnTo>
                    <a:pt x="1887393" y="235492"/>
                  </a:lnTo>
                  <a:lnTo>
                    <a:pt x="0" y="235492"/>
                  </a:lnTo>
                  <a:close/>
                </a:path>
              </a:pathLst>
            </a:custGeom>
            <a:solidFill>
              <a:srgbClr val="FFF3C2"/>
            </a:solidFill>
          </p:spPr>
        </p:sp>
        <p:sp>
          <p:nvSpPr>
            <p:cNvPr name="TextBox 9" id="9"/>
            <p:cNvSpPr txBox="true"/>
            <p:nvPr/>
          </p:nvSpPr>
          <p:spPr>
            <a:xfrm>
              <a:off x="0" y="-57150"/>
              <a:ext cx="1887393" cy="292642"/>
            </a:xfrm>
            <a:prstGeom prst="rect">
              <a:avLst/>
            </a:prstGeom>
          </p:spPr>
          <p:txBody>
            <a:bodyPr anchor="ctr" rtlCol="false" tIns="50800" lIns="50800" bIns="50800" rIns="50800"/>
            <a:lstStyle/>
            <a:p>
              <a:pPr algn="ctr">
                <a:lnSpc>
                  <a:spcPts val="3919"/>
                </a:lnSpc>
              </a:pPr>
              <a:r>
                <a:rPr lang="en-US" sz="2799">
                  <a:solidFill>
                    <a:srgbClr val="000000"/>
                  </a:solidFill>
                  <a:latin typeface="Open Sans"/>
                  <a:ea typeface="Open Sans"/>
                  <a:cs typeface="Open Sans"/>
                  <a:sym typeface="Open Sans"/>
                </a:rPr>
                <a:t>NOMBRE DEL TUTOR</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41309" y="0"/>
            <a:ext cx="5746691" cy="1711780"/>
          </a:xfrm>
          <a:custGeom>
            <a:avLst/>
            <a:gdLst/>
            <a:ahLst/>
            <a:cxnLst/>
            <a:rect r="r" b="b" t="t" l="l"/>
            <a:pathLst>
              <a:path h="1711780" w="5746691">
                <a:moveTo>
                  <a:pt x="0" y="0"/>
                </a:moveTo>
                <a:lnTo>
                  <a:pt x="5746691" y="0"/>
                </a:lnTo>
                <a:lnTo>
                  <a:pt x="5746691" y="1711780"/>
                </a:lnTo>
                <a:lnTo>
                  <a:pt x="0" y="1711780"/>
                </a:lnTo>
                <a:lnTo>
                  <a:pt x="0" y="0"/>
                </a:lnTo>
                <a:close/>
              </a:path>
            </a:pathLst>
          </a:custGeom>
          <a:blipFill>
            <a:blip r:embed="rId2"/>
            <a:stretch>
              <a:fillRect l="0" t="0" r="0" b="0"/>
            </a:stretch>
          </a:blipFill>
        </p:spPr>
      </p:sp>
      <p:sp>
        <p:nvSpPr>
          <p:cNvPr name="TextBox 3" id="3"/>
          <p:cNvSpPr txBox="true"/>
          <p:nvPr/>
        </p:nvSpPr>
        <p:spPr>
          <a:xfrm rot="0">
            <a:off x="1063303" y="7833952"/>
            <a:ext cx="5953683" cy="863674"/>
          </a:xfrm>
          <a:prstGeom prst="rect">
            <a:avLst/>
          </a:prstGeom>
        </p:spPr>
        <p:txBody>
          <a:bodyPr anchor="t" rtlCol="false" tIns="0" lIns="0" bIns="0" rIns="0">
            <a:spAutoFit/>
          </a:bodyPr>
          <a:lstStyle/>
          <a:p>
            <a:pPr algn="ctr">
              <a:lnSpc>
                <a:spcPts val="7000"/>
              </a:lnSpc>
            </a:pPr>
            <a:r>
              <a:rPr lang="en-US" sz="5000" b="true">
                <a:solidFill>
                  <a:srgbClr val="131416"/>
                </a:solidFill>
                <a:latin typeface="Open Sans Bold"/>
                <a:ea typeface="Open Sans Bold"/>
                <a:cs typeface="Open Sans Bold"/>
                <a:sym typeface="Open Sans Bold"/>
              </a:rPr>
              <a:t>Lógica de Sistemas</a:t>
            </a:r>
          </a:p>
        </p:txBody>
      </p:sp>
      <p:sp>
        <p:nvSpPr>
          <p:cNvPr name="TextBox 4" id="4"/>
          <p:cNvSpPr txBox="true"/>
          <p:nvPr/>
        </p:nvSpPr>
        <p:spPr>
          <a:xfrm rot="0">
            <a:off x="4122182" y="3915649"/>
            <a:ext cx="9505355" cy="1566544"/>
          </a:xfrm>
          <a:prstGeom prst="rect">
            <a:avLst/>
          </a:prstGeom>
        </p:spPr>
        <p:txBody>
          <a:bodyPr anchor="t" rtlCol="false" tIns="0" lIns="0" bIns="0" rIns="0">
            <a:spAutoFit/>
          </a:bodyPr>
          <a:lstStyle/>
          <a:p>
            <a:pPr algn="ctr">
              <a:lnSpc>
                <a:spcPts val="12880"/>
              </a:lnSpc>
            </a:pPr>
            <a:r>
              <a:rPr lang="en-US" sz="9200" b="true">
                <a:solidFill>
                  <a:srgbClr val="131416"/>
                </a:solidFill>
                <a:latin typeface="Open Sans Bold"/>
                <a:ea typeface="Open Sans Bold"/>
                <a:cs typeface="Open Sans Bold"/>
                <a:sym typeface="Open Sans Bold"/>
              </a:rPr>
              <a:t>Unidad 2: Lógica</a:t>
            </a:r>
          </a:p>
        </p:txBody>
      </p:sp>
      <p:sp>
        <p:nvSpPr>
          <p:cNvPr name="TextBox 5" id="5"/>
          <p:cNvSpPr txBox="true"/>
          <p:nvPr/>
        </p:nvSpPr>
        <p:spPr>
          <a:xfrm rot="0">
            <a:off x="1063303" y="8745251"/>
            <a:ext cx="6981379"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Escuela de Ingenieria de Ciencias Y Sistemas</a:t>
            </a:r>
          </a:p>
        </p:txBody>
      </p:sp>
      <p:sp>
        <p:nvSpPr>
          <p:cNvPr name="TextBox 6" id="6"/>
          <p:cNvSpPr txBox="true"/>
          <p:nvPr/>
        </p:nvSpPr>
        <p:spPr>
          <a:xfrm rot="0">
            <a:off x="1028700" y="9210675"/>
            <a:ext cx="3525292"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Facultad de Ingenieria</a:t>
            </a:r>
          </a:p>
        </p:txBody>
      </p:sp>
      <p:sp>
        <p:nvSpPr>
          <p:cNvPr name="TextBox 7" id="7"/>
          <p:cNvSpPr txBox="true"/>
          <p:nvPr/>
        </p:nvSpPr>
        <p:spPr>
          <a:xfrm rot="0">
            <a:off x="1028700" y="9585325"/>
            <a:ext cx="6407944" cy="422275"/>
          </a:xfrm>
          <a:prstGeom prst="rect">
            <a:avLst/>
          </a:prstGeom>
        </p:spPr>
        <p:txBody>
          <a:bodyPr anchor="t" rtlCol="false" tIns="0" lIns="0" bIns="0" rIns="0">
            <a:spAutoFit/>
          </a:bodyPr>
          <a:lstStyle/>
          <a:p>
            <a:pPr algn="ctr">
              <a:lnSpc>
                <a:spcPts val="3499"/>
              </a:lnSpc>
            </a:pPr>
            <a:r>
              <a:rPr lang="en-US" sz="2499" b="true">
                <a:solidFill>
                  <a:srgbClr val="131416"/>
                </a:solidFill>
                <a:latin typeface="Open Sans Bold"/>
                <a:ea typeface="Open Sans Bold"/>
                <a:cs typeface="Open Sans Bold"/>
                <a:sym typeface="Open Sans Bold"/>
              </a:rPr>
              <a:t>Universidad de San Carlos de Guatemala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6619" y="4699462"/>
            <a:ext cx="4613551" cy="666407"/>
            <a:chOff x="0" y="0"/>
            <a:chExt cx="1964221" cy="283723"/>
          </a:xfrm>
        </p:grpSpPr>
        <p:sp>
          <p:nvSpPr>
            <p:cNvPr name="Freeform 3" id="3"/>
            <p:cNvSpPr/>
            <p:nvPr/>
          </p:nvSpPr>
          <p:spPr>
            <a:xfrm flipH="false" flipV="false" rot="0">
              <a:off x="0" y="0"/>
              <a:ext cx="1964221" cy="283723"/>
            </a:xfrm>
            <a:custGeom>
              <a:avLst/>
              <a:gdLst/>
              <a:ahLst/>
              <a:cxnLst/>
              <a:rect r="r" b="b" t="t" l="l"/>
              <a:pathLst>
                <a:path h="283723" w="1964221">
                  <a:moveTo>
                    <a:pt x="1761021" y="0"/>
                  </a:moveTo>
                  <a:lnTo>
                    <a:pt x="0" y="0"/>
                  </a:lnTo>
                  <a:lnTo>
                    <a:pt x="0" y="283723"/>
                  </a:lnTo>
                  <a:lnTo>
                    <a:pt x="1761021" y="283723"/>
                  </a:lnTo>
                  <a:lnTo>
                    <a:pt x="1964221" y="141862"/>
                  </a:lnTo>
                  <a:lnTo>
                    <a:pt x="1761021" y="0"/>
                  </a:lnTo>
                  <a:close/>
                </a:path>
              </a:pathLst>
            </a:custGeom>
            <a:solidFill>
              <a:srgbClr val="FFFFFF"/>
            </a:solidFill>
          </p:spPr>
        </p:sp>
        <p:sp>
          <p:nvSpPr>
            <p:cNvPr name="TextBox 4" id="4"/>
            <p:cNvSpPr txBox="true"/>
            <p:nvPr/>
          </p:nvSpPr>
          <p:spPr>
            <a:xfrm>
              <a:off x="0" y="-76200"/>
              <a:ext cx="1849921" cy="359923"/>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Unidad 4</a:t>
              </a:r>
            </a:p>
          </p:txBody>
        </p:sp>
      </p:grpSp>
      <p:sp>
        <p:nvSpPr>
          <p:cNvPr name="Freeform 5" id="5"/>
          <p:cNvSpPr/>
          <p:nvPr/>
        </p:nvSpPr>
        <p:spPr>
          <a:xfrm flipH="false" flipV="false" rot="0">
            <a:off x="878654" y="4740441"/>
            <a:ext cx="453358" cy="550094"/>
          </a:xfrm>
          <a:custGeom>
            <a:avLst/>
            <a:gdLst/>
            <a:ahLst/>
            <a:cxnLst/>
            <a:rect r="r" b="b" t="t" l="l"/>
            <a:pathLst>
              <a:path h="550094" w="453358">
                <a:moveTo>
                  <a:pt x="0" y="0"/>
                </a:moveTo>
                <a:lnTo>
                  <a:pt x="453359" y="0"/>
                </a:lnTo>
                <a:lnTo>
                  <a:pt x="453359" y="550094"/>
                </a:lnTo>
                <a:lnTo>
                  <a:pt x="0" y="5500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866989" y="3303305"/>
            <a:ext cx="4115190" cy="1267162"/>
            <a:chOff x="0" y="0"/>
            <a:chExt cx="1083836" cy="333738"/>
          </a:xfrm>
        </p:grpSpPr>
        <p:sp>
          <p:nvSpPr>
            <p:cNvPr name="Freeform 7" id="7"/>
            <p:cNvSpPr/>
            <p:nvPr/>
          </p:nvSpPr>
          <p:spPr>
            <a:xfrm flipH="false" flipV="false" rot="0">
              <a:off x="0" y="0"/>
              <a:ext cx="1083836" cy="333738"/>
            </a:xfrm>
            <a:custGeom>
              <a:avLst/>
              <a:gdLst/>
              <a:ahLst/>
              <a:cxnLst/>
              <a:rect r="r" b="b" t="t" l="l"/>
              <a:pathLst>
                <a:path h="333738" w="1083836">
                  <a:moveTo>
                    <a:pt x="880636" y="0"/>
                  </a:moveTo>
                  <a:lnTo>
                    <a:pt x="0" y="0"/>
                  </a:lnTo>
                  <a:lnTo>
                    <a:pt x="0" y="333738"/>
                  </a:lnTo>
                  <a:lnTo>
                    <a:pt x="880636" y="333738"/>
                  </a:lnTo>
                  <a:lnTo>
                    <a:pt x="1083836" y="166869"/>
                  </a:lnTo>
                  <a:lnTo>
                    <a:pt x="880636" y="0"/>
                  </a:lnTo>
                  <a:close/>
                </a:path>
              </a:pathLst>
            </a:custGeom>
            <a:solidFill>
              <a:srgbClr val="FFFFFF"/>
            </a:solidFill>
          </p:spPr>
        </p:sp>
        <p:sp>
          <p:nvSpPr>
            <p:cNvPr name="TextBox 8" id="8"/>
            <p:cNvSpPr txBox="true"/>
            <p:nvPr/>
          </p:nvSpPr>
          <p:spPr>
            <a:xfrm>
              <a:off x="0" y="-76200"/>
              <a:ext cx="969536" cy="409938"/>
            </a:xfrm>
            <a:prstGeom prst="rect">
              <a:avLst/>
            </a:prstGeom>
          </p:spPr>
          <p:txBody>
            <a:bodyPr anchor="ctr" rtlCol="false" tIns="50800" lIns="50800" bIns="50800" rIns="50800"/>
            <a:lstStyle/>
            <a:p>
              <a:pPr algn="ctr">
                <a:lnSpc>
                  <a:spcPts val="4143"/>
                </a:lnSpc>
              </a:pPr>
              <a:r>
                <a:rPr lang="en-US" sz="2799" spc="81">
                  <a:solidFill>
                    <a:srgbClr val="000000"/>
                  </a:solidFill>
                  <a:latin typeface="Garet"/>
                  <a:ea typeface="Garet"/>
                  <a:cs typeface="Garet"/>
                  <a:sym typeface="Garet"/>
                </a:rPr>
                <a:t>RECORDATORIOS</a:t>
              </a:r>
            </a:p>
          </p:txBody>
        </p:sp>
      </p:grpSp>
      <p:sp>
        <p:nvSpPr>
          <p:cNvPr name="Freeform 9" id="9"/>
          <p:cNvSpPr/>
          <p:nvPr/>
        </p:nvSpPr>
        <p:spPr>
          <a:xfrm flipH="false" flipV="false" rot="0">
            <a:off x="651754" y="3429735"/>
            <a:ext cx="753892" cy="872928"/>
          </a:xfrm>
          <a:custGeom>
            <a:avLst/>
            <a:gdLst/>
            <a:ahLst/>
            <a:cxnLst/>
            <a:rect r="r" b="b" t="t" l="l"/>
            <a:pathLst>
              <a:path h="872928" w="753892">
                <a:moveTo>
                  <a:pt x="0" y="0"/>
                </a:moveTo>
                <a:lnTo>
                  <a:pt x="753892" y="0"/>
                </a:lnTo>
                <a:lnTo>
                  <a:pt x="753892" y="872927"/>
                </a:lnTo>
                <a:lnTo>
                  <a:pt x="0" y="8729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51754" y="-249180"/>
            <a:ext cx="6140237" cy="2980843"/>
            <a:chOff x="0" y="0"/>
            <a:chExt cx="8186982" cy="3974458"/>
          </a:xfrm>
        </p:grpSpPr>
        <p:sp>
          <p:nvSpPr>
            <p:cNvPr name="TextBox 11" id="11"/>
            <p:cNvSpPr txBox="true"/>
            <p:nvPr/>
          </p:nvSpPr>
          <p:spPr>
            <a:xfrm rot="0">
              <a:off x="0" y="986783"/>
              <a:ext cx="8186982"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Agenda</a:t>
              </a:r>
            </a:p>
          </p:txBody>
        </p:sp>
        <p:sp>
          <p:nvSpPr>
            <p:cNvPr name="TextBox 12" id="12"/>
            <p:cNvSpPr txBox="true"/>
            <p:nvPr/>
          </p:nvSpPr>
          <p:spPr>
            <a:xfrm rot="0">
              <a:off x="0" y="-95250"/>
              <a:ext cx="8186982" cy="927435"/>
            </a:xfrm>
            <a:prstGeom prst="rect">
              <a:avLst/>
            </a:prstGeom>
          </p:spPr>
          <p:txBody>
            <a:bodyPr anchor="t" rtlCol="false" tIns="0" lIns="0" bIns="0" rIns="0">
              <a:spAutoFit/>
            </a:bodyPr>
            <a:lstStyle/>
            <a:p>
              <a:pPr algn="l">
                <a:lnSpc>
                  <a:spcPts val="5733"/>
                </a:lnSpc>
              </a:pPr>
            </a:p>
          </p:txBody>
        </p:sp>
      </p:grpSp>
      <p:grpSp>
        <p:nvGrpSpPr>
          <p:cNvPr name="Group 13" id="13"/>
          <p:cNvGrpSpPr/>
          <p:nvPr/>
        </p:nvGrpSpPr>
        <p:grpSpPr>
          <a:xfrm rot="0">
            <a:off x="11131715" y="154716"/>
            <a:ext cx="8416862" cy="2844707"/>
            <a:chOff x="0" y="0"/>
            <a:chExt cx="11222483" cy="3792943"/>
          </a:xfrm>
        </p:grpSpPr>
        <p:sp>
          <p:nvSpPr>
            <p:cNvPr name="TextBox 14" id="14"/>
            <p:cNvSpPr txBox="true"/>
            <p:nvPr/>
          </p:nvSpPr>
          <p:spPr>
            <a:xfrm rot="0">
              <a:off x="0" y="805268"/>
              <a:ext cx="11222483" cy="2987675"/>
            </a:xfrm>
            <a:prstGeom prst="rect">
              <a:avLst/>
            </a:prstGeom>
          </p:spPr>
          <p:txBody>
            <a:bodyPr anchor="t" rtlCol="false" tIns="0" lIns="0" bIns="0" rIns="0">
              <a:spAutoFit/>
            </a:bodyPr>
            <a:lstStyle/>
            <a:p>
              <a:pPr algn="l">
                <a:lnSpc>
                  <a:spcPts val="17250"/>
                </a:lnSpc>
              </a:pPr>
              <a:r>
                <a:rPr lang="en-US" sz="15000">
                  <a:solidFill>
                    <a:srgbClr val="131416"/>
                  </a:solidFill>
                  <a:latin typeface="Playlist Script"/>
                  <a:ea typeface="Playlist Script"/>
                  <a:cs typeface="Playlist Script"/>
                  <a:sym typeface="Playlist Script"/>
                </a:rPr>
                <a:t>Recursos</a:t>
              </a:r>
            </a:p>
          </p:txBody>
        </p:sp>
        <p:sp>
          <p:nvSpPr>
            <p:cNvPr name="TextBox 15" id="15"/>
            <p:cNvSpPr txBox="true"/>
            <p:nvPr/>
          </p:nvSpPr>
          <p:spPr>
            <a:xfrm rot="0">
              <a:off x="0" y="-76200"/>
              <a:ext cx="11222483" cy="747545"/>
            </a:xfrm>
            <a:prstGeom prst="rect">
              <a:avLst/>
            </a:prstGeom>
          </p:spPr>
          <p:txBody>
            <a:bodyPr anchor="t" rtlCol="false" tIns="0" lIns="0" bIns="0" rIns="0">
              <a:spAutoFit/>
            </a:bodyPr>
            <a:lstStyle/>
            <a:p>
              <a:pPr algn="l">
                <a:lnSpc>
                  <a:spcPts val="4625"/>
                </a:lnSpc>
              </a:pPr>
            </a:p>
          </p:txBody>
        </p:sp>
      </p:grpSp>
      <p:grpSp>
        <p:nvGrpSpPr>
          <p:cNvPr name="Group 16" id="16"/>
          <p:cNvGrpSpPr/>
          <p:nvPr/>
        </p:nvGrpSpPr>
        <p:grpSpPr>
          <a:xfrm rot="0">
            <a:off x="11739805" y="3232617"/>
            <a:ext cx="5353646" cy="1267162"/>
            <a:chOff x="0" y="0"/>
            <a:chExt cx="1410014" cy="333738"/>
          </a:xfrm>
        </p:grpSpPr>
        <p:sp>
          <p:nvSpPr>
            <p:cNvPr name="Freeform 17" id="17"/>
            <p:cNvSpPr/>
            <p:nvPr/>
          </p:nvSpPr>
          <p:spPr>
            <a:xfrm flipH="false" flipV="false" rot="0">
              <a:off x="0" y="0"/>
              <a:ext cx="1410014" cy="333738"/>
            </a:xfrm>
            <a:custGeom>
              <a:avLst/>
              <a:gdLst/>
              <a:ahLst/>
              <a:cxnLst/>
              <a:rect r="r" b="b" t="t" l="l"/>
              <a:pathLst>
                <a:path h="333738" w="1410014">
                  <a:moveTo>
                    <a:pt x="1206814" y="0"/>
                  </a:moveTo>
                  <a:lnTo>
                    <a:pt x="0" y="0"/>
                  </a:lnTo>
                  <a:lnTo>
                    <a:pt x="0" y="333738"/>
                  </a:lnTo>
                  <a:lnTo>
                    <a:pt x="1206814" y="333738"/>
                  </a:lnTo>
                  <a:lnTo>
                    <a:pt x="1410014" y="166869"/>
                  </a:lnTo>
                  <a:lnTo>
                    <a:pt x="1206814" y="0"/>
                  </a:lnTo>
                  <a:close/>
                </a:path>
              </a:pathLst>
            </a:custGeom>
            <a:solidFill>
              <a:srgbClr val="FFFFFF"/>
            </a:solidFill>
          </p:spPr>
        </p:sp>
        <p:sp>
          <p:nvSpPr>
            <p:cNvPr name="TextBox 18" id="18"/>
            <p:cNvSpPr txBox="true"/>
            <p:nvPr/>
          </p:nvSpPr>
          <p:spPr>
            <a:xfrm>
              <a:off x="0" y="-114300"/>
              <a:ext cx="1295714" cy="448038"/>
            </a:xfrm>
            <a:prstGeom prst="rect">
              <a:avLst/>
            </a:prstGeom>
          </p:spPr>
          <p:txBody>
            <a:bodyPr anchor="ctr" rtlCol="false" tIns="50800" lIns="50800" bIns="50800" rIns="50800"/>
            <a:lstStyle/>
            <a:p>
              <a:pPr algn="ctr">
                <a:lnSpc>
                  <a:spcPts val="6659"/>
                </a:lnSpc>
              </a:pPr>
              <a:r>
                <a:rPr lang="en-US" sz="4499" spc="130">
                  <a:solidFill>
                    <a:srgbClr val="000000"/>
                  </a:solidFill>
                  <a:latin typeface="Garet"/>
                  <a:ea typeface="Garet"/>
                  <a:cs typeface="Garet"/>
                  <a:sym typeface="Garet"/>
                </a:rPr>
                <a:t>Link del Video</a:t>
              </a:r>
            </a:p>
          </p:txBody>
        </p:sp>
      </p:grpSp>
      <p:grpSp>
        <p:nvGrpSpPr>
          <p:cNvPr name="Group 19" id="19"/>
          <p:cNvGrpSpPr/>
          <p:nvPr/>
        </p:nvGrpSpPr>
        <p:grpSpPr>
          <a:xfrm rot="0">
            <a:off x="11739805" y="5032666"/>
            <a:ext cx="5353646" cy="1267162"/>
            <a:chOff x="0" y="0"/>
            <a:chExt cx="1410014" cy="333738"/>
          </a:xfrm>
        </p:grpSpPr>
        <p:sp>
          <p:nvSpPr>
            <p:cNvPr name="Freeform 20" id="20"/>
            <p:cNvSpPr/>
            <p:nvPr/>
          </p:nvSpPr>
          <p:spPr>
            <a:xfrm flipH="false" flipV="false" rot="0">
              <a:off x="0" y="0"/>
              <a:ext cx="1410014" cy="333738"/>
            </a:xfrm>
            <a:custGeom>
              <a:avLst/>
              <a:gdLst/>
              <a:ahLst/>
              <a:cxnLst/>
              <a:rect r="r" b="b" t="t" l="l"/>
              <a:pathLst>
                <a:path h="333738" w="1410014">
                  <a:moveTo>
                    <a:pt x="1206814" y="0"/>
                  </a:moveTo>
                  <a:lnTo>
                    <a:pt x="0" y="0"/>
                  </a:lnTo>
                  <a:lnTo>
                    <a:pt x="0" y="333738"/>
                  </a:lnTo>
                  <a:lnTo>
                    <a:pt x="1206814" y="333738"/>
                  </a:lnTo>
                  <a:lnTo>
                    <a:pt x="1410014" y="166869"/>
                  </a:lnTo>
                  <a:lnTo>
                    <a:pt x="1206814" y="0"/>
                  </a:lnTo>
                  <a:close/>
                </a:path>
              </a:pathLst>
            </a:custGeom>
            <a:solidFill>
              <a:srgbClr val="FFFFFF"/>
            </a:solidFill>
          </p:spPr>
        </p:sp>
        <p:sp>
          <p:nvSpPr>
            <p:cNvPr name="TextBox 21" id="21"/>
            <p:cNvSpPr txBox="true"/>
            <p:nvPr/>
          </p:nvSpPr>
          <p:spPr>
            <a:xfrm>
              <a:off x="0" y="-114300"/>
              <a:ext cx="1295714" cy="448038"/>
            </a:xfrm>
            <a:prstGeom prst="rect">
              <a:avLst/>
            </a:prstGeom>
          </p:spPr>
          <p:txBody>
            <a:bodyPr anchor="ctr" rtlCol="false" tIns="50800" lIns="50800" bIns="50800" rIns="50800"/>
            <a:lstStyle/>
            <a:p>
              <a:pPr algn="ctr">
                <a:lnSpc>
                  <a:spcPts val="6659"/>
                </a:lnSpc>
              </a:pPr>
              <a:r>
                <a:rPr lang="en-US" sz="4499" spc="130">
                  <a:solidFill>
                    <a:srgbClr val="000000"/>
                  </a:solidFill>
                  <a:latin typeface="Garet"/>
                  <a:ea typeface="Garet"/>
                  <a:cs typeface="Garet"/>
                  <a:sym typeface="Garet"/>
                </a:rPr>
                <a:t>Link de Quizziz</a:t>
              </a:r>
            </a:p>
          </p:txBody>
        </p:sp>
      </p:grpSp>
      <p:sp>
        <p:nvSpPr>
          <p:cNvPr name="TextBox 22" id="22"/>
          <p:cNvSpPr txBox="true"/>
          <p:nvPr/>
        </p:nvSpPr>
        <p:spPr>
          <a:xfrm rot="0">
            <a:off x="9229069" y="6461754"/>
            <a:ext cx="9058931" cy="895348"/>
          </a:xfrm>
          <a:prstGeom prst="rect">
            <a:avLst/>
          </a:prstGeom>
        </p:spPr>
        <p:txBody>
          <a:bodyPr anchor="t" rtlCol="false" tIns="0" lIns="0" bIns="0" rIns="0">
            <a:spAutoFit/>
          </a:bodyPr>
          <a:lstStyle/>
          <a:p>
            <a:pPr algn="l">
              <a:lnSpc>
                <a:spcPts val="3552"/>
              </a:lnSpc>
            </a:pPr>
            <a:r>
              <a:rPr lang="en-US" sz="2537" u="sng">
                <a:solidFill>
                  <a:srgbClr val="5271FF"/>
                </a:solidFill>
                <a:latin typeface="Arimo"/>
                <a:ea typeface="Arimo"/>
                <a:cs typeface="Arimo"/>
                <a:sym typeface="Arimo"/>
                <a:hlinkClick r:id="rId6" tooltip="https://create.kahoot.it/details/3c1131ac-9caf-45fa-b6c7-bb04e1c780e9"/>
              </a:rPr>
              <a:t>https://create.kahoot.it/details/0deb258a-508d-4754-8be2-a854adbc96b3</a:t>
            </a:r>
          </a:p>
        </p:txBody>
      </p:sp>
      <p:sp>
        <p:nvSpPr>
          <p:cNvPr name="TextBox 23" id="23"/>
          <p:cNvSpPr txBox="true"/>
          <p:nvPr/>
        </p:nvSpPr>
        <p:spPr>
          <a:xfrm rot="0">
            <a:off x="9144000" y="4188362"/>
            <a:ext cx="7987605" cy="807085"/>
          </a:xfrm>
          <a:prstGeom prst="rect">
            <a:avLst/>
          </a:prstGeom>
        </p:spPr>
        <p:txBody>
          <a:bodyPr anchor="t" rtlCol="false" tIns="0" lIns="0" bIns="0" rIns="0">
            <a:spAutoFit/>
          </a:bodyPr>
          <a:lstStyle/>
          <a:p>
            <a:pPr algn="l">
              <a:lnSpc>
                <a:spcPts val="6439"/>
              </a:lnSpc>
            </a:pPr>
            <a:r>
              <a:rPr lang="en-US" sz="4599" u="sng">
                <a:solidFill>
                  <a:srgbClr val="5271FF"/>
                </a:solidFill>
                <a:latin typeface="Arimo"/>
                <a:ea typeface="Arimo"/>
                <a:cs typeface="Arimo"/>
                <a:sym typeface="Arimo"/>
                <a:hlinkClick r:id="rId7" tooltip="https://youtu.be/VgPwkOUWoNo"/>
              </a:rPr>
              <a:t>https://youtu.be/Pxb3MPDzDt0</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74889" y="654364"/>
            <a:ext cx="13991174" cy="1801020"/>
          </a:xfrm>
          <a:prstGeom prst="rect">
            <a:avLst/>
          </a:prstGeom>
        </p:spPr>
        <p:txBody>
          <a:bodyPr anchor="t" rtlCol="false" tIns="0" lIns="0" bIns="0" rIns="0">
            <a:spAutoFit/>
          </a:bodyPr>
          <a:lstStyle/>
          <a:p>
            <a:pPr algn="just">
              <a:lnSpc>
                <a:spcPts val="6890"/>
              </a:lnSpc>
            </a:pPr>
            <a:r>
              <a:rPr lang="en-US" sz="6098">
                <a:solidFill>
                  <a:srgbClr val="131416"/>
                </a:solidFill>
                <a:latin typeface="Horizon"/>
                <a:ea typeface="Horizon"/>
                <a:cs typeface="Horizon"/>
                <a:sym typeface="Horizon"/>
              </a:rPr>
              <a:t>COMPETENCIA(S) QUE DESARROLLAREMOS</a:t>
            </a:r>
          </a:p>
        </p:txBody>
      </p:sp>
      <p:sp>
        <p:nvSpPr>
          <p:cNvPr name="TextBox 3" id="3"/>
          <p:cNvSpPr txBox="true"/>
          <p:nvPr/>
        </p:nvSpPr>
        <p:spPr>
          <a:xfrm rot="0">
            <a:off x="2191966" y="4432648"/>
            <a:ext cx="13448312" cy="2794000"/>
          </a:xfrm>
          <a:prstGeom prst="rect">
            <a:avLst/>
          </a:prstGeom>
        </p:spPr>
        <p:txBody>
          <a:bodyPr anchor="t" rtlCol="false" tIns="0" lIns="0" bIns="0" rIns="0">
            <a:spAutoFit/>
          </a:bodyPr>
          <a:lstStyle/>
          <a:p>
            <a:pPr algn="just">
              <a:lnSpc>
                <a:spcPts val="5599"/>
              </a:lnSpc>
            </a:pPr>
            <a:r>
              <a:rPr lang="en-US" sz="3999">
                <a:solidFill>
                  <a:srgbClr val="131416"/>
                </a:solidFill>
                <a:latin typeface="Open Sans"/>
                <a:ea typeface="Open Sans"/>
                <a:cs typeface="Open Sans"/>
                <a:sym typeface="Open Sans"/>
              </a:rPr>
              <a:t>Reconoce los principios fundamentales de la lógica mediante el análisis de enunciados y situaciones cotidianas que permitan desarrollar habilidades de pensamiento crítico y razonamiento válido</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760939" y="2959690"/>
            <a:ext cx="12625499" cy="2497943"/>
          </a:xfrm>
          <a:prstGeom prst="rect">
            <a:avLst/>
          </a:prstGeom>
        </p:spPr>
        <p:txBody>
          <a:bodyPr anchor="t" rtlCol="false" tIns="0" lIns="0" bIns="0" rIns="0">
            <a:spAutoFit/>
          </a:bodyPr>
          <a:lstStyle/>
          <a:p>
            <a:pPr algn="l" marL="847776" indent="-423888" lvl="1">
              <a:lnSpc>
                <a:spcPts val="6793"/>
              </a:lnSpc>
              <a:buFont typeface="Arial"/>
              <a:buChar char="•"/>
            </a:pPr>
            <a:r>
              <a:rPr lang="en-US" sz="3926">
                <a:solidFill>
                  <a:srgbClr val="131416"/>
                </a:solidFill>
                <a:latin typeface="Garet"/>
                <a:ea typeface="Garet"/>
                <a:cs typeface="Garet"/>
                <a:sym typeface="Garet"/>
              </a:rPr>
              <a:t>Nociones preliminares de Lógica</a:t>
            </a:r>
          </a:p>
          <a:p>
            <a:pPr algn="l" marL="847776" indent="-423888" lvl="1">
              <a:lnSpc>
                <a:spcPts val="6793"/>
              </a:lnSpc>
              <a:buFont typeface="Arial"/>
              <a:buChar char="•"/>
            </a:pPr>
            <a:r>
              <a:rPr lang="en-US" sz="3926">
                <a:solidFill>
                  <a:srgbClr val="131416"/>
                </a:solidFill>
                <a:latin typeface="Garet"/>
                <a:ea typeface="Garet"/>
                <a:cs typeface="Garet"/>
                <a:sym typeface="Garet"/>
              </a:rPr>
              <a:t>La Lógica</a:t>
            </a:r>
          </a:p>
          <a:p>
            <a:pPr algn="l">
              <a:lnSpc>
                <a:spcPts val="6793"/>
              </a:lnSpc>
            </a:pPr>
          </a:p>
        </p:txBody>
      </p:sp>
      <p:sp>
        <p:nvSpPr>
          <p:cNvPr name="TextBox 3" id="3"/>
          <p:cNvSpPr txBox="true"/>
          <p:nvPr/>
        </p:nvSpPr>
        <p:spPr>
          <a:xfrm rot="0">
            <a:off x="1556560" y="1009650"/>
            <a:ext cx="13991174" cy="937141"/>
          </a:xfrm>
          <a:prstGeom prst="rect">
            <a:avLst/>
          </a:prstGeom>
        </p:spPr>
        <p:txBody>
          <a:bodyPr anchor="t" rtlCol="false" tIns="0" lIns="0" bIns="0" rIns="0">
            <a:spAutoFit/>
          </a:bodyPr>
          <a:lstStyle/>
          <a:p>
            <a:pPr algn="just">
              <a:lnSpc>
                <a:spcPts val="6890"/>
              </a:lnSpc>
            </a:pPr>
            <a:r>
              <a:rPr lang="en-US" sz="6098">
                <a:solidFill>
                  <a:srgbClr val="131416"/>
                </a:solidFill>
                <a:latin typeface="Horizon"/>
                <a:ea typeface="Horizon"/>
                <a:cs typeface="Horizon"/>
                <a:sym typeface="Horizon"/>
              </a:rPr>
              <a:t>CONTENIDO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0694" y="2959286"/>
            <a:ext cx="6469782" cy="5044237"/>
          </a:xfrm>
          <a:custGeom>
            <a:avLst/>
            <a:gdLst/>
            <a:ahLst/>
            <a:cxnLst/>
            <a:rect r="r" b="b" t="t" l="l"/>
            <a:pathLst>
              <a:path h="5044237" w="6469782">
                <a:moveTo>
                  <a:pt x="0" y="0"/>
                </a:moveTo>
                <a:lnTo>
                  <a:pt x="6469782" y="0"/>
                </a:lnTo>
                <a:lnTo>
                  <a:pt x="6469782" y="5044237"/>
                </a:lnTo>
                <a:lnTo>
                  <a:pt x="0" y="5044237"/>
                </a:lnTo>
                <a:lnTo>
                  <a:pt x="0" y="0"/>
                </a:lnTo>
                <a:close/>
              </a:path>
            </a:pathLst>
          </a:custGeom>
          <a:blipFill>
            <a:blip r:embed="rId2"/>
            <a:stretch>
              <a:fillRect l="0" t="0" r="0" b="0"/>
            </a:stretch>
          </a:blipFill>
        </p:spPr>
      </p:sp>
      <p:sp>
        <p:nvSpPr>
          <p:cNvPr name="TextBox 3" id="3"/>
          <p:cNvSpPr txBox="true"/>
          <p:nvPr/>
        </p:nvSpPr>
        <p:spPr>
          <a:xfrm rot="0">
            <a:off x="1374889" y="644839"/>
            <a:ext cx="13991174" cy="1639553"/>
          </a:xfrm>
          <a:prstGeom prst="rect">
            <a:avLst/>
          </a:prstGeom>
        </p:spPr>
        <p:txBody>
          <a:bodyPr anchor="t" rtlCol="false" tIns="0" lIns="0" bIns="0" rIns="0">
            <a:spAutoFit/>
          </a:bodyPr>
          <a:lstStyle/>
          <a:p>
            <a:pPr algn="l">
              <a:lnSpc>
                <a:spcPts val="6212"/>
              </a:lnSpc>
            </a:pPr>
            <a:r>
              <a:rPr lang="en-US" sz="5498">
                <a:solidFill>
                  <a:srgbClr val="131416"/>
                </a:solidFill>
                <a:latin typeface="Horizon"/>
                <a:ea typeface="Horizon"/>
                <a:cs typeface="Horizon"/>
                <a:sym typeface="Horizon"/>
              </a:rPr>
              <a:t>NOCIONES PRELIMINARES DE LA LÓGICA</a:t>
            </a:r>
          </a:p>
        </p:txBody>
      </p:sp>
      <p:sp>
        <p:nvSpPr>
          <p:cNvPr name="TextBox 4" id="4"/>
          <p:cNvSpPr txBox="true"/>
          <p:nvPr/>
        </p:nvSpPr>
        <p:spPr>
          <a:xfrm rot="0">
            <a:off x="9763107" y="2636605"/>
            <a:ext cx="7632005" cy="5613400"/>
          </a:xfrm>
          <a:prstGeom prst="rect">
            <a:avLst/>
          </a:prstGeom>
        </p:spPr>
        <p:txBody>
          <a:bodyPr anchor="t" rtlCol="false" tIns="0" lIns="0" bIns="0" rIns="0">
            <a:spAutoFit/>
          </a:bodyPr>
          <a:lstStyle/>
          <a:p>
            <a:pPr algn="just">
              <a:lnSpc>
                <a:spcPts val="5599"/>
              </a:lnSpc>
            </a:pPr>
            <a:r>
              <a:rPr lang="en-US" sz="3999">
                <a:solidFill>
                  <a:srgbClr val="131416"/>
                </a:solidFill>
                <a:latin typeface="Open Sans"/>
                <a:ea typeface="Open Sans"/>
                <a:cs typeface="Open Sans"/>
                <a:sym typeface="Open Sans"/>
              </a:rPr>
              <a:t>Cuando hablamos de algo “lógico” o “ilógico”, nos estamos refiriendo normalmente a</a:t>
            </a:r>
          </a:p>
          <a:p>
            <a:pPr algn="just">
              <a:lnSpc>
                <a:spcPts val="5599"/>
              </a:lnSpc>
            </a:pPr>
            <a:r>
              <a:rPr lang="en-US" sz="3999">
                <a:solidFill>
                  <a:srgbClr val="131416"/>
                </a:solidFill>
                <a:latin typeface="Open Sans"/>
                <a:ea typeface="Open Sans"/>
                <a:cs typeface="Open Sans"/>
                <a:sym typeface="Open Sans"/>
              </a:rPr>
              <a:t>que es algo natural, es de acuerdo a ciertas reglas, o que coinciden con nuestras</a:t>
            </a:r>
          </a:p>
          <a:p>
            <a:pPr algn="just">
              <a:lnSpc>
                <a:spcPts val="5599"/>
              </a:lnSpc>
            </a:pPr>
            <a:r>
              <a:rPr lang="en-US" sz="3999">
                <a:solidFill>
                  <a:srgbClr val="131416"/>
                </a:solidFill>
                <a:latin typeface="Open Sans"/>
                <a:ea typeface="Open Sans"/>
                <a:cs typeface="Open Sans"/>
                <a:sym typeface="Open Sans"/>
              </a:rPr>
              <a:t>percepciones o modelos mentales que hemos generado.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00638" y="2172842"/>
            <a:ext cx="2970658" cy="2970658"/>
          </a:xfrm>
          <a:custGeom>
            <a:avLst/>
            <a:gdLst/>
            <a:ahLst/>
            <a:cxnLst/>
            <a:rect r="r" b="b" t="t" l="l"/>
            <a:pathLst>
              <a:path h="2970658" w="2970658">
                <a:moveTo>
                  <a:pt x="0" y="0"/>
                </a:moveTo>
                <a:lnTo>
                  <a:pt x="2970658" y="0"/>
                </a:lnTo>
                <a:lnTo>
                  <a:pt x="2970658" y="2970658"/>
                </a:lnTo>
                <a:lnTo>
                  <a:pt x="0" y="2970658"/>
                </a:lnTo>
                <a:lnTo>
                  <a:pt x="0" y="0"/>
                </a:lnTo>
                <a:close/>
              </a:path>
            </a:pathLst>
          </a:custGeom>
          <a:blipFill>
            <a:blip r:embed="rId2"/>
            <a:stretch>
              <a:fillRect l="0" t="0" r="0" b="0"/>
            </a:stretch>
          </a:blipFill>
        </p:spPr>
      </p:sp>
      <p:sp>
        <p:nvSpPr>
          <p:cNvPr name="Freeform 3" id="3"/>
          <p:cNvSpPr/>
          <p:nvPr/>
        </p:nvSpPr>
        <p:spPr>
          <a:xfrm flipH="false" flipV="false" rot="0">
            <a:off x="6699334" y="2125785"/>
            <a:ext cx="3064771" cy="3064771"/>
          </a:xfrm>
          <a:custGeom>
            <a:avLst/>
            <a:gdLst/>
            <a:ahLst/>
            <a:cxnLst/>
            <a:rect r="r" b="b" t="t" l="l"/>
            <a:pathLst>
              <a:path h="3064771" w="3064771">
                <a:moveTo>
                  <a:pt x="0" y="0"/>
                </a:moveTo>
                <a:lnTo>
                  <a:pt x="3064772" y="0"/>
                </a:lnTo>
                <a:lnTo>
                  <a:pt x="3064772" y="3064772"/>
                </a:lnTo>
                <a:lnTo>
                  <a:pt x="0" y="3064772"/>
                </a:lnTo>
                <a:lnTo>
                  <a:pt x="0" y="0"/>
                </a:lnTo>
                <a:close/>
              </a:path>
            </a:pathLst>
          </a:custGeom>
          <a:blipFill>
            <a:blip r:embed="rId3"/>
            <a:stretch>
              <a:fillRect l="0" t="0" r="0" b="0"/>
            </a:stretch>
          </a:blipFill>
        </p:spPr>
      </p:sp>
      <p:sp>
        <p:nvSpPr>
          <p:cNvPr name="Freeform 4" id="4"/>
          <p:cNvSpPr/>
          <p:nvPr/>
        </p:nvSpPr>
        <p:spPr>
          <a:xfrm flipH="false" flipV="false" rot="0">
            <a:off x="11576310" y="1773187"/>
            <a:ext cx="4697415" cy="3417369"/>
          </a:xfrm>
          <a:custGeom>
            <a:avLst/>
            <a:gdLst/>
            <a:ahLst/>
            <a:cxnLst/>
            <a:rect r="r" b="b" t="t" l="l"/>
            <a:pathLst>
              <a:path h="3417369" w="4697415">
                <a:moveTo>
                  <a:pt x="0" y="0"/>
                </a:moveTo>
                <a:lnTo>
                  <a:pt x="4697415" y="0"/>
                </a:lnTo>
                <a:lnTo>
                  <a:pt x="4697415" y="3417370"/>
                </a:lnTo>
                <a:lnTo>
                  <a:pt x="0" y="3417370"/>
                </a:lnTo>
                <a:lnTo>
                  <a:pt x="0" y="0"/>
                </a:lnTo>
                <a:close/>
              </a:path>
            </a:pathLst>
          </a:custGeom>
          <a:blipFill>
            <a:blip r:embed="rId4"/>
            <a:stretch>
              <a:fillRect l="0" t="0" r="0" b="0"/>
            </a:stretch>
          </a:blipFill>
        </p:spPr>
      </p:sp>
      <p:sp>
        <p:nvSpPr>
          <p:cNvPr name="Freeform 5" id="5"/>
          <p:cNvSpPr/>
          <p:nvPr/>
        </p:nvSpPr>
        <p:spPr>
          <a:xfrm flipH="false" flipV="false" rot="0">
            <a:off x="5574495" y="6057980"/>
            <a:ext cx="5159115" cy="3650074"/>
          </a:xfrm>
          <a:custGeom>
            <a:avLst/>
            <a:gdLst/>
            <a:ahLst/>
            <a:cxnLst/>
            <a:rect r="r" b="b" t="t" l="l"/>
            <a:pathLst>
              <a:path h="3650074" w="5159115">
                <a:moveTo>
                  <a:pt x="0" y="0"/>
                </a:moveTo>
                <a:lnTo>
                  <a:pt x="5159115" y="0"/>
                </a:lnTo>
                <a:lnTo>
                  <a:pt x="5159115" y="3650074"/>
                </a:lnTo>
                <a:lnTo>
                  <a:pt x="0" y="3650074"/>
                </a:lnTo>
                <a:lnTo>
                  <a:pt x="0" y="0"/>
                </a:lnTo>
                <a:close/>
              </a:path>
            </a:pathLst>
          </a:custGeom>
          <a:blipFill>
            <a:blip r:embed="rId5"/>
            <a:stretch>
              <a:fillRect l="0" t="0" r="0" b="0"/>
            </a:stretch>
          </a:blipFill>
        </p:spPr>
      </p:sp>
      <p:sp>
        <p:nvSpPr>
          <p:cNvPr name="TextBox 6" id="6"/>
          <p:cNvSpPr txBox="true"/>
          <p:nvPr/>
        </p:nvSpPr>
        <p:spPr>
          <a:xfrm rot="0">
            <a:off x="1374889" y="654364"/>
            <a:ext cx="13991174" cy="697230"/>
          </a:xfrm>
          <a:prstGeom prst="rect">
            <a:avLst/>
          </a:prstGeom>
        </p:spPr>
        <p:txBody>
          <a:bodyPr anchor="t" rtlCol="false" tIns="0" lIns="0" bIns="0" rIns="0">
            <a:spAutoFit/>
          </a:bodyPr>
          <a:lstStyle/>
          <a:p>
            <a:pPr algn="l">
              <a:lnSpc>
                <a:spcPts val="5084"/>
              </a:lnSpc>
            </a:pPr>
            <a:r>
              <a:rPr lang="en-US" sz="4500">
                <a:solidFill>
                  <a:srgbClr val="131416"/>
                </a:solidFill>
                <a:latin typeface="Horizon"/>
                <a:ea typeface="Horizon"/>
                <a:cs typeface="Horizon"/>
                <a:sym typeface="Horizon"/>
              </a:rPr>
              <a:t>CONCEPTOS DE LÓGICA</a:t>
            </a:r>
          </a:p>
        </p:txBody>
      </p:sp>
      <p:sp>
        <p:nvSpPr>
          <p:cNvPr name="TextBox 7" id="7"/>
          <p:cNvSpPr txBox="true"/>
          <p:nvPr/>
        </p:nvSpPr>
        <p:spPr>
          <a:xfrm rot="0">
            <a:off x="2141662" y="5203209"/>
            <a:ext cx="3074451" cy="1216025"/>
          </a:xfrm>
          <a:prstGeom prst="rect">
            <a:avLst/>
          </a:prstGeom>
        </p:spPr>
        <p:txBody>
          <a:bodyPr anchor="t" rtlCol="false" tIns="0" lIns="0" bIns="0" rIns="0">
            <a:spAutoFit/>
          </a:bodyPr>
          <a:lstStyle/>
          <a:p>
            <a:pPr algn="just">
              <a:lnSpc>
                <a:spcPts val="4900"/>
              </a:lnSpc>
            </a:pPr>
            <a:r>
              <a:rPr lang="en-US" sz="3500" b="true">
                <a:solidFill>
                  <a:srgbClr val="131416"/>
                </a:solidFill>
                <a:latin typeface="Open Sans Bold"/>
                <a:ea typeface="Open Sans Bold"/>
                <a:cs typeface="Open Sans Bold"/>
                <a:sym typeface="Open Sans Bold"/>
              </a:rPr>
              <a:t>Definición Etimológica </a:t>
            </a:r>
          </a:p>
        </p:txBody>
      </p:sp>
      <p:sp>
        <p:nvSpPr>
          <p:cNvPr name="TextBox 8" id="8"/>
          <p:cNvSpPr txBox="true"/>
          <p:nvPr/>
        </p:nvSpPr>
        <p:spPr>
          <a:xfrm rot="0">
            <a:off x="7659159" y="5203209"/>
            <a:ext cx="3074451" cy="596900"/>
          </a:xfrm>
          <a:prstGeom prst="rect">
            <a:avLst/>
          </a:prstGeom>
        </p:spPr>
        <p:txBody>
          <a:bodyPr anchor="t" rtlCol="false" tIns="0" lIns="0" bIns="0" rIns="0">
            <a:spAutoFit/>
          </a:bodyPr>
          <a:lstStyle/>
          <a:p>
            <a:pPr algn="just">
              <a:lnSpc>
                <a:spcPts val="4900"/>
              </a:lnSpc>
            </a:pPr>
            <a:r>
              <a:rPr lang="en-US" sz="3500" b="true">
                <a:solidFill>
                  <a:srgbClr val="131416"/>
                </a:solidFill>
                <a:latin typeface="Open Sans Bold"/>
                <a:ea typeface="Open Sans Bold"/>
                <a:cs typeface="Open Sans Bold"/>
                <a:sym typeface="Open Sans Bold"/>
              </a:rPr>
              <a:t>Pensar</a:t>
            </a:r>
          </a:p>
        </p:txBody>
      </p:sp>
      <p:sp>
        <p:nvSpPr>
          <p:cNvPr name="TextBox 9" id="9"/>
          <p:cNvSpPr txBox="true"/>
          <p:nvPr/>
        </p:nvSpPr>
        <p:spPr>
          <a:xfrm rot="0">
            <a:off x="13378662" y="5203209"/>
            <a:ext cx="3074451" cy="596900"/>
          </a:xfrm>
          <a:prstGeom prst="rect">
            <a:avLst/>
          </a:prstGeom>
        </p:spPr>
        <p:txBody>
          <a:bodyPr anchor="t" rtlCol="false" tIns="0" lIns="0" bIns="0" rIns="0">
            <a:spAutoFit/>
          </a:bodyPr>
          <a:lstStyle/>
          <a:p>
            <a:pPr algn="just">
              <a:lnSpc>
                <a:spcPts val="4900"/>
              </a:lnSpc>
            </a:pPr>
            <a:r>
              <a:rPr lang="en-US" sz="3500" b="true">
                <a:solidFill>
                  <a:srgbClr val="131416"/>
                </a:solidFill>
                <a:latin typeface="Open Sans Bold"/>
                <a:ea typeface="Open Sans Bold"/>
                <a:cs typeface="Open Sans Bold"/>
                <a:sym typeface="Open Sans Bold"/>
              </a:rPr>
              <a:t>Razón</a:t>
            </a:r>
          </a:p>
        </p:txBody>
      </p:sp>
      <p:sp>
        <p:nvSpPr>
          <p:cNvPr name="TextBox 10" id="10"/>
          <p:cNvSpPr txBox="true"/>
          <p:nvPr/>
        </p:nvSpPr>
        <p:spPr>
          <a:xfrm rot="0">
            <a:off x="10807976" y="8215145"/>
            <a:ext cx="5141372" cy="596900"/>
          </a:xfrm>
          <a:prstGeom prst="rect">
            <a:avLst/>
          </a:prstGeom>
        </p:spPr>
        <p:txBody>
          <a:bodyPr anchor="t" rtlCol="false" tIns="0" lIns="0" bIns="0" rIns="0">
            <a:spAutoFit/>
          </a:bodyPr>
          <a:lstStyle/>
          <a:p>
            <a:pPr algn="just">
              <a:lnSpc>
                <a:spcPts val="4900"/>
              </a:lnSpc>
            </a:pPr>
            <a:r>
              <a:rPr lang="en-US" sz="3500" b="true">
                <a:solidFill>
                  <a:srgbClr val="131416"/>
                </a:solidFill>
                <a:latin typeface="Open Sans Bold"/>
                <a:ea typeface="Open Sans Bold"/>
                <a:cs typeface="Open Sans Bold"/>
                <a:sym typeface="Open Sans Bold"/>
              </a:rPr>
              <a:t>Razonamiento Lógico</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3"/>
            <a:ext cx="15884411" cy="1040765"/>
          </a:xfrm>
          <a:prstGeom prst="rect">
            <a:avLst/>
          </a:prstGeom>
        </p:spPr>
        <p:txBody>
          <a:bodyPr anchor="t" rtlCol="false" tIns="0" lIns="0" bIns="0" rIns="0">
            <a:spAutoFit/>
          </a:bodyPr>
          <a:lstStyle/>
          <a:p>
            <a:pPr algn="l">
              <a:lnSpc>
                <a:spcPts val="3955"/>
              </a:lnSpc>
            </a:pPr>
            <a:r>
              <a:rPr lang="en-US" sz="3500">
                <a:solidFill>
                  <a:srgbClr val="131416"/>
                </a:solidFill>
                <a:latin typeface="Horizon"/>
                <a:ea typeface="Horizon"/>
                <a:cs typeface="Horizon"/>
                <a:sym typeface="Horizon"/>
              </a:rPr>
              <a:t>CONCEPTOS QUE FORMAN PARTE DE LA LÓGICA</a:t>
            </a:r>
          </a:p>
        </p:txBody>
      </p:sp>
      <p:sp>
        <p:nvSpPr>
          <p:cNvPr name="TextBox 3" id="3"/>
          <p:cNvSpPr txBox="true"/>
          <p:nvPr/>
        </p:nvSpPr>
        <p:spPr>
          <a:xfrm rot="0">
            <a:off x="1338901" y="1927290"/>
            <a:ext cx="16330944" cy="7870825"/>
          </a:xfrm>
          <a:prstGeom prst="rect">
            <a:avLst/>
          </a:prstGeom>
        </p:spPr>
        <p:txBody>
          <a:bodyPr anchor="t" rtlCol="false" tIns="0" lIns="0" bIns="0" rIns="0">
            <a:spAutoFit/>
          </a:bodyPr>
          <a:lstStyle/>
          <a:p>
            <a:pPr algn="just">
              <a:lnSpc>
                <a:spcPts val="3499"/>
              </a:lnSpc>
            </a:pPr>
            <a:r>
              <a:rPr lang="en-US" sz="2499" b="true">
                <a:solidFill>
                  <a:srgbClr val="131416"/>
                </a:solidFill>
                <a:latin typeface="Open Sans Bold"/>
                <a:ea typeface="Open Sans Bold"/>
                <a:cs typeface="Open Sans Bold"/>
                <a:sym typeface="Open Sans Bold"/>
              </a:rPr>
              <a:t>1. Definición Etimológica:</a:t>
            </a:r>
          </a:p>
          <a:p>
            <a:pPr algn="just">
              <a:lnSpc>
                <a:spcPts val="3499"/>
              </a:lnSpc>
            </a:pPr>
            <a:r>
              <a:rPr lang="en-US" sz="2499">
                <a:solidFill>
                  <a:srgbClr val="131416"/>
                </a:solidFill>
                <a:latin typeface="Open Sans"/>
                <a:ea typeface="Open Sans"/>
                <a:cs typeface="Open Sans"/>
                <a:sym typeface="Open Sans"/>
              </a:rPr>
              <a:t>T</a:t>
            </a:r>
            <a:r>
              <a:rPr lang="en-US" sz="2499">
                <a:solidFill>
                  <a:srgbClr val="131416"/>
                </a:solidFill>
                <a:latin typeface="Open Sans"/>
                <a:ea typeface="Open Sans"/>
                <a:cs typeface="Open Sans"/>
                <a:sym typeface="Open Sans"/>
              </a:rPr>
              <a:t>oda palabra tiene un significado y todas las palabras de forma parecida a los</a:t>
            </a:r>
          </a:p>
          <a:p>
            <a:pPr algn="just">
              <a:lnSpc>
                <a:spcPts val="3499"/>
              </a:lnSpc>
            </a:pPr>
            <a:r>
              <a:rPr lang="en-US" sz="2499">
                <a:solidFill>
                  <a:srgbClr val="131416"/>
                </a:solidFill>
                <a:latin typeface="Open Sans"/>
                <a:ea typeface="Open Sans"/>
                <a:cs typeface="Open Sans"/>
                <a:sym typeface="Open Sans"/>
              </a:rPr>
              <a:t>seres vivos, nacen, crecen (se llenan de contenido), se desarrollan (dan origen a</a:t>
            </a:r>
          </a:p>
          <a:p>
            <a:pPr algn="just">
              <a:lnSpc>
                <a:spcPts val="3499"/>
              </a:lnSpc>
            </a:pPr>
            <a:r>
              <a:rPr lang="en-US" sz="2499">
                <a:solidFill>
                  <a:srgbClr val="131416"/>
                </a:solidFill>
                <a:latin typeface="Open Sans"/>
                <a:ea typeface="Open Sans"/>
                <a:cs typeface="Open Sans"/>
                <a:sym typeface="Open Sans"/>
              </a:rPr>
              <a:t>otras palabras) y mueren (como las lenguas muertas). En este orden de ideas, la</a:t>
            </a:r>
          </a:p>
          <a:p>
            <a:pPr algn="just">
              <a:lnSpc>
                <a:spcPts val="3499"/>
              </a:lnSpc>
            </a:pPr>
            <a:r>
              <a:rPr lang="en-US" sz="2499">
                <a:solidFill>
                  <a:srgbClr val="131416"/>
                </a:solidFill>
                <a:latin typeface="Open Sans"/>
                <a:ea typeface="Open Sans"/>
                <a:cs typeface="Open Sans"/>
                <a:sym typeface="Open Sans"/>
              </a:rPr>
              <a:t>Lógica también tiene su origen.</a:t>
            </a:r>
          </a:p>
          <a:p>
            <a:pPr algn="just">
              <a:lnSpc>
                <a:spcPts val="3499"/>
              </a:lnSpc>
            </a:pPr>
            <a:r>
              <a:rPr lang="en-US" sz="2499" b="true">
                <a:solidFill>
                  <a:srgbClr val="131416"/>
                </a:solidFill>
                <a:latin typeface="Open Sans Bold"/>
                <a:ea typeface="Open Sans Bold"/>
                <a:cs typeface="Open Sans Bold"/>
                <a:sym typeface="Open Sans Bold"/>
              </a:rPr>
              <a:t>2. Pensar:</a:t>
            </a:r>
          </a:p>
          <a:p>
            <a:pPr algn="just">
              <a:lnSpc>
                <a:spcPts val="3499"/>
              </a:lnSpc>
            </a:pPr>
            <a:r>
              <a:rPr lang="en-US" sz="2499">
                <a:solidFill>
                  <a:srgbClr val="131416"/>
                </a:solidFill>
                <a:latin typeface="Open Sans"/>
                <a:ea typeface="Open Sans"/>
                <a:cs typeface="Open Sans"/>
                <a:sym typeface="Open Sans"/>
              </a:rPr>
              <a:t>Es un</a:t>
            </a:r>
            <a:r>
              <a:rPr lang="en-US" sz="2499">
                <a:solidFill>
                  <a:srgbClr val="131416"/>
                </a:solidFill>
                <a:latin typeface="Open Sans"/>
                <a:ea typeface="Open Sans"/>
                <a:cs typeface="Open Sans"/>
                <a:sym typeface="Open Sans"/>
              </a:rPr>
              <a:t> complejo proceso que se inicia con la creación de imágenes mentales en nuestro cerebro. Estas imágenes las integramos, emparejamos, proyectamos o asociamos con nuestros conceptos o esquemas que tenemos memorizados, </a:t>
            </a:r>
            <a:r>
              <a:rPr lang="en-US" sz="2499">
                <a:solidFill>
                  <a:srgbClr val="131416"/>
                </a:solidFill>
                <a:latin typeface="Open Sans"/>
                <a:ea typeface="Open Sans"/>
                <a:cs typeface="Open Sans"/>
                <a:sym typeface="Open Sans"/>
              </a:rPr>
              <a:t>representándonos</a:t>
            </a:r>
            <a:r>
              <a:rPr lang="en-US" sz="2499">
                <a:solidFill>
                  <a:srgbClr val="131416"/>
                </a:solidFill>
                <a:latin typeface="Open Sans"/>
                <a:ea typeface="Open Sans"/>
                <a:cs typeface="Open Sans"/>
                <a:sym typeface="Open Sans"/>
              </a:rPr>
              <a:t> las situaciones del mundo.</a:t>
            </a:r>
          </a:p>
          <a:p>
            <a:pPr algn="just">
              <a:lnSpc>
                <a:spcPts val="3499"/>
              </a:lnSpc>
            </a:pPr>
          </a:p>
          <a:p>
            <a:pPr algn="just">
              <a:lnSpc>
                <a:spcPts val="3499"/>
              </a:lnSpc>
            </a:pPr>
            <a:r>
              <a:rPr lang="en-US" sz="2499" b="true">
                <a:solidFill>
                  <a:srgbClr val="131416"/>
                </a:solidFill>
                <a:latin typeface="Open Sans Bold"/>
                <a:ea typeface="Open Sans Bold"/>
                <a:cs typeface="Open Sans Bold"/>
                <a:sym typeface="Open Sans Bold"/>
              </a:rPr>
              <a:t>3. Razón:</a:t>
            </a:r>
          </a:p>
          <a:p>
            <a:pPr algn="just">
              <a:lnSpc>
                <a:spcPts val="3499"/>
              </a:lnSpc>
            </a:pPr>
            <a:r>
              <a:rPr lang="en-US" sz="2499">
                <a:solidFill>
                  <a:srgbClr val="131416"/>
                </a:solidFill>
                <a:latin typeface="Open Sans"/>
                <a:ea typeface="Open Sans"/>
                <a:cs typeface="Open Sans"/>
                <a:sym typeface="Open Sans"/>
              </a:rPr>
              <a:t>Es</a:t>
            </a:r>
            <a:r>
              <a:rPr lang="en-US" sz="2499">
                <a:solidFill>
                  <a:srgbClr val="131416"/>
                </a:solidFill>
                <a:latin typeface="Open Sans"/>
                <a:ea typeface="Open Sans"/>
                <a:cs typeface="Open Sans"/>
                <a:sym typeface="Open Sans"/>
              </a:rPr>
              <a:t> la facultad con la cual el ser humano es capaz de identificar conceptos, cuestionarlos, encontrar coherencia o cualquier contradicción entre ellos y así inducir o deducir otros distintos de los que ya conoce.</a:t>
            </a:r>
          </a:p>
          <a:p>
            <a:pPr algn="just">
              <a:lnSpc>
                <a:spcPts val="3499"/>
              </a:lnSpc>
            </a:pPr>
          </a:p>
          <a:p>
            <a:pPr algn="just">
              <a:lnSpc>
                <a:spcPts val="3499"/>
              </a:lnSpc>
            </a:pPr>
            <a:r>
              <a:rPr lang="en-US" sz="2499" b="true">
                <a:solidFill>
                  <a:srgbClr val="131416"/>
                </a:solidFill>
                <a:latin typeface="Open Sans Bold"/>
                <a:ea typeface="Open Sans Bold"/>
                <a:cs typeface="Open Sans Bold"/>
                <a:sym typeface="Open Sans Bold"/>
              </a:rPr>
              <a:t>4. Razonamiento Lógico:</a:t>
            </a:r>
          </a:p>
          <a:p>
            <a:pPr algn="just">
              <a:lnSpc>
                <a:spcPts val="3499"/>
              </a:lnSpc>
            </a:pPr>
            <a:r>
              <a:rPr lang="en-US" sz="2499">
                <a:solidFill>
                  <a:srgbClr val="131416"/>
                </a:solidFill>
                <a:latin typeface="Open Sans"/>
                <a:ea typeface="Open Sans"/>
                <a:cs typeface="Open Sans"/>
                <a:sym typeface="Open Sans"/>
              </a:rPr>
              <a:t>Es</a:t>
            </a:r>
            <a:r>
              <a:rPr lang="en-US" sz="2499">
                <a:solidFill>
                  <a:srgbClr val="131416"/>
                </a:solidFill>
                <a:latin typeface="Open Sans"/>
                <a:ea typeface="Open Sans"/>
                <a:cs typeface="Open Sans"/>
                <a:sym typeface="Open Sans"/>
              </a:rPr>
              <a:t> un conjunto de juicios que mantienen entre sí relaciones lógicas de tal forma que partiendo de algunos juicios dados a los que denominamos premisas podemos llevar deductivamente a un juicio el cual lo llamamos conclusión.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85422" y="2706438"/>
            <a:ext cx="5650629" cy="2966580"/>
          </a:xfrm>
          <a:custGeom>
            <a:avLst/>
            <a:gdLst/>
            <a:ahLst/>
            <a:cxnLst/>
            <a:rect r="r" b="b" t="t" l="l"/>
            <a:pathLst>
              <a:path h="2966580" w="5650629">
                <a:moveTo>
                  <a:pt x="0" y="0"/>
                </a:moveTo>
                <a:lnTo>
                  <a:pt x="5650630" y="0"/>
                </a:lnTo>
                <a:lnTo>
                  <a:pt x="5650630" y="2966581"/>
                </a:lnTo>
                <a:lnTo>
                  <a:pt x="0" y="2966581"/>
                </a:lnTo>
                <a:lnTo>
                  <a:pt x="0" y="0"/>
                </a:lnTo>
                <a:close/>
              </a:path>
            </a:pathLst>
          </a:custGeom>
          <a:blipFill>
            <a:blip r:embed="rId2"/>
            <a:stretch>
              <a:fillRect l="0" t="0" r="0" b="0"/>
            </a:stretch>
          </a:blipFill>
        </p:spPr>
      </p:sp>
      <p:sp>
        <p:nvSpPr>
          <p:cNvPr name="TextBox 3" id="3"/>
          <p:cNvSpPr txBox="true"/>
          <p:nvPr/>
        </p:nvSpPr>
        <p:spPr>
          <a:xfrm rot="0">
            <a:off x="1374889" y="644839"/>
            <a:ext cx="13991174" cy="858503"/>
          </a:xfrm>
          <a:prstGeom prst="rect">
            <a:avLst/>
          </a:prstGeom>
        </p:spPr>
        <p:txBody>
          <a:bodyPr anchor="t" rtlCol="false" tIns="0" lIns="0" bIns="0" rIns="0">
            <a:spAutoFit/>
          </a:bodyPr>
          <a:lstStyle/>
          <a:p>
            <a:pPr algn="l">
              <a:lnSpc>
                <a:spcPts val="6212"/>
              </a:lnSpc>
            </a:pPr>
            <a:r>
              <a:rPr lang="en-US" sz="5498">
                <a:solidFill>
                  <a:srgbClr val="131416"/>
                </a:solidFill>
                <a:latin typeface="Horizon"/>
                <a:ea typeface="Horizon"/>
                <a:cs typeface="Horizon"/>
                <a:sym typeface="Horizon"/>
              </a:rPr>
              <a:t>LA LÓGICA</a:t>
            </a:r>
          </a:p>
        </p:txBody>
      </p:sp>
      <p:sp>
        <p:nvSpPr>
          <p:cNvPr name="TextBox 4" id="4"/>
          <p:cNvSpPr txBox="true"/>
          <p:nvPr/>
        </p:nvSpPr>
        <p:spPr>
          <a:xfrm rot="0">
            <a:off x="8007134" y="1012178"/>
            <a:ext cx="9338087" cy="7493540"/>
          </a:xfrm>
          <a:prstGeom prst="rect">
            <a:avLst/>
          </a:prstGeom>
        </p:spPr>
        <p:txBody>
          <a:bodyPr anchor="t" rtlCol="false" tIns="0" lIns="0" bIns="0" rIns="0">
            <a:spAutoFit/>
          </a:bodyPr>
          <a:lstStyle/>
          <a:p>
            <a:pPr algn="just">
              <a:lnSpc>
                <a:spcPts val="5979"/>
              </a:lnSpc>
            </a:pPr>
            <a:r>
              <a:rPr lang="en-US" sz="4270">
                <a:solidFill>
                  <a:srgbClr val="131416"/>
                </a:solidFill>
                <a:latin typeface="Open Sans"/>
                <a:ea typeface="Open Sans"/>
                <a:cs typeface="Open Sans"/>
                <a:sym typeface="Open Sans"/>
              </a:rPr>
              <a:t>Hemos definido etimológicamente que es Lógica, que estudia y se ha</a:t>
            </a:r>
          </a:p>
          <a:p>
            <a:pPr algn="just">
              <a:lnSpc>
                <a:spcPts val="5979"/>
              </a:lnSpc>
            </a:pPr>
            <a:r>
              <a:rPr lang="en-US" sz="4270">
                <a:solidFill>
                  <a:srgbClr val="131416"/>
                </a:solidFill>
                <a:latin typeface="Open Sans"/>
                <a:ea typeface="Open Sans"/>
                <a:cs typeface="Open Sans"/>
                <a:sym typeface="Open Sans"/>
              </a:rPr>
              <a:t>mencionado la importancia de conocer sus leyes, ahora la pregunta es ¿Es la Lógica una ciencia?.</a:t>
            </a:r>
          </a:p>
          <a:p>
            <a:pPr algn="just">
              <a:lnSpc>
                <a:spcPts val="5979"/>
              </a:lnSpc>
            </a:pPr>
          </a:p>
          <a:p>
            <a:pPr algn="just">
              <a:lnSpc>
                <a:spcPts val="5979"/>
              </a:lnSpc>
            </a:pPr>
            <a:r>
              <a:rPr lang="en-US" sz="4270">
                <a:solidFill>
                  <a:srgbClr val="131416"/>
                </a:solidFill>
                <a:latin typeface="Open Sans"/>
                <a:ea typeface="Open Sans"/>
                <a:cs typeface="Open Sans"/>
                <a:sym typeface="Open Sans"/>
              </a:rPr>
              <a:t>Algunos científicos y hasta filósofos, le han negado a la Lógica el carácter de</a:t>
            </a:r>
          </a:p>
          <a:p>
            <a:pPr algn="just">
              <a:lnSpc>
                <a:spcPts val="5979"/>
              </a:lnSpc>
            </a:pPr>
            <a:r>
              <a:rPr lang="en-US" sz="4270">
                <a:solidFill>
                  <a:srgbClr val="131416"/>
                </a:solidFill>
                <a:latin typeface="Open Sans"/>
                <a:ea typeface="Open Sans"/>
                <a:cs typeface="Open Sans"/>
                <a:sym typeface="Open Sans"/>
              </a:rPr>
              <a:t>ciencia. La ven como una disciplina o rama de otras ciencias.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70906" y="2197743"/>
            <a:ext cx="7848376" cy="5891514"/>
          </a:xfrm>
          <a:custGeom>
            <a:avLst/>
            <a:gdLst/>
            <a:ahLst/>
            <a:cxnLst/>
            <a:rect r="r" b="b" t="t" l="l"/>
            <a:pathLst>
              <a:path h="5891514" w="7848376">
                <a:moveTo>
                  <a:pt x="0" y="0"/>
                </a:moveTo>
                <a:lnTo>
                  <a:pt x="7848376" y="0"/>
                </a:lnTo>
                <a:lnTo>
                  <a:pt x="7848376" y="5891514"/>
                </a:lnTo>
                <a:lnTo>
                  <a:pt x="0" y="5891514"/>
                </a:lnTo>
                <a:lnTo>
                  <a:pt x="0" y="0"/>
                </a:lnTo>
                <a:close/>
              </a:path>
            </a:pathLst>
          </a:custGeom>
          <a:blipFill>
            <a:blip r:embed="rId2"/>
            <a:stretch>
              <a:fillRect l="0" t="0" r="0" b="0"/>
            </a:stretch>
          </a:blipFill>
        </p:spPr>
      </p:sp>
      <p:sp>
        <p:nvSpPr>
          <p:cNvPr name="TextBox 3" id="3"/>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131416"/>
                </a:solidFill>
                <a:latin typeface="Horizon"/>
                <a:ea typeface="Horizon"/>
                <a:cs typeface="Horizon"/>
                <a:sym typeface="Horizon"/>
              </a:rPr>
              <a:t>NATURALEZA DE LA CIENCIA</a:t>
            </a:r>
          </a:p>
        </p:txBody>
      </p:sp>
      <p:sp>
        <p:nvSpPr>
          <p:cNvPr name="TextBox 4" id="4"/>
          <p:cNvSpPr txBox="true"/>
          <p:nvPr/>
        </p:nvSpPr>
        <p:spPr>
          <a:xfrm rot="0">
            <a:off x="783710" y="3401347"/>
            <a:ext cx="8028233" cy="3692525"/>
          </a:xfrm>
          <a:prstGeom prst="rect">
            <a:avLst/>
          </a:prstGeom>
        </p:spPr>
        <p:txBody>
          <a:bodyPr anchor="t" rtlCol="false" tIns="0" lIns="0" bIns="0" rIns="0">
            <a:spAutoFit/>
          </a:bodyPr>
          <a:lstStyle/>
          <a:p>
            <a:pPr algn="just" marL="755651" indent="-377825" lvl="1">
              <a:lnSpc>
                <a:spcPts val="4900"/>
              </a:lnSpc>
              <a:buFont typeface="Arial"/>
              <a:buChar char="•"/>
            </a:pPr>
            <a:r>
              <a:rPr lang="en-US" b="true" sz="3500">
                <a:solidFill>
                  <a:srgbClr val="131416"/>
                </a:solidFill>
                <a:latin typeface="Open Sans Bold"/>
                <a:ea typeface="Open Sans Bold"/>
                <a:cs typeface="Open Sans Bold"/>
                <a:sym typeface="Open Sans Bold"/>
              </a:rPr>
              <a:t>Material: </a:t>
            </a:r>
            <a:r>
              <a:rPr lang="en-US" sz="3500">
                <a:solidFill>
                  <a:srgbClr val="131416"/>
                </a:solidFill>
                <a:latin typeface="Open Sans"/>
                <a:ea typeface="Open Sans"/>
                <a:cs typeface="Open Sans"/>
                <a:sym typeface="Open Sans"/>
              </a:rPr>
              <a:t>Se refiere al ente en sí que estudia, el contenido o tema.</a:t>
            </a:r>
          </a:p>
          <a:p>
            <a:pPr algn="just">
              <a:lnSpc>
                <a:spcPts val="4900"/>
              </a:lnSpc>
            </a:pPr>
          </a:p>
          <a:p>
            <a:pPr algn="just" marL="755651" indent="-377825" lvl="1">
              <a:lnSpc>
                <a:spcPts val="4900"/>
              </a:lnSpc>
              <a:buFont typeface="Arial"/>
              <a:buChar char="•"/>
            </a:pPr>
            <a:r>
              <a:rPr lang="en-US" b="true" sz="3500">
                <a:solidFill>
                  <a:srgbClr val="131416"/>
                </a:solidFill>
                <a:latin typeface="Open Sans Bold"/>
                <a:ea typeface="Open Sans Bold"/>
                <a:cs typeface="Open Sans Bold"/>
                <a:sym typeface="Open Sans Bold"/>
              </a:rPr>
              <a:t>Formal: </a:t>
            </a:r>
            <a:r>
              <a:rPr lang="en-US" sz="3500">
                <a:solidFill>
                  <a:srgbClr val="131416"/>
                </a:solidFill>
                <a:latin typeface="Open Sans"/>
                <a:ea typeface="Open Sans"/>
                <a:cs typeface="Open Sans"/>
                <a:sym typeface="Open Sans"/>
              </a:rPr>
              <a:t>Se refiere a una de las características del tema que se estudia.</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74889" y="850129"/>
            <a:ext cx="15884411" cy="1040765"/>
          </a:xfrm>
          <a:prstGeom prst="rect">
            <a:avLst/>
          </a:prstGeom>
        </p:spPr>
        <p:txBody>
          <a:bodyPr anchor="t" rtlCol="false" tIns="0" lIns="0" bIns="0" rIns="0">
            <a:spAutoFit/>
          </a:bodyPr>
          <a:lstStyle/>
          <a:p>
            <a:pPr algn="l">
              <a:lnSpc>
                <a:spcPts val="3955"/>
              </a:lnSpc>
            </a:pPr>
            <a:r>
              <a:rPr lang="en-US" sz="3500">
                <a:solidFill>
                  <a:srgbClr val="131416"/>
                </a:solidFill>
                <a:latin typeface="Horizon"/>
                <a:ea typeface="Horizon"/>
                <a:cs typeface="Horizon"/>
                <a:sym typeface="Horizon"/>
              </a:rPr>
              <a:t>EJEMPLOS DE NATURALEZA DOBLE EN LA CIENCIA</a:t>
            </a:r>
          </a:p>
        </p:txBody>
      </p:sp>
      <p:sp>
        <p:nvSpPr>
          <p:cNvPr name="TextBox 3" id="3"/>
          <p:cNvSpPr txBox="true"/>
          <p:nvPr/>
        </p:nvSpPr>
        <p:spPr>
          <a:xfrm rot="0">
            <a:off x="2233536" y="2650161"/>
            <a:ext cx="4898338" cy="4365625"/>
          </a:xfrm>
          <a:prstGeom prst="rect">
            <a:avLst/>
          </a:prstGeom>
        </p:spPr>
        <p:txBody>
          <a:bodyPr anchor="t" rtlCol="false" tIns="0" lIns="0" bIns="0" rIns="0">
            <a:spAutoFit/>
          </a:bodyPr>
          <a:lstStyle/>
          <a:p>
            <a:pPr algn="just">
              <a:lnSpc>
                <a:spcPts val="3499"/>
              </a:lnSpc>
            </a:pPr>
            <a:r>
              <a:rPr lang="en-US" sz="2499" b="true">
                <a:solidFill>
                  <a:srgbClr val="131416"/>
                </a:solidFill>
                <a:latin typeface="Open Sans Bold"/>
                <a:ea typeface="Open Sans Bold"/>
                <a:cs typeface="Open Sans Bold"/>
                <a:sym typeface="Open Sans Bold"/>
              </a:rPr>
              <a:t>Material:</a:t>
            </a:r>
          </a:p>
          <a:p>
            <a:pPr algn="just">
              <a:lnSpc>
                <a:spcPts val="3499"/>
              </a:lnSpc>
            </a:pPr>
            <a:r>
              <a:rPr lang="en-US" sz="2499">
                <a:solidFill>
                  <a:srgbClr val="131416"/>
                </a:solidFill>
                <a:latin typeface="Open Sans"/>
                <a:ea typeface="Open Sans"/>
                <a:cs typeface="Open Sans"/>
                <a:sym typeface="Open Sans"/>
              </a:rPr>
              <a:t>En física su estudio son los fenómenos físicos, en biología el estudio de los seres vivos; de la zoología los animales y de la Lógica el</a:t>
            </a:r>
          </a:p>
          <a:p>
            <a:pPr algn="just">
              <a:lnSpc>
                <a:spcPts val="3499"/>
              </a:lnSpc>
            </a:pPr>
            <a:r>
              <a:rPr lang="en-US" sz="2499">
                <a:solidFill>
                  <a:srgbClr val="131416"/>
                </a:solidFill>
                <a:latin typeface="Open Sans"/>
                <a:ea typeface="Open Sans"/>
                <a:cs typeface="Open Sans"/>
                <a:sym typeface="Open Sans"/>
              </a:rPr>
              <a:t>pensamiento. Estamos usando el término “material” como sinónimo de</a:t>
            </a:r>
          </a:p>
          <a:p>
            <a:pPr algn="just">
              <a:lnSpc>
                <a:spcPts val="3499"/>
              </a:lnSpc>
            </a:pPr>
            <a:r>
              <a:rPr lang="en-US" sz="2499">
                <a:solidFill>
                  <a:srgbClr val="131416"/>
                </a:solidFill>
                <a:latin typeface="Open Sans"/>
                <a:ea typeface="Open Sans"/>
                <a:cs typeface="Open Sans"/>
                <a:sym typeface="Open Sans"/>
              </a:rPr>
              <a:t>tema o estudio.</a:t>
            </a:r>
          </a:p>
        </p:txBody>
      </p:sp>
      <p:sp>
        <p:nvSpPr>
          <p:cNvPr name="TextBox 4" id="4"/>
          <p:cNvSpPr txBox="true"/>
          <p:nvPr/>
        </p:nvSpPr>
        <p:spPr>
          <a:xfrm rot="0">
            <a:off x="10217554" y="2650161"/>
            <a:ext cx="4898338" cy="5680075"/>
          </a:xfrm>
          <a:prstGeom prst="rect">
            <a:avLst/>
          </a:prstGeom>
        </p:spPr>
        <p:txBody>
          <a:bodyPr anchor="t" rtlCol="false" tIns="0" lIns="0" bIns="0" rIns="0">
            <a:spAutoFit/>
          </a:bodyPr>
          <a:lstStyle/>
          <a:p>
            <a:pPr algn="just">
              <a:lnSpc>
                <a:spcPts val="3499"/>
              </a:lnSpc>
            </a:pPr>
            <a:r>
              <a:rPr lang="en-US" sz="2499" b="true">
                <a:solidFill>
                  <a:srgbClr val="131416"/>
                </a:solidFill>
                <a:latin typeface="Open Sans Bold"/>
                <a:ea typeface="Open Sans Bold"/>
                <a:cs typeface="Open Sans Bold"/>
                <a:sym typeface="Open Sans Bold"/>
              </a:rPr>
              <a:t>Formal:</a:t>
            </a:r>
          </a:p>
          <a:p>
            <a:pPr algn="just">
              <a:lnSpc>
                <a:spcPts val="3499"/>
              </a:lnSpc>
            </a:pPr>
            <a:r>
              <a:rPr lang="en-US" sz="2499">
                <a:solidFill>
                  <a:srgbClr val="131416"/>
                </a:solidFill>
                <a:latin typeface="Open Sans"/>
                <a:ea typeface="Open Sans"/>
                <a:cs typeface="Open Sans"/>
                <a:sym typeface="Open Sans"/>
              </a:rPr>
              <a:t>Por ej</a:t>
            </a:r>
            <a:r>
              <a:rPr lang="en-US" sz="2499">
                <a:solidFill>
                  <a:srgbClr val="131416"/>
                </a:solidFill>
                <a:latin typeface="Open Sans"/>
                <a:ea typeface="Open Sans"/>
                <a:cs typeface="Open Sans"/>
                <a:sym typeface="Open Sans"/>
              </a:rPr>
              <a:t>emplo, un aspecto material tiene varias características que pueden</a:t>
            </a:r>
          </a:p>
          <a:p>
            <a:pPr algn="just">
              <a:lnSpc>
                <a:spcPts val="3499"/>
              </a:lnSpc>
            </a:pPr>
            <a:r>
              <a:rPr lang="en-US" sz="2499">
                <a:solidFill>
                  <a:srgbClr val="131416"/>
                </a:solidFill>
                <a:latin typeface="Open Sans"/>
                <a:ea typeface="Open Sans"/>
                <a:cs typeface="Open Sans"/>
                <a:sym typeface="Open Sans"/>
              </a:rPr>
              <a:t>estudiarse desde varias perspectivas y por tanto corresponder a diferentes</a:t>
            </a:r>
          </a:p>
          <a:p>
            <a:pPr algn="just">
              <a:lnSpc>
                <a:spcPts val="3499"/>
              </a:lnSpc>
            </a:pPr>
            <a:r>
              <a:rPr lang="en-US" sz="2499">
                <a:solidFill>
                  <a:srgbClr val="131416"/>
                </a:solidFill>
                <a:latin typeface="Open Sans"/>
                <a:ea typeface="Open Sans"/>
                <a:cs typeface="Open Sans"/>
                <a:sym typeface="Open Sans"/>
              </a:rPr>
              <a:t>ciencias. El hombre (aspecto material) en sus diferentes manifestaciones</a:t>
            </a:r>
          </a:p>
          <a:p>
            <a:pPr algn="just">
              <a:lnSpc>
                <a:spcPts val="3499"/>
              </a:lnSpc>
            </a:pPr>
            <a:r>
              <a:rPr lang="en-US" sz="2499">
                <a:solidFill>
                  <a:srgbClr val="131416"/>
                </a:solidFill>
                <a:latin typeface="Open Sans"/>
                <a:ea typeface="Open Sans"/>
                <a:cs typeface="Open Sans"/>
                <a:sym typeface="Open Sans"/>
              </a:rPr>
              <a:t>es estudiado por diversas ciencias: la psicología, sociología, historia, etc.</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481185" cy="10287000"/>
          </a:xfrm>
          <a:custGeom>
            <a:avLst/>
            <a:gdLst/>
            <a:ahLst/>
            <a:cxnLst/>
            <a:rect r="r" b="b" t="t" l="l"/>
            <a:pathLst>
              <a:path h="10287000" w="9481185">
                <a:moveTo>
                  <a:pt x="0" y="0"/>
                </a:moveTo>
                <a:lnTo>
                  <a:pt x="9481185" y="0"/>
                </a:lnTo>
                <a:lnTo>
                  <a:pt x="9481185"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9893392" y="263525"/>
            <a:ext cx="7862708" cy="1501775"/>
          </a:xfrm>
          <a:prstGeom prst="rect">
            <a:avLst/>
          </a:prstGeom>
        </p:spPr>
        <p:txBody>
          <a:bodyPr anchor="t" rtlCol="false" tIns="0" lIns="0" bIns="0" rIns="0">
            <a:spAutoFit/>
          </a:bodyPr>
          <a:lstStyle/>
          <a:p>
            <a:pPr algn="l">
              <a:lnSpc>
                <a:spcPts val="5650"/>
              </a:lnSpc>
            </a:pPr>
            <a:r>
              <a:rPr lang="en-US" sz="5000">
                <a:solidFill>
                  <a:srgbClr val="131416"/>
                </a:solidFill>
                <a:latin typeface="Horizon"/>
                <a:ea typeface="Horizon"/>
                <a:cs typeface="Horizon"/>
                <a:sym typeface="Horizon"/>
              </a:rPr>
              <a:t>LÓGICA Y LA SOCIOLOGÍA </a:t>
            </a:r>
          </a:p>
        </p:txBody>
      </p:sp>
      <p:sp>
        <p:nvSpPr>
          <p:cNvPr name="TextBox 4" id="4"/>
          <p:cNvSpPr txBox="true"/>
          <p:nvPr/>
        </p:nvSpPr>
        <p:spPr>
          <a:xfrm rot="0">
            <a:off x="9676691" y="2503665"/>
            <a:ext cx="8296109" cy="3580765"/>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Según l</a:t>
            </a:r>
            <a:r>
              <a:rPr lang="en-US" sz="3399">
                <a:solidFill>
                  <a:srgbClr val="131416"/>
                </a:solidFill>
                <a:latin typeface="Open Sans"/>
                <a:ea typeface="Open Sans"/>
                <a:cs typeface="Open Sans"/>
                <a:sym typeface="Open Sans"/>
              </a:rPr>
              <a:t>a sociología , el pensamiento y sus leyes dependen del grupo social. Este es el que impone las normas a que debe ajustarse y esas normas no son sino las que han demostrado a través del tiempo, ser eficaces.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16701" y="1453366"/>
            <a:ext cx="9893392" cy="6591472"/>
          </a:xfrm>
          <a:custGeom>
            <a:avLst/>
            <a:gdLst/>
            <a:ahLst/>
            <a:cxnLst/>
            <a:rect r="r" b="b" t="t" l="l"/>
            <a:pathLst>
              <a:path h="6591472" w="9893392">
                <a:moveTo>
                  <a:pt x="0" y="0"/>
                </a:moveTo>
                <a:lnTo>
                  <a:pt x="9893392" y="0"/>
                </a:lnTo>
                <a:lnTo>
                  <a:pt x="9893392" y="6591472"/>
                </a:lnTo>
                <a:lnTo>
                  <a:pt x="0" y="6591472"/>
                </a:lnTo>
                <a:lnTo>
                  <a:pt x="0" y="0"/>
                </a:lnTo>
                <a:close/>
              </a:path>
            </a:pathLst>
          </a:custGeom>
          <a:blipFill>
            <a:blip r:embed="rId2"/>
            <a:stretch>
              <a:fillRect l="0" t="0" r="0" b="0"/>
            </a:stretch>
          </a:blipFill>
        </p:spPr>
      </p:sp>
      <p:sp>
        <p:nvSpPr>
          <p:cNvPr name="TextBox 3" id="3"/>
          <p:cNvSpPr txBox="true"/>
          <p:nvPr/>
        </p:nvSpPr>
        <p:spPr>
          <a:xfrm rot="0">
            <a:off x="9893392" y="263525"/>
            <a:ext cx="7862708" cy="1501775"/>
          </a:xfrm>
          <a:prstGeom prst="rect">
            <a:avLst/>
          </a:prstGeom>
        </p:spPr>
        <p:txBody>
          <a:bodyPr anchor="t" rtlCol="false" tIns="0" lIns="0" bIns="0" rIns="0">
            <a:spAutoFit/>
          </a:bodyPr>
          <a:lstStyle/>
          <a:p>
            <a:pPr algn="l">
              <a:lnSpc>
                <a:spcPts val="5650"/>
              </a:lnSpc>
            </a:pPr>
            <a:r>
              <a:rPr lang="en-US" sz="5000">
                <a:solidFill>
                  <a:srgbClr val="131416"/>
                </a:solidFill>
                <a:latin typeface="Horizon"/>
                <a:ea typeface="Horizon"/>
                <a:cs typeface="Horizon"/>
                <a:sym typeface="Horizon"/>
              </a:rPr>
              <a:t>LÓGICA Y </a:t>
            </a:r>
          </a:p>
          <a:p>
            <a:pPr algn="l">
              <a:lnSpc>
                <a:spcPts val="5650"/>
              </a:lnSpc>
            </a:pPr>
            <a:r>
              <a:rPr lang="en-US" sz="5000">
                <a:solidFill>
                  <a:srgbClr val="131416"/>
                </a:solidFill>
                <a:latin typeface="Horizon"/>
                <a:ea typeface="Horizon"/>
                <a:cs typeface="Horizon"/>
                <a:sym typeface="Horizon"/>
              </a:rPr>
              <a:t>MATEMÁTICA</a:t>
            </a:r>
          </a:p>
        </p:txBody>
      </p:sp>
      <p:sp>
        <p:nvSpPr>
          <p:cNvPr name="TextBox 4" id="4"/>
          <p:cNvSpPr txBox="true"/>
          <p:nvPr/>
        </p:nvSpPr>
        <p:spPr>
          <a:xfrm rot="0">
            <a:off x="9676691" y="2503665"/>
            <a:ext cx="8296109" cy="5380990"/>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Los m</a:t>
            </a:r>
            <a:r>
              <a:rPr lang="en-US" sz="3399">
                <a:solidFill>
                  <a:srgbClr val="131416"/>
                </a:solidFill>
                <a:latin typeface="Open Sans"/>
                <a:ea typeface="Open Sans"/>
                <a:cs typeface="Open Sans"/>
                <a:sym typeface="Open Sans"/>
              </a:rPr>
              <a:t>atemáticos en su afán reduccionista, dicen que la Lógica al igual que la matemática, estudia las relaciones abstractas formales. Así cuando la Lógica</a:t>
            </a:r>
          </a:p>
          <a:p>
            <a:pPr algn="just">
              <a:lnSpc>
                <a:spcPts val="4759"/>
              </a:lnSpc>
            </a:pPr>
            <a:r>
              <a:rPr lang="en-US" sz="3399">
                <a:solidFill>
                  <a:srgbClr val="131416"/>
                </a:solidFill>
                <a:latin typeface="Open Sans"/>
                <a:ea typeface="Open Sans"/>
                <a:cs typeface="Open Sans"/>
                <a:sym typeface="Open Sans"/>
              </a:rPr>
              <a:t>expresa: “Todos los hombres son mortales; Sócrates </a:t>
            </a:r>
            <a:r>
              <a:rPr lang="en-US" sz="3399">
                <a:solidFill>
                  <a:srgbClr val="131416"/>
                </a:solidFill>
                <a:latin typeface="Open Sans"/>
                <a:ea typeface="Open Sans"/>
                <a:cs typeface="Open Sans"/>
                <a:sym typeface="Open Sans"/>
              </a:rPr>
              <a:t>es hombre, por lo tanto Sócrates es mortal”, ni Sócrates, ni los hombres, ni su mortalidad le interesan.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598348"/>
            <a:ext cx="9258300" cy="9258300"/>
          </a:xfrm>
          <a:custGeom>
            <a:avLst/>
            <a:gdLst/>
            <a:ahLst/>
            <a:cxnLst/>
            <a:rect r="r" b="b" t="t" l="l"/>
            <a:pathLst>
              <a:path h="9258300" w="9258300">
                <a:moveTo>
                  <a:pt x="0" y="0"/>
                </a:moveTo>
                <a:lnTo>
                  <a:pt x="9258300" y="0"/>
                </a:lnTo>
                <a:lnTo>
                  <a:pt x="9258300" y="9258300"/>
                </a:lnTo>
                <a:lnTo>
                  <a:pt x="0" y="9258300"/>
                </a:lnTo>
                <a:lnTo>
                  <a:pt x="0" y="0"/>
                </a:lnTo>
                <a:close/>
              </a:path>
            </a:pathLst>
          </a:custGeom>
          <a:blipFill>
            <a:blip r:embed="rId2"/>
            <a:stretch>
              <a:fillRect l="0" t="0" r="0" b="0"/>
            </a:stretch>
          </a:blipFill>
        </p:spPr>
      </p:sp>
      <p:sp>
        <p:nvSpPr>
          <p:cNvPr name="TextBox 3" id="3"/>
          <p:cNvSpPr txBox="true"/>
          <p:nvPr/>
        </p:nvSpPr>
        <p:spPr>
          <a:xfrm rot="0">
            <a:off x="9893392" y="263525"/>
            <a:ext cx="7862708" cy="1501775"/>
          </a:xfrm>
          <a:prstGeom prst="rect">
            <a:avLst/>
          </a:prstGeom>
        </p:spPr>
        <p:txBody>
          <a:bodyPr anchor="t" rtlCol="false" tIns="0" lIns="0" bIns="0" rIns="0">
            <a:spAutoFit/>
          </a:bodyPr>
          <a:lstStyle/>
          <a:p>
            <a:pPr algn="l">
              <a:lnSpc>
                <a:spcPts val="5650"/>
              </a:lnSpc>
            </a:pPr>
            <a:r>
              <a:rPr lang="en-US" sz="5000">
                <a:solidFill>
                  <a:srgbClr val="131416"/>
                </a:solidFill>
                <a:latin typeface="Horizon"/>
                <a:ea typeface="Horizon"/>
                <a:cs typeface="Horizon"/>
                <a:sym typeface="Horizon"/>
              </a:rPr>
              <a:t>LÓGICA Y LA</a:t>
            </a:r>
          </a:p>
          <a:p>
            <a:pPr algn="l">
              <a:lnSpc>
                <a:spcPts val="5650"/>
              </a:lnSpc>
            </a:pPr>
            <a:r>
              <a:rPr lang="en-US" sz="5000">
                <a:solidFill>
                  <a:srgbClr val="131416"/>
                </a:solidFill>
                <a:latin typeface="Horizon"/>
                <a:ea typeface="Horizon"/>
                <a:cs typeface="Horizon"/>
                <a:sym typeface="Horizon"/>
              </a:rPr>
              <a:t>GRAMÁTICA</a:t>
            </a:r>
          </a:p>
        </p:txBody>
      </p:sp>
      <p:sp>
        <p:nvSpPr>
          <p:cNvPr name="TextBox 4" id="4"/>
          <p:cNvSpPr txBox="true"/>
          <p:nvPr/>
        </p:nvSpPr>
        <p:spPr>
          <a:xfrm rot="0">
            <a:off x="9676691" y="2503665"/>
            <a:ext cx="8296109" cy="4780915"/>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Los gr</a:t>
            </a:r>
            <a:r>
              <a:rPr lang="en-US" sz="3399">
                <a:solidFill>
                  <a:srgbClr val="131416"/>
                </a:solidFill>
                <a:latin typeface="Open Sans"/>
                <a:ea typeface="Open Sans"/>
                <a:cs typeface="Open Sans"/>
                <a:sym typeface="Open Sans"/>
              </a:rPr>
              <a:t>amáticos argumentan que la única tarea de la Lógica consiste en estudiar</a:t>
            </a:r>
          </a:p>
          <a:p>
            <a:pPr algn="just">
              <a:lnSpc>
                <a:spcPts val="4759"/>
              </a:lnSpc>
            </a:pPr>
            <a:r>
              <a:rPr lang="en-US" sz="3399">
                <a:solidFill>
                  <a:srgbClr val="131416"/>
                </a:solidFill>
                <a:latin typeface="Open Sans"/>
                <a:ea typeface="Open Sans"/>
                <a:cs typeface="Open Sans"/>
                <a:sym typeface="Open Sans"/>
              </a:rPr>
              <a:t>las reglas de formación y transformación de las operaciones; es decir como pasar</a:t>
            </a:r>
          </a:p>
          <a:p>
            <a:pPr algn="just">
              <a:lnSpc>
                <a:spcPts val="4759"/>
              </a:lnSpc>
            </a:pPr>
            <a:r>
              <a:rPr lang="en-US" sz="3399">
                <a:solidFill>
                  <a:srgbClr val="131416"/>
                </a:solidFill>
                <a:latin typeface="Open Sans"/>
                <a:ea typeface="Open Sans"/>
                <a:cs typeface="Open Sans"/>
                <a:sym typeface="Open Sans"/>
              </a:rPr>
              <a:t>de una oración a otra. Y como el estudio de las reglas de formación de oraciones</a:t>
            </a:r>
          </a:p>
          <a:p>
            <a:pPr algn="just">
              <a:lnSpc>
                <a:spcPts val="4759"/>
              </a:lnSpc>
            </a:pPr>
            <a:r>
              <a:rPr lang="en-US" sz="3399">
                <a:solidFill>
                  <a:srgbClr val="131416"/>
                </a:solidFill>
                <a:latin typeface="Open Sans"/>
                <a:ea typeface="Open Sans"/>
                <a:cs typeface="Open Sans"/>
                <a:sym typeface="Open Sans"/>
              </a:rPr>
              <a:t>corresp</a:t>
            </a:r>
            <a:r>
              <a:rPr lang="en-US" sz="3399">
                <a:solidFill>
                  <a:srgbClr val="131416"/>
                </a:solidFill>
                <a:latin typeface="Open Sans"/>
                <a:ea typeface="Open Sans"/>
                <a:cs typeface="Open Sans"/>
                <a:sym typeface="Open Sans"/>
              </a:rPr>
              <a:t>onde a la gramática, entonces la Lógica es un capítulo de la gramática.</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34043" y="1600160"/>
            <a:ext cx="11301259" cy="6314578"/>
          </a:xfrm>
          <a:custGeom>
            <a:avLst/>
            <a:gdLst/>
            <a:ahLst/>
            <a:cxnLst/>
            <a:rect r="r" b="b" t="t" l="l"/>
            <a:pathLst>
              <a:path h="6314578" w="11301259">
                <a:moveTo>
                  <a:pt x="0" y="0"/>
                </a:moveTo>
                <a:lnTo>
                  <a:pt x="11301259" y="0"/>
                </a:lnTo>
                <a:lnTo>
                  <a:pt x="11301259" y="6314579"/>
                </a:lnTo>
                <a:lnTo>
                  <a:pt x="0" y="6314579"/>
                </a:lnTo>
                <a:lnTo>
                  <a:pt x="0" y="0"/>
                </a:lnTo>
                <a:close/>
              </a:path>
            </a:pathLst>
          </a:custGeom>
          <a:blipFill>
            <a:blip r:embed="rId2"/>
            <a:stretch>
              <a:fillRect l="0" t="0" r="0" b="0"/>
            </a:stretch>
          </a:blipFill>
        </p:spPr>
      </p:sp>
      <p:sp>
        <p:nvSpPr>
          <p:cNvPr name="TextBox 3" id="3"/>
          <p:cNvSpPr txBox="true"/>
          <p:nvPr/>
        </p:nvSpPr>
        <p:spPr>
          <a:xfrm rot="0">
            <a:off x="9893392" y="263525"/>
            <a:ext cx="7862708" cy="1501775"/>
          </a:xfrm>
          <a:prstGeom prst="rect">
            <a:avLst/>
          </a:prstGeom>
        </p:spPr>
        <p:txBody>
          <a:bodyPr anchor="t" rtlCol="false" tIns="0" lIns="0" bIns="0" rIns="0">
            <a:spAutoFit/>
          </a:bodyPr>
          <a:lstStyle/>
          <a:p>
            <a:pPr algn="l">
              <a:lnSpc>
                <a:spcPts val="5650"/>
              </a:lnSpc>
            </a:pPr>
            <a:r>
              <a:rPr lang="en-US" sz="5000">
                <a:solidFill>
                  <a:srgbClr val="131416"/>
                </a:solidFill>
                <a:latin typeface="Horizon"/>
                <a:ea typeface="Horizon"/>
                <a:cs typeface="Horizon"/>
                <a:sym typeface="Horizon"/>
              </a:rPr>
              <a:t>LÓGICA Y LA</a:t>
            </a:r>
          </a:p>
          <a:p>
            <a:pPr algn="l">
              <a:lnSpc>
                <a:spcPts val="5650"/>
              </a:lnSpc>
            </a:pPr>
            <a:r>
              <a:rPr lang="en-US" sz="5000">
                <a:solidFill>
                  <a:srgbClr val="131416"/>
                </a:solidFill>
                <a:latin typeface="Horizon"/>
                <a:ea typeface="Horizon"/>
                <a:cs typeface="Horizon"/>
                <a:sym typeface="Horizon"/>
              </a:rPr>
              <a:t>FILOSOFÍA </a:t>
            </a:r>
          </a:p>
        </p:txBody>
      </p:sp>
      <p:sp>
        <p:nvSpPr>
          <p:cNvPr name="TextBox 4" id="4"/>
          <p:cNvSpPr txBox="true"/>
          <p:nvPr/>
        </p:nvSpPr>
        <p:spPr>
          <a:xfrm rot="0">
            <a:off x="9676691" y="2503665"/>
            <a:ext cx="8296109" cy="4780915"/>
          </a:xfrm>
          <a:prstGeom prst="rect">
            <a:avLst/>
          </a:prstGeom>
        </p:spPr>
        <p:txBody>
          <a:bodyPr anchor="t" rtlCol="false" tIns="0" lIns="0" bIns="0" rIns="0">
            <a:spAutoFit/>
          </a:bodyPr>
          <a:lstStyle/>
          <a:p>
            <a:pPr algn="just">
              <a:lnSpc>
                <a:spcPts val="4759"/>
              </a:lnSpc>
            </a:pPr>
            <a:r>
              <a:rPr lang="en-US" sz="3399">
                <a:solidFill>
                  <a:srgbClr val="131416"/>
                </a:solidFill>
                <a:latin typeface="Open Sans"/>
                <a:ea typeface="Open Sans"/>
                <a:cs typeface="Open Sans"/>
                <a:sym typeface="Open Sans"/>
              </a:rPr>
              <a:t>Es su devenir, l</a:t>
            </a:r>
            <a:r>
              <a:rPr lang="en-US" sz="3399">
                <a:solidFill>
                  <a:srgbClr val="131416"/>
                </a:solidFill>
                <a:latin typeface="Open Sans"/>
                <a:ea typeface="Open Sans"/>
                <a:cs typeface="Open Sans"/>
                <a:sym typeface="Open Sans"/>
              </a:rPr>
              <a:t>a filosofía camina sobre sus andadores que la Lógica le prepara y</a:t>
            </a:r>
          </a:p>
          <a:p>
            <a:pPr algn="just">
              <a:lnSpc>
                <a:spcPts val="4759"/>
              </a:lnSpc>
            </a:pPr>
            <a:r>
              <a:rPr lang="en-US" sz="3399">
                <a:solidFill>
                  <a:srgbClr val="131416"/>
                </a:solidFill>
                <a:latin typeface="Open Sans"/>
                <a:ea typeface="Open Sans"/>
                <a:cs typeface="Open Sans"/>
                <a:sym typeface="Open Sans"/>
              </a:rPr>
              <a:t>la Lógica se desarrolla en la medida que la filosofía busca explicarse la realidad.</a:t>
            </a:r>
          </a:p>
          <a:p>
            <a:pPr algn="just">
              <a:lnSpc>
                <a:spcPts val="4759"/>
              </a:lnSpc>
            </a:pPr>
            <a:r>
              <a:rPr lang="en-US" sz="3399">
                <a:solidFill>
                  <a:srgbClr val="131416"/>
                </a:solidFill>
                <a:latin typeface="Open Sans"/>
                <a:ea typeface="Open Sans"/>
                <a:cs typeface="Open Sans"/>
                <a:sym typeface="Open Sans"/>
              </a:rPr>
              <a:t>Así la Lógica va detrás de la filosofía hasta que Aristóteles la saca </a:t>
            </a:r>
            <a:r>
              <a:rPr lang="en-US" sz="3399">
                <a:solidFill>
                  <a:srgbClr val="131416"/>
                </a:solidFill>
                <a:latin typeface="Open Sans"/>
                <a:ea typeface="Open Sans"/>
                <a:cs typeface="Open Sans"/>
                <a:sym typeface="Open Sans"/>
              </a:rPr>
              <a:t>del anonimato y la presenta como la ciencia del logos, del razonamiento.</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131416"/>
                </a:solidFill>
                <a:latin typeface="Horizon"/>
                <a:ea typeface="Horizon"/>
                <a:cs typeface="Horizon"/>
                <a:sym typeface="Horizon"/>
              </a:rPr>
              <a:t>LÓGICA COMO CIENCIA </a:t>
            </a:r>
          </a:p>
        </p:txBody>
      </p:sp>
      <p:sp>
        <p:nvSpPr>
          <p:cNvPr name="TextBox 3" id="3"/>
          <p:cNvSpPr txBox="true"/>
          <p:nvPr/>
        </p:nvSpPr>
        <p:spPr>
          <a:xfrm rot="0">
            <a:off x="1338901" y="1908240"/>
            <a:ext cx="16126564" cy="7407275"/>
          </a:xfrm>
          <a:prstGeom prst="rect">
            <a:avLst/>
          </a:prstGeom>
        </p:spPr>
        <p:txBody>
          <a:bodyPr anchor="t" rtlCol="false" tIns="0" lIns="0" bIns="0" rIns="0">
            <a:spAutoFit/>
          </a:bodyPr>
          <a:lstStyle/>
          <a:p>
            <a:pPr algn="just">
              <a:lnSpc>
                <a:spcPts val="4900"/>
              </a:lnSpc>
            </a:pPr>
            <a:r>
              <a:rPr lang="en-US" sz="3500">
                <a:solidFill>
                  <a:srgbClr val="131416"/>
                </a:solidFill>
                <a:latin typeface="Open Sans"/>
                <a:ea typeface="Open Sans"/>
                <a:cs typeface="Open Sans"/>
                <a:sym typeface="Open Sans"/>
              </a:rPr>
              <a:t>Ahora que hemos aclarado en el módulo anterior la situación de la Lógica con otras ciencias, podemos concentrarnos ahora en ver los aspectos de la Lógica como ciencia.</a:t>
            </a:r>
          </a:p>
          <a:p>
            <a:pPr algn="just">
              <a:lnSpc>
                <a:spcPts val="4900"/>
              </a:lnSpc>
            </a:pPr>
            <a:r>
              <a:rPr lang="en-US" sz="3500">
                <a:solidFill>
                  <a:srgbClr val="131416"/>
                </a:solidFill>
                <a:latin typeface="Open Sans"/>
                <a:ea typeface="Open Sans"/>
                <a:cs typeface="Open Sans"/>
                <a:sym typeface="Open Sans"/>
              </a:rPr>
              <a:t>Como una ciencia la Lógica tiene:</a:t>
            </a:r>
          </a:p>
          <a:p>
            <a:pPr algn="just">
              <a:lnSpc>
                <a:spcPts val="4900"/>
              </a:lnSpc>
            </a:pPr>
          </a:p>
          <a:p>
            <a:pPr algn="just">
              <a:lnSpc>
                <a:spcPts val="4900"/>
              </a:lnSpc>
            </a:pPr>
            <a:r>
              <a:rPr lang="en-US" sz="3500" b="true">
                <a:solidFill>
                  <a:srgbClr val="131416"/>
                </a:solidFill>
                <a:latin typeface="Open Sans Bold"/>
                <a:ea typeface="Open Sans Bold"/>
                <a:cs typeface="Open Sans Bold"/>
                <a:sym typeface="Open Sans Bold"/>
              </a:rPr>
              <a:t>Objeto de estudio: </a:t>
            </a:r>
            <a:r>
              <a:rPr lang="en-US" sz="3500">
                <a:solidFill>
                  <a:srgbClr val="131416"/>
                </a:solidFill>
                <a:latin typeface="Open Sans"/>
                <a:ea typeface="Open Sans"/>
                <a:cs typeface="Open Sans"/>
                <a:sym typeface="Open Sans"/>
              </a:rPr>
              <a:t>La lógica tiene como objeto de estudio los principios y leyes que debe cumplir el pensamiento o razón para ser correcto o verdadero; cuales son los principios y normas para definir el pensamiento.</a:t>
            </a:r>
          </a:p>
          <a:p>
            <a:pPr algn="just">
              <a:lnSpc>
                <a:spcPts val="4900"/>
              </a:lnSpc>
            </a:pPr>
          </a:p>
          <a:p>
            <a:pPr algn="just">
              <a:lnSpc>
                <a:spcPts val="4900"/>
              </a:lnSpc>
            </a:pPr>
            <a:r>
              <a:rPr lang="en-US" sz="3500" b="true">
                <a:solidFill>
                  <a:srgbClr val="131416"/>
                </a:solidFill>
                <a:latin typeface="Open Sans Bold"/>
                <a:ea typeface="Open Sans Bold"/>
                <a:cs typeface="Open Sans Bold"/>
                <a:sym typeface="Open Sans Bold"/>
              </a:rPr>
              <a:t>Método de estudio: </a:t>
            </a:r>
            <a:r>
              <a:rPr lang="en-US" sz="3500">
                <a:solidFill>
                  <a:srgbClr val="131416"/>
                </a:solidFill>
                <a:latin typeface="Open Sans"/>
                <a:ea typeface="Open Sans"/>
                <a:cs typeface="Open Sans"/>
                <a:sym typeface="Open Sans"/>
              </a:rPr>
              <a:t>El método de estudio de la lógica, como método científico, es riguroso, la duda no tiene cabida en el, salvo como objeto de estudio o recurso para encontrar la verdad, además tiende a la exactitud.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132736" y="1786238"/>
            <a:ext cx="16126564" cy="37147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En este punto ya podemos dar definición formal de la Lógica. Lógica es la ciencia que estudia las leyes del pensamiento, su estructura y sus formas y relaciones, así como la estructura de la ciencia y su metodología.</a:t>
            </a:r>
          </a:p>
          <a:p>
            <a:pPr algn="just">
              <a:lnSpc>
                <a:spcPts val="4200"/>
              </a:lnSpc>
            </a:pPr>
          </a:p>
          <a:p>
            <a:pPr algn="just">
              <a:lnSpc>
                <a:spcPts val="4200"/>
              </a:lnSpc>
            </a:pPr>
            <a:r>
              <a:rPr lang="en-US" sz="3000">
                <a:solidFill>
                  <a:srgbClr val="131416"/>
                </a:solidFill>
                <a:latin typeface="Open Sans"/>
                <a:ea typeface="Open Sans"/>
                <a:cs typeface="Open Sans"/>
                <a:sym typeface="Open Sans"/>
              </a:rPr>
              <a:t>Acorde a la utilidad de la lógica hay algunas preguntas que podemos hacernos:</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¿A mi para que me sirve la lógica?</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¿Qué beneficios obtendré de su conocimiento?</a:t>
            </a:r>
          </a:p>
        </p:txBody>
      </p:sp>
      <p:sp>
        <p:nvSpPr>
          <p:cNvPr name="Freeform 3" id="3"/>
          <p:cNvSpPr/>
          <p:nvPr/>
        </p:nvSpPr>
        <p:spPr>
          <a:xfrm flipH="false" flipV="false" rot="0">
            <a:off x="9775127" y="6016908"/>
            <a:ext cx="4770590" cy="3577942"/>
          </a:xfrm>
          <a:custGeom>
            <a:avLst/>
            <a:gdLst/>
            <a:ahLst/>
            <a:cxnLst/>
            <a:rect r="r" b="b" t="t" l="l"/>
            <a:pathLst>
              <a:path h="3577942" w="4770590">
                <a:moveTo>
                  <a:pt x="0" y="0"/>
                </a:moveTo>
                <a:lnTo>
                  <a:pt x="4770590" y="0"/>
                </a:lnTo>
                <a:lnTo>
                  <a:pt x="4770590" y="3577942"/>
                </a:lnTo>
                <a:lnTo>
                  <a:pt x="0" y="3577942"/>
                </a:lnTo>
                <a:lnTo>
                  <a:pt x="0" y="0"/>
                </a:lnTo>
                <a:close/>
              </a:path>
            </a:pathLst>
          </a:custGeom>
          <a:blipFill>
            <a:blip r:embed="rId2"/>
            <a:stretch>
              <a:fillRect l="0" t="0" r="0" b="0"/>
            </a:stretch>
          </a:blipFill>
        </p:spPr>
      </p:sp>
      <p:sp>
        <p:nvSpPr>
          <p:cNvPr name="TextBox 4" id="4"/>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131416"/>
                </a:solidFill>
                <a:latin typeface="Horizon"/>
                <a:ea typeface="Horizon"/>
                <a:cs typeface="Horizon"/>
                <a:sym typeface="Horizon"/>
              </a:rPr>
              <a:t>DEFINICIÓN FORMAL DE LA LÓGICA</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131416"/>
                </a:solidFill>
                <a:latin typeface="Horizon"/>
                <a:ea typeface="Horizon"/>
                <a:cs typeface="Horizon"/>
                <a:sym typeface="Horizon"/>
              </a:rPr>
              <a:t>ESTRUCTURA FUNDAMENTAL DE LA LÓGICA</a:t>
            </a:r>
          </a:p>
        </p:txBody>
      </p:sp>
      <p:sp>
        <p:nvSpPr>
          <p:cNvPr name="TextBox 3" id="3"/>
          <p:cNvSpPr txBox="true"/>
          <p:nvPr/>
        </p:nvSpPr>
        <p:spPr>
          <a:xfrm rot="0">
            <a:off x="1028700" y="1608762"/>
            <a:ext cx="16412982" cy="10971897"/>
          </a:xfrm>
          <a:prstGeom prst="rect">
            <a:avLst/>
          </a:prstGeom>
        </p:spPr>
        <p:txBody>
          <a:bodyPr anchor="t" rtlCol="false" tIns="0" lIns="0" bIns="0" rIns="0">
            <a:spAutoFit/>
          </a:bodyPr>
          <a:lstStyle/>
          <a:p>
            <a:pPr algn="just" marL="898260" indent="-449130" lvl="1">
              <a:lnSpc>
                <a:spcPts val="5824"/>
              </a:lnSpc>
              <a:buFont typeface="Arial"/>
              <a:buChar char="•"/>
            </a:pPr>
            <a:r>
              <a:rPr lang="en-US" b="true" sz="4160">
                <a:solidFill>
                  <a:srgbClr val="131416"/>
                </a:solidFill>
                <a:latin typeface="Open Sans Bold"/>
                <a:ea typeface="Open Sans Bold"/>
                <a:cs typeface="Open Sans Bold"/>
                <a:sym typeface="Open Sans Bold"/>
              </a:rPr>
              <a:t>La apofántica:</a:t>
            </a:r>
            <a:r>
              <a:rPr lang="en-US" sz="4160">
                <a:solidFill>
                  <a:srgbClr val="131416"/>
                </a:solidFill>
                <a:latin typeface="Open Sans"/>
                <a:ea typeface="Open Sans"/>
                <a:cs typeface="Open Sans"/>
                <a:sym typeface="Open Sans"/>
              </a:rPr>
              <a:t> es predicación o juicio y es la operación que determina el material de conocimiento y este consta de 3 partes: </a:t>
            </a:r>
            <a:r>
              <a:rPr lang="en-US" b="true" sz="4160">
                <a:solidFill>
                  <a:srgbClr val="131416"/>
                </a:solidFill>
                <a:latin typeface="Open Sans Bold"/>
                <a:ea typeface="Open Sans Bold"/>
                <a:cs typeface="Open Sans Bold"/>
                <a:sym typeface="Open Sans Bold"/>
              </a:rPr>
              <a:t>Concepto, Juicio y Razonamiento.</a:t>
            </a:r>
          </a:p>
          <a:p>
            <a:pPr algn="just" marL="898260" indent="-449130" lvl="1">
              <a:lnSpc>
                <a:spcPts val="5824"/>
              </a:lnSpc>
              <a:buFont typeface="Arial"/>
              <a:buChar char="•"/>
            </a:pPr>
            <a:r>
              <a:rPr lang="en-US" b="true" sz="4160">
                <a:solidFill>
                  <a:srgbClr val="131416"/>
                </a:solidFill>
                <a:latin typeface="Open Sans Bold"/>
                <a:ea typeface="Open Sans Bold"/>
                <a:cs typeface="Open Sans Bold"/>
                <a:sym typeface="Open Sans Bold"/>
              </a:rPr>
              <a:t>La teorética: </a:t>
            </a:r>
            <a:r>
              <a:rPr lang="en-US" sz="4160">
                <a:solidFill>
                  <a:srgbClr val="131416"/>
                </a:solidFill>
                <a:latin typeface="Open Sans"/>
                <a:ea typeface="Open Sans"/>
                <a:cs typeface="Open Sans"/>
                <a:sym typeface="Open Sans"/>
              </a:rPr>
              <a:t>es el planteamiento y solución de un problema específico en la consecución de nuestros objetivos.</a:t>
            </a:r>
          </a:p>
          <a:p>
            <a:pPr algn="just" marL="898260" indent="-449130" lvl="1">
              <a:lnSpc>
                <a:spcPts val="5824"/>
              </a:lnSpc>
              <a:buFont typeface="Arial"/>
              <a:buChar char="•"/>
            </a:pPr>
            <a:r>
              <a:rPr lang="en-US" b="true" sz="4160">
                <a:solidFill>
                  <a:srgbClr val="131416"/>
                </a:solidFill>
                <a:latin typeface="Open Sans Bold"/>
                <a:ea typeface="Open Sans Bold"/>
                <a:cs typeface="Open Sans Bold"/>
                <a:sym typeface="Open Sans Bold"/>
              </a:rPr>
              <a:t>El método científico:</a:t>
            </a:r>
            <a:r>
              <a:rPr lang="en-US" sz="4160">
                <a:solidFill>
                  <a:srgbClr val="131416"/>
                </a:solidFill>
                <a:latin typeface="Open Sans"/>
                <a:ea typeface="Open Sans"/>
                <a:cs typeface="Open Sans"/>
                <a:sym typeface="Open Sans"/>
              </a:rPr>
              <a:t> es lo que podemos utilizar como facilitadora de trabajo de investigación, los pasos a seguir en el planteamiento y solución de un problema.</a:t>
            </a:r>
          </a:p>
          <a:p>
            <a:pPr algn="just" marL="898260" indent="-449130" lvl="1">
              <a:lnSpc>
                <a:spcPts val="5824"/>
              </a:lnSpc>
              <a:buFont typeface="Arial"/>
              <a:buChar char="•"/>
            </a:pPr>
            <a:r>
              <a:rPr lang="en-US" b="true" sz="4160">
                <a:solidFill>
                  <a:srgbClr val="131416"/>
                </a:solidFill>
                <a:latin typeface="Open Sans Bold"/>
                <a:ea typeface="Open Sans Bold"/>
                <a:cs typeface="Open Sans Bold"/>
                <a:sym typeface="Open Sans Bold"/>
              </a:rPr>
              <a:t>La Lógica Matemática: </a:t>
            </a:r>
            <a:r>
              <a:rPr lang="en-US" sz="4160">
                <a:solidFill>
                  <a:srgbClr val="131416"/>
                </a:solidFill>
                <a:latin typeface="Open Sans"/>
                <a:ea typeface="Open Sans"/>
                <a:cs typeface="Open Sans"/>
                <a:sym typeface="Open Sans"/>
              </a:rPr>
              <a:t>es la formulación extrema de la logica, en la que nos lleva a conseguir una abstracción y precisión similar al de matemática. </a:t>
            </a:r>
          </a:p>
          <a:p>
            <a:pPr algn="just">
              <a:lnSpc>
                <a:spcPts val="5824"/>
              </a:lnSpc>
            </a:pPr>
          </a:p>
          <a:p>
            <a:pPr algn="just">
              <a:lnSpc>
                <a:spcPts val="5824"/>
              </a:lnSpc>
            </a:pPr>
          </a:p>
          <a:p>
            <a:pPr algn="just">
              <a:lnSpc>
                <a:spcPts val="5824"/>
              </a:lnSpc>
            </a:pPr>
          </a:p>
          <a:p>
            <a:pPr algn="just">
              <a:lnSpc>
                <a:spcPts val="5824"/>
              </a:lnSpc>
            </a:pP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131416"/>
                </a:solidFill>
                <a:latin typeface="Horizon"/>
                <a:ea typeface="Horizon"/>
                <a:cs typeface="Horizon"/>
                <a:sym typeface="Horizon"/>
              </a:rPr>
              <a:t>SISTEMA, SUBSISTEMA Y SUPRASISTEMA</a:t>
            </a:r>
          </a:p>
        </p:txBody>
      </p:sp>
      <p:sp>
        <p:nvSpPr>
          <p:cNvPr name="TextBox 3" id="3"/>
          <p:cNvSpPr txBox="true"/>
          <p:nvPr/>
        </p:nvSpPr>
        <p:spPr>
          <a:xfrm rot="0">
            <a:off x="651214" y="1567567"/>
            <a:ext cx="16126564" cy="9048750"/>
          </a:xfrm>
          <a:prstGeom prst="rect">
            <a:avLst/>
          </a:prstGeom>
        </p:spPr>
        <p:txBody>
          <a:bodyPr anchor="t" rtlCol="false" tIns="0" lIns="0" bIns="0" rIns="0">
            <a:spAutoFit/>
          </a:bodyPr>
          <a:lstStyle/>
          <a:p>
            <a:pPr algn="just">
              <a:lnSpc>
                <a:spcPts val="4200"/>
              </a:lnSpc>
            </a:pPr>
            <a:r>
              <a:rPr lang="en-US" sz="3000">
                <a:solidFill>
                  <a:srgbClr val="131416"/>
                </a:solidFill>
                <a:latin typeface="Open Sans"/>
                <a:ea typeface="Open Sans"/>
                <a:cs typeface="Open Sans"/>
                <a:sym typeface="Open Sans"/>
              </a:rPr>
              <a:t>Lo que define a un sistema es el conjunto de elementos o partes organizadas que</a:t>
            </a:r>
          </a:p>
          <a:p>
            <a:pPr algn="just">
              <a:lnSpc>
                <a:spcPts val="4200"/>
              </a:lnSpc>
            </a:pPr>
            <a:r>
              <a:rPr lang="en-US" sz="3000">
                <a:solidFill>
                  <a:srgbClr val="131416"/>
                </a:solidFill>
                <a:latin typeface="Open Sans"/>
                <a:ea typeface="Open Sans"/>
                <a:cs typeface="Open Sans"/>
                <a:sym typeface="Open Sans"/>
              </a:rPr>
              <a:t>interactúan entre sí para lograr un objetivo. Es un conjunto organizado de elementos que</a:t>
            </a:r>
          </a:p>
          <a:p>
            <a:pPr algn="just">
              <a:lnSpc>
                <a:spcPts val="4200"/>
              </a:lnSpc>
            </a:pPr>
            <a:r>
              <a:rPr lang="en-US" sz="3000">
                <a:solidFill>
                  <a:srgbClr val="131416"/>
                </a:solidFill>
                <a:latin typeface="Open Sans"/>
                <a:ea typeface="Open Sans"/>
                <a:cs typeface="Open Sans"/>
                <a:sym typeface="Open Sans"/>
              </a:rPr>
              <a:t>interactúan entre sí o son interdependientes, logrando formar un todo complejo que sea</a:t>
            </a:r>
          </a:p>
          <a:p>
            <a:pPr algn="just">
              <a:lnSpc>
                <a:spcPts val="4200"/>
              </a:lnSpc>
            </a:pPr>
            <a:r>
              <a:rPr lang="en-US" sz="3000">
                <a:solidFill>
                  <a:srgbClr val="131416"/>
                </a:solidFill>
                <a:latin typeface="Open Sans"/>
                <a:ea typeface="Open Sans"/>
                <a:cs typeface="Open Sans"/>
                <a:sym typeface="Open Sans"/>
              </a:rPr>
              <a:t>identificable y distinto. Un sistema puede ser cualquier objeto, cualquier región del</a:t>
            </a:r>
          </a:p>
          <a:p>
            <a:pPr algn="just">
              <a:lnSpc>
                <a:spcPts val="4200"/>
              </a:lnSpc>
            </a:pPr>
            <a:r>
              <a:rPr lang="en-US" sz="3000">
                <a:solidFill>
                  <a:srgbClr val="131416"/>
                </a:solidFill>
                <a:latin typeface="Open Sans"/>
                <a:ea typeface="Open Sans"/>
                <a:cs typeface="Open Sans"/>
                <a:sym typeface="Open Sans"/>
              </a:rPr>
              <a:t>espacio, posee una entrada, esta puede ser de datos, energía, o materia.</a:t>
            </a:r>
            <a:r>
              <a:rPr lang="en-US" sz="3000" b="true">
                <a:solidFill>
                  <a:srgbClr val="131416"/>
                </a:solidFill>
                <a:latin typeface="Open Sans Bold"/>
                <a:ea typeface="Open Sans Bold"/>
                <a:cs typeface="Open Sans Bold"/>
                <a:sym typeface="Open Sans Bold"/>
              </a:rPr>
              <a:t> </a:t>
            </a:r>
            <a:r>
              <a:rPr lang="en-US" b="true" sz="3000">
                <a:solidFill>
                  <a:srgbClr val="131416"/>
                </a:solidFill>
                <a:latin typeface="Open Sans Bold"/>
                <a:ea typeface="Open Sans Bold"/>
                <a:cs typeface="Open Sans Bold"/>
                <a:sym typeface="Open Sans Bold"/>
              </a:rPr>
              <a:t>Ejemplo:</a:t>
            </a:r>
          </a:p>
          <a:p>
            <a:pPr algn="just">
              <a:lnSpc>
                <a:spcPts val="4200"/>
              </a:lnSpc>
            </a:pPr>
            <a:r>
              <a:rPr lang="en-US" sz="3000">
                <a:solidFill>
                  <a:srgbClr val="131416"/>
                </a:solidFill>
                <a:latin typeface="Open Sans"/>
                <a:ea typeface="Open Sans"/>
                <a:cs typeface="Open Sans"/>
                <a:sym typeface="Open Sans"/>
              </a:rPr>
              <a:t>Visualicemos esto con un ejemplo (colocar una imagen del Universo, que incluya la Vía</a:t>
            </a:r>
          </a:p>
          <a:p>
            <a:pPr algn="just">
              <a:lnSpc>
                <a:spcPts val="4200"/>
              </a:lnSpc>
            </a:pPr>
            <a:r>
              <a:rPr lang="en-US" sz="3000">
                <a:solidFill>
                  <a:srgbClr val="131416"/>
                </a:solidFill>
                <a:latin typeface="Open Sans"/>
                <a:ea typeface="Open Sans"/>
                <a:cs typeface="Open Sans"/>
                <a:sym typeface="Open Sans"/>
              </a:rPr>
              <a:t>Láctea y el planeta Tierra, colocarle a cada uno lo siguiente):</a:t>
            </a:r>
          </a:p>
          <a:p>
            <a:pPr algn="just">
              <a:lnSpc>
                <a:spcPts val="4200"/>
              </a:lnSpc>
            </a:pPr>
            <a:r>
              <a:rPr lang="en-US" b="true" sz="3000">
                <a:solidFill>
                  <a:srgbClr val="131416"/>
                </a:solidFill>
                <a:latin typeface="Open Sans Bold"/>
                <a:ea typeface="Open Sans Bold"/>
                <a:cs typeface="Open Sans Bold"/>
                <a:sym typeface="Open Sans Bold"/>
              </a:rPr>
              <a:t>Vía Láctea</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Es un suprasistema para el Sistema Solar</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Es un subsistema del universo</a:t>
            </a:r>
          </a:p>
          <a:p>
            <a:pPr algn="just">
              <a:lnSpc>
                <a:spcPts val="4200"/>
              </a:lnSpc>
            </a:pPr>
            <a:r>
              <a:rPr lang="en-US" b="true" sz="3000">
                <a:solidFill>
                  <a:srgbClr val="131416"/>
                </a:solidFill>
                <a:latin typeface="Open Sans Bold"/>
                <a:ea typeface="Open Sans Bold"/>
                <a:cs typeface="Open Sans Bold"/>
                <a:sym typeface="Open Sans Bold"/>
              </a:rPr>
              <a:t>Sistema Solar</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Es un suprasistema para el planeta Tierra</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Es un subsistema de la Vía Láctea</a:t>
            </a:r>
          </a:p>
          <a:p>
            <a:pPr algn="just">
              <a:lnSpc>
                <a:spcPts val="4200"/>
              </a:lnSpc>
            </a:pPr>
            <a:r>
              <a:rPr lang="en-US" b="true" sz="3000">
                <a:solidFill>
                  <a:srgbClr val="131416"/>
                </a:solidFill>
                <a:latin typeface="Open Sans Bold"/>
                <a:ea typeface="Open Sans Bold"/>
                <a:cs typeface="Open Sans Bold"/>
                <a:sym typeface="Open Sans Bold"/>
              </a:rPr>
              <a:t>Planeta Tierra</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Es un suprasistema para el ser humano</a:t>
            </a:r>
          </a:p>
          <a:p>
            <a:pPr algn="just" marL="647700" indent="-323850" lvl="1">
              <a:lnSpc>
                <a:spcPts val="4200"/>
              </a:lnSpc>
              <a:buFont typeface="Arial"/>
              <a:buChar char="•"/>
            </a:pPr>
            <a:r>
              <a:rPr lang="en-US" sz="3000">
                <a:solidFill>
                  <a:srgbClr val="131416"/>
                </a:solidFill>
                <a:latin typeface="Open Sans"/>
                <a:ea typeface="Open Sans"/>
                <a:cs typeface="Open Sans"/>
                <a:sym typeface="Open Sans"/>
              </a:rPr>
              <a:t>Es un subsistema del Sistema Solar</a:t>
            </a:r>
          </a:p>
          <a:p>
            <a:pPr algn="just">
              <a:lnSpc>
                <a:spcPts val="4200"/>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719807" y="3682117"/>
            <a:ext cx="9506976" cy="5704186"/>
          </a:xfrm>
          <a:custGeom>
            <a:avLst/>
            <a:gdLst/>
            <a:ahLst/>
            <a:cxnLst/>
            <a:rect r="r" b="b" t="t" l="l"/>
            <a:pathLst>
              <a:path h="5704186" w="9506976">
                <a:moveTo>
                  <a:pt x="0" y="0"/>
                </a:moveTo>
                <a:lnTo>
                  <a:pt x="9506976" y="0"/>
                </a:lnTo>
                <a:lnTo>
                  <a:pt x="9506976" y="5704185"/>
                </a:lnTo>
                <a:lnTo>
                  <a:pt x="0" y="5704185"/>
                </a:lnTo>
                <a:lnTo>
                  <a:pt x="0" y="0"/>
                </a:lnTo>
                <a:close/>
              </a:path>
            </a:pathLst>
          </a:custGeom>
          <a:blipFill>
            <a:blip r:embed="rId2"/>
            <a:stretch>
              <a:fillRect l="0" t="0" r="0" b="0"/>
            </a:stretch>
          </a:blipFill>
        </p:spPr>
      </p:sp>
      <p:sp>
        <p:nvSpPr>
          <p:cNvPr name="TextBox 3" id="3"/>
          <p:cNvSpPr txBox="true"/>
          <p:nvPr/>
        </p:nvSpPr>
        <p:spPr>
          <a:xfrm rot="0">
            <a:off x="1028700" y="782002"/>
            <a:ext cx="15884411" cy="545465"/>
          </a:xfrm>
          <a:prstGeom prst="rect">
            <a:avLst/>
          </a:prstGeom>
        </p:spPr>
        <p:txBody>
          <a:bodyPr anchor="t" rtlCol="false" tIns="0" lIns="0" bIns="0" rIns="0">
            <a:spAutoFit/>
          </a:bodyPr>
          <a:lstStyle/>
          <a:p>
            <a:pPr algn="l">
              <a:lnSpc>
                <a:spcPts val="3955"/>
              </a:lnSpc>
            </a:pPr>
            <a:r>
              <a:rPr lang="en-US" sz="3500">
                <a:solidFill>
                  <a:srgbClr val="131416"/>
                </a:solidFill>
                <a:latin typeface="Horizon"/>
                <a:ea typeface="Horizon"/>
                <a:cs typeface="Horizon"/>
                <a:sym typeface="Horizon"/>
              </a:rPr>
              <a:t>EVALUACIÓN DE CONOCIMIENTOS ADQUIRIDOS</a:t>
            </a:r>
          </a:p>
        </p:txBody>
      </p:sp>
      <p:sp>
        <p:nvSpPr>
          <p:cNvPr name="TextBox 4" id="4"/>
          <p:cNvSpPr txBox="true"/>
          <p:nvPr/>
        </p:nvSpPr>
        <p:spPr>
          <a:xfrm rot="0">
            <a:off x="651214" y="1567567"/>
            <a:ext cx="16126564" cy="2114550"/>
          </a:xfrm>
          <a:prstGeom prst="rect">
            <a:avLst/>
          </a:prstGeom>
        </p:spPr>
        <p:txBody>
          <a:bodyPr anchor="t" rtlCol="false" tIns="0" lIns="0" bIns="0" rIns="0">
            <a:spAutoFit/>
          </a:bodyPr>
          <a:lstStyle/>
          <a:p>
            <a:pPr algn="just">
              <a:lnSpc>
                <a:spcPts val="4200"/>
              </a:lnSpc>
            </a:pPr>
            <a:r>
              <a:rPr lang="en-US" sz="3000">
                <a:solidFill>
                  <a:srgbClr val="FF3131"/>
                </a:solidFill>
                <a:latin typeface="Open Sans"/>
                <a:ea typeface="Open Sans"/>
                <a:cs typeface="Open Sans"/>
                <a:sym typeface="Open Sans"/>
              </a:rPr>
              <a:t>Duración: 15 minutos</a:t>
            </a:r>
          </a:p>
          <a:p>
            <a:pPr algn="just">
              <a:lnSpc>
                <a:spcPts val="4200"/>
              </a:lnSpc>
            </a:pPr>
          </a:p>
          <a:p>
            <a:pPr algn="just">
              <a:lnSpc>
                <a:spcPts val="4200"/>
              </a:lnSpc>
            </a:pPr>
            <a:r>
              <a:rPr lang="en-US" sz="3000">
                <a:solidFill>
                  <a:srgbClr val="004AAD"/>
                </a:solidFill>
                <a:latin typeface="Open Sans"/>
                <a:ea typeface="Open Sans"/>
                <a:cs typeface="Open Sans"/>
                <a:sym typeface="Open Sans"/>
              </a:rPr>
              <a:t>https://create.kahoot.it/details/3c1131ac-9caf-45fa-b6c7-bb04e1c780e9</a:t>
            </a:r>
          </a:p>
          <a:p>
            <a:pPr algn="just">
              <a:lnSpc>
                <a:spcPts val="4200"/>
              </a:lnSpc>
            </a:pPr>
            <a:r>
              <a:rPr lang="en-US" sz="3000">
                <a:solidFill>
                  <a:srgbClr val="131416"/>
                </a:solidFill>
                <a:latin typeface="Open Sans"/>
                <a:ea typeface="Open Sans"/>
                <a:cs typeface="Open Sans"/>
                <a:sym typeface="Open Sans"/>
              </a:rPr>
              <a:t> </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1070991"/>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REFERENCIAS </a:t>
            </a:r>
          </a:p>
        </p:txBody>
      </p:sp>
      <p:sp>
        <p:nvSpPr>
          <p:cNvPr name="TextBox 3" id="3"/>
          <p:cNvSpPr txBox="true"/>
          <p:nvPr/>
        </p:nvSpPr>
        <p:spPr>
          <a:xfrm rot="0">
            <a:off x="1552418" y="4033938"/>
            <a:ext cx="15183164" cy="2122457"/>
          </a:xfrm>
          <a:prstGeom prst="rect">
            <a:avLst/>
          </a:prstGeom>
        </p:spPr>
        <p:txBody>
          <a:bodyPr anchor="t" rtlCol="false" tIns="0" lIns="0" bIns="0" rIns="0">
            <a:spAutoFit/>
          </a:bodyPr>
          <a:lstStyle/>
          <a:p>
            <a:pPr algn="l">
              <a:lnSpc>
                <a:spcPts val="5729"/>
              </a:lnSpc>
            </a:pPr>
            <a:r>
              <a:rPr lang="en-US" sz="3451">
                <a:solidFill>
                  <a:srgbClr val="131416"/>
                </a:solidFill>
                <a:latin typeface="Garet"/>
                <a:ea typeface="Garet"/>
                <a:cs typeface="Garet"/>
                <a:sym typeface="Garet"/>
              </a:rPr>
              <a:t>Universidad de San Carlos de Guatemala. (s.f.). Unidad 2: Lógica [Material del curso Lógica de Sistemas, Facultad de Ingeniería]. Plataforma UEDI.</a:t>
            </a: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07390" y="1000125"/>
            <a:ext cx="13503315" cy="1071065"/>
          </a:xfrm>
          <a:prstGeom prst="rect">
            <a:avLst/>
          </a:prstGeom>
        </p:spPr>
        <p:txBody>
          <a:bodyPr anchor="t" rtlCol="false" tIns="0" lIns="0" bIns="0" rIns="0">
            <a:spAutoFit/>
          </a:bodyPr>
          <a:lstStyle/>
          <a:p>
            <a:pPr algn="ctr">
              <a:lnSpc>
                <a:spcPts val="7797"/>
              </a:lnSpc>
            </a:pPr>
            <a:r>
              <a:rPr lang="en-US" sz="6900">
                <a:solidFill>
                  <a:srgbClr val="131416"/>
                </a:solidFill>
                <a:latin typeface="Horizon"/>
                <a:ea typeface="Horizon"/>
                <a:cs typeface="Horizon"/>
                <a:sym typeface="Horizon"/>
              </a:rPr>
              <a:t>EJERCICIO</a:t>
            </a:r>
          </a:p>
        </p:txBody>
      </p:sp>
      <p:sp>
        <p:nvSpPr>
          <p:cNvPr name="TextBox 3" id="3"/>
          <p:cNvSpPr txBox="true"/>
          <p:nvPr/>
        </p:nvSpPr>
        <p:spPr>
          <a:xfrm rot="0">
            <a:off x="1028700" y="2151688"/>
            <a:ext cx="16116959" cy="2656795"/>
          </a:xfrm>
          <a:prstGeom prst="rect">
            <a:avLst/>
          </a:prstGeom>
        </p:spPr>
        <p:txBody>
          <a:bodyPr anchor="t" rtlCol="false" tIns="0" lIns="0" bIns="0" rIns="0">
            <a:spAutoFit/>
          </a:bodyPr>
          <a:lstStyle/>
          <a:p>
            <a:pPr algn="l">
              <a:lnSpc>
                <a:spcPts val="3525"/>
              </a:lnSpc>
            </a:pPr>
            <a:r>
              <a:rPr lang="en-US" sz="2123">
                <a:solidFill>
                  <a:srgbClr val="131416"/>
                </a:solidFill>
                <a:latin typeface="Garet"/>
                <a:ea typeface="Garet"/>
                <a:cs typeface="Garet"/>
                <a:sym typeface="Garet"/>
              </a:rPr>
              <a:t>Instrucciones:</a:t>
            </a:r>
          </a:p>
          <a:p>
            <a:pPr algn="l" marL="458476" indent="-229238" lvl="1">
              <a:lnSpc>
                <a:spcPts val="3525"/>
              </a:lnSpc>
              <a:buAutoNum type="arabicPeriod" startAt="1"/>
            </a:pPr>
            <a:r>
              <a:rPr lang="en-US" sz="2123">
                <a:solidFill>
                  <a:srgbClr val="131416"/>
                </a:solidFill>
                <a:latin typeface="Garet"/>
                <a:ea typeface="Garet"/>
                <a:cs typeface="Garet"/>
                <a:sym typeface="Garet"/>
              </a:rPr>
              <a:t>Lee el siguiente párrafo con atención.</a:t>
            </a:r>
          </a:p>
          <a:p>
            <a:pPr algn="l" marL="458476" indent="-229238" lvl="1">
              <a:lnSpc>
                <a:spcPts val="3525"/>
              </a:lnSpc>
              <a:buAutoNum type="arabicPeriod" startAt="1"/>
            </a:pPr>
            <a:r>
              <a:rPr lang="en-US" sz="2123">
                <a:solidFill>
                  <a:srgbClr val="131416"/>
                </a:solidFill>
                <a:latin typeface="Garet"/>
                <a:ea typeface="Garet"/>
                <a:cs typeface="Garet"/>
                <a:sym typeface="Garet"/>
              </a:rPr>
              <a:t>Subraya o copia las frases que correspondan a cada tipo de lenguaje.</a:t>
            </a:r>
          </a:p>
          <a:p>
            <a:pPr algn="l" marL="458476" indent="-229238" lvl="1">
              <a:lnSpc>
                <a:spcPts val="3525"/>
              </a:lnSpc>
              <a:buAutoNum type="arabicPeriod" startAt="1"/>
            </a:pPr>
            <a:r>
              <a:rPr lang="en-US" sz="2123">
                <a:solidFill>
                  <a:srgbClr val="131416"/>
                </a:solidFill>
                <a:latin typeface="Garet"/>
                <a:ea typeface="Garet"/>
                <a:cs typeface="Garet"/>
                <a:sym typeface="Garet"/>
              </a:rPr>
              <a:t>Indica si cada una puede ser considerada una proposición lógica (es decir, si puede ser verdadera o falsa).</a:t>
            </a:r>
          </a:p>
          <a:p>
            <a:pPr algn="l" marL="458476" indent="-229238" lvl="1">
              <a:lnSpc>
                <a:spcPts val="3525"/>
              </a:lnSpc>
              <a:buAutoNum type="arabicPeriod" startAt="1"/>
            </a:pPr>
            <a:r>
              <a:rPr lang="en-US" sz="2123">
                <a:solidFill>
                  <a:srgbClr val="131416"/>
                </a:solidFill>
                <a:latin typeface="Garet"/>
                <a:ea typeface="Garet"/>
                <a:cs typeface="Garet"/>
                <a:sym typeface="Garet"/>
              </a:rPr>
              <a:t>Justifica tu clasificación brevemente.</a:t>
            </a:r>
          </a:p>
          <a:p>
            <a:pPr algn="l">
              <a:lnSpc>
                <a:spcPts val="3525"/>
              </a:lnSpc>
            </a:pPr>
          </a:p>
        </p:txBody>
      </p:sp>
      <p:sp>
        <p:nvSpPr>
          <p:cNvPr name="TextBox 4" id="4"/>
          <p:cNvSpPr txBox="true"/>
          <p:nvPr/>
        </p:nvSpPr>
        <p:spPr>
          <a:xfrm rot="0">
            <a:off x="1085521" y="5029200"/>
            <a:ext cx="16116959" cy="3384191"/>
          </a:xfrm>
          <a:prstGeom prst="rect">
            <a:avLst/>
          </a:prstGeom>
        </p:spPr>
        <p:txBody>
          <a:bodyPr anchor="t" rtlCol="false" tIns="0" lIns="0" bIns="0" rIns="0">
            <a:spAutoFit/>
          </a:bodyPr>
          <a:lstStyle/>
          <a:p>
            <a:pPr algn="l">
              <a:lnSpc>
                <a:spcPts val="4521"/>
              </a:lnSpc>
            </a:pPr>
            <a:r>
              <a:rPr lang="en-US" sz="2723" b="true">
                <a:solidFill>
                  <a:srgbClr val="131416"/>
                </a:solidFill>
                <a:latin typeface="Garet Bold"/>
                <a:ea typeface="Garet Bold"/>
                <a:cs typeface="Garet Bold"/>
                <a:sym typeface="Garet Bold"/>
              </a:rPr>
              <a:t>Párrafo a analizar:</a:t>
            </a:r>
          </a:p>
          <a:p>
            <a:pPr algn="just">
              <a:lnSpc>
                <a:spcPts val="4521"/>
              </a:lnSpc>
            </a:pPr>
            <a:r>
              <a:rPr lang="en-US" sz="2723">
                <a:solidFill>
                  <a:srgbClr val="131416"/>
                </a:solidFill>
                <a:latin typeface="Garet"/>
                <a:ea typeface="Garet"/>
                <a:cs typeface="Garet"/>
                <a:sym typeface="Garet"/>
              </a:rPr>
              <a:t>Recuerda subir tu proyecto a la plataforma antes de las 11:59 p.m., ya qu</a:t>
            </a:r>
            <a:r>
              <a:rPr lang="en-US" sz="2723">
                <a:solidFill>
                  <a:srgbClr val="131416"/>
                </a:solidFill>
                <a:latin typeface="Garet"/>
                <a:ea typeface="Garet"/>
                <a:cs typeface="Garet"/>
                <a:sym typeface="Garet"/>
              </a:rPr>
              <a:t>e el sistema se cierra automáticamente y no se aceptarán entregas posteriores. ¡Qué emoción ver cómo han mejorado sus algoritmos! El proyecto debe incluir un README con instrucciones claras de instalación. La mayoría de los grupos lograron implementar búsqueda binaria con éxito. Les aconsejo revisar el caso de uso antes de enviarlo para evitar errores tontos.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437795" y="3389104"/>
            <a:ext cx="8658828" cy="2495677"/>
          </a:xfrm>
          <a:prstGeom prst="rect">
            <a:avLst/>
          </a:prstGeom>
        </p:spPr>
        <p:txBody>
          <a:bodyPr anchor="t" rtlCol="false" tIns="0" lIns="0" bIns="0" rIns="0">
            <a:spAutoFit/>
          </a:bodyPr>
          <a:lstStyle/>
          <a:p>
            <a:pPr algn="just">
              <a:lnSpc>
                <a:spcPts val="6343"/>
              </a:lnSpc>
            </a:pPr>
            <a:r>
              <a:rPr lang="en-US" sz="6099">
                <a:solidFill>
                  <a:srgbClr val="131416"/>
                </a:solidFill>
                <a:latin typeface="Horizon"/>
                <a:ea typeface="Horizon"/>
                <a:cs typeface="Horizon"/>
                <a:sym typeface="Horizon"/>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sz="5000" spc="1160">
                <a:solidFill>
                  <a:srgbClr val="131416"/>
                </a:solidFill>
                <a:latin typeface="Garet"/>
                <a:ea typeface="Garet"/>
                <a:cs typeface="Garet"/>
                <a:sym typeface="Garet"/>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9735"/>
            <a:ext cx="13465804" cy="719455"/>
          </a:xfrm>
          <a:prstGeom prst="rect">
            <a:avLst/>
          </a:prstGeom>
        </p:spPr>
        <p:txBody>
          <a:bodyPr anchor="t" rtlCol="false" tIns="0" lIns="0" bIns="0" rIns="0">
            <a:spAutoFit/>
          </a:bodyPr>
          <a:lstStyle/>
          <a:p>
            <a:pPr algn="ctr">
              <a:lnSpc>
                <a:spcPts val="2960"/>
              </a:lnSpc>
            </a:pPr>
            <a:r>
              <a:rPr lang="en-US" sz="2000" spc="464">
                <a:solidFill>
                  <a:srgbClr val="131416"/>
                </a:solidFill>
                <a:latin typeface="Garet"/>
                <a:ea typeface="Garet"/>
                <a:cs typeface="Garet"/>
                <a:sym typeface="Garet"/>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DAG3yYdmCvQ</dc:identifier>
  <dcterms:modified xsi:type="dcterms:W3CDTF">2011-08-01T06:04:30Z</dcterms:modified>
  <cp:revision>1</cp:revision>
  <dc:title>Semana 3 - Lógica</dc:title>
</cp:coreProperties>
</file>