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8288000" cy="10287000"/>
  <p:notesSz cx="6858000" cy="9144000"/>
  <p:embeddedFontLst>
    <p:embeddedFont>
      <p:font typeface="Arial Bold" panose="020B0604020202020204" charset="0"/>
      <p:regular r:id="rId34"/>
    </p:embeddedFont>
    <p:embeddedFont>
      <p:font typeface="Garet" panose="020B0604020202020204" charset="0"/>
      <p:regular r:id="rId35"/>
    </p:embeddedFont>
    <p:embeddedFont>
      <p:font typeface="Garet Bold" panose="020B0604020202020204" charset="0"/>
      <p:regular r:id="rId36"/>
    </p:embeddedFont>
    <p:embeddedFont>
      <p:font typeface="Glacial Indifference" panose="020B0604020202020204" charset="0"/>
      <p:regular r:id="rId37"/>
    </p:embeddedFont>
    <p:embeddedFont>
      <p:font typeface="Horizon" panose="020B0604020202020204" charset="0"/>
      <p:regular r:id="rId38"/>
    </p:embeddedFont>
    <p:embeddedFont>
      <p:font typeface="Open Sans" panose="020B0606030504020204" pitchFamily="34" charset="0"/>
      <p:regular r:id="rId39"/>
    </p:embeddedFont>
    <p:embeddedFont>
      <p:font typeface="Open Sans Bold" panose="020B0604020202020204" charset="0"/>
      <p:regular r:id="rId40"/>
    </p:embeddedFont>
    <p:embeddedFont>
      <p:font typeface="Playlist Script" panose="020B0604020202020204" charset="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1" d="100"/>
          <a:sy n="71" d="100"/>
        </p:scale>
        <p:origin x="71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309860"/>
          </a:xfrm>
          <a:custGeom>
            <a:avLst/>
            <a:gdLst/>
            <a:ahLst/>
            <a:cxnLst/>
            <a:rect l="l" t="t" r="r" b="b"/>
            <a:pathLst>
              <a:path w="18288000" h="10309860">
                <a:moveTo>
                  <a:pt x="0" y="0"/>
                </a:moveTo>
                <a:lnTo>
                  <a:pt x="18288000" y="0"/>
                </a:lnTo>
                <a:lnTo>
                  <a:pt x="18288000" y="10309860"/>
                </a:lnTo>
                <a:lnTo>
                  <a:pt x="0" y="10309860"/>
                </a:lnTo>
                <a:lnTo>
                  <a:pt x="0" y="0"/>
                </a:lnTo>
                <a:close/>
              </a:path>
            </a:pathLst>
          </a:custGeom>
          <a:blipFill>
            <a:blip r:embed="rId2"/>
            <a:stretch>
              <a:fillRect/>
            </a:stretch>
          </a:blipFill>
          <a:ln cap="sq">
            <a:noFill/>
            <a:prstDash val="solid"/>
            <a:miter/>
          </a:ln>
        </p:spPr>
        <p:txBody>
          <a:bodyPr/>
          <a:lstStyle/>
          <a:p>
            <a:endParaRPr lang="es-GT"/>
          </a:p>
        </p:txBody>
      </p:sp>
      <p:graphicFrame>
        <p:nvGraphicFramePr>
          <p:cNvPr id="3" name="Table 3"/>
          <p:cNvGraphicFramePr>
            <a:graphicFrameLocks noGrp="1"/>
          </p:cNvGraphicFramePr>
          <p:nvPr/>
        </p:nvGraphicFramePr>
        <p:xfrm>
          <a:off x="8459661" y="2087779"/>
          <a:ext cx="9268438" cy="2162175"/>
        </p:xfrm>
        <a:graphic>
          <a:graphicData uri="http://schemas.openxmlformats.org/drawingml/2006/table">
            <a:tbl>
              <a:tblPr/>
              <a:tblGrid>
                <a:gridCol w="4350920">
                  <a:extLst>
                    <a:ext uri="{9D8B030D-6E8A-4147-A177-3AD203B41FA5}">
                      <a16:colId xmlns:a16="http://schemas.microsoft.com/office/drawing/2014/main" val="20000"/>
                    </a:ext>
                  </a:extLst>
                </a:gridCol>
                <a:gridCol w="4917518">
                  <a:extLst>
                    <a:ext uri="{9D8B030D-6E8A-4147-A177-3AD203B41FA5}">
                      <a16:colId xmlns:a16="http://schemas.microsoft.com/office/drawing/2014/main" val="20001"/>
                    </a:ext>
                  </a:extLst>
                </a:gridCol>
              </a:tblGrid>
              <a:tr h="1124719">
                <a:tc>
                  <a:txBody>
                    <a:bodyPr/>
                    <a:lstStyle/>
                    <a:p>
                      <a:pPr algn="ctr">
                        <a:lnSpc>
                          <a:spcPts val="4619"/>
                        </a:lnSpc>
                        <a:defRPr/>
                      </a:pPr>
                      <a:r>
                        <a:rPr lang="en-US" sz="3299" b="1">
                          <a:solidFill>
                            <a:srgbClr val="000000"/>
                          </a:solidFill>
                          <a:latin typeface="Arial Bold"/>
                          <a:ea typeface="Arial Bold"/>
                          <a:cs typeface="Arial Bold"/>
                          <a:sym typeface="Arial Bold"/>
                        </a:rPr>
                        <a:t>Dia, Fecha:</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37456">
                <a:tc>
                  <a:txBody>
                    <a:bodyPr/>
                    <a:lstStyle/>
                    <a:p>
                      <a:pPr algn="ctr">
                        <a:lnSpc>
                          <a:spcPts val="3919"/>
                        </a:lnSpc>
                        <a:defRPr/>
                      </a:pPr>
                      <a:r>
                        <a:rPr lang="en-US" sz="2799" b="1">
                          <a:solidFill>
                            <a:srgbClr val="000000"/>
                          </a:solidFill>
                          <a:latin typeface="Garet Bold"/>
                          <a:ea typeface="Garet Bold"/>
                          <a:cs typeface="Garet Bold"/>
                          <a:sym typeface="Garet Bold"/>
                        </a:rPr>
                        <a:t>Hora de inicio:</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pSp>
        <p:nvGrpSpPr>
          <p:cNvPr id="4" name="Group 4"/>
          <p:cNvGrpSpPr/>
          <p:nvPr/>
        </p:nvGrpSpPr>
        <p:grpSpPr>
          <a:xfrm>
            <a:off x="1198672" y="5749011"/>
            <a:ext cx="8989218" cy="903931"/>
            <a:chOff x="0" y="0"/>
            <a:chExt cx="2367531" cy="238072"/>
          </a:xfrm>
        </p:grpSpPr>
        <p:sp>
          <p:nvSpPr>
            <p:cNvPr id="5" name="Freeform 5"/>
            <p:cNvSpPr/>
            <p:nvPr/>
          </p:nvSpPr>
          <p:spPr>
            <a:xfrm>
              <a:off x="0" y="0"/>
              <a:ext cx="2367530" cy="238072"/>
            </a:xfrm>
            <a:custGeom>
              <a:avLst/>
              <a:gdLst/>
              <a:ahLst/>
              <a:cxnLst/>
              <a:rect l="l" t="t" r="r" b="b"/>
              <a:pathLst>
                <a:path w="2367530" h="238072">
                  <a:moveTo>
                    <a:pt x="0" y="0"/>
                  </a:moveTo>
                  <a:lnTo>
                    <a:pt x="2367530" y="0"/>
                  </a:lnTo>
                  <a:lnTo>
                    <a:pt x="2367530" y="238072"/>
                  </a:lnTo>
                  <a:lnTo>
                    <a:pt x="0" y="238072"/>
                  </a:lnTo>
                  <a:close/>
                </a:path>
              </a:pathLst>
            </a:custGeom>
            <a:solidFill>
              <a:srgbClr val="FFF3C2"/>
            </a:solidFill>
          </p:spPr>
          <p:txBody>
            <a:bodyPr/>
            <a:lstStyle/>
            <a:p>
              <a:endParaRPr lang="es-GT"/>
            </a:p>
          </p:txBody>
        </p:sp>
        <p:sp>
          <p:nvSpPr>
            <p:cNvPr id="6" name="TextBox 6"/>
            <p:cNvSpPr txBox="1"/>
            <p:nvPr/>
          </p:nvSpPr>
          <p:spPr>
            <a:xfrm>
              <a:off x="0" y="-76200"/>
              <a:ext cx="2367531" cy="314272"/>
            </a:xfrm>
            <a:prstGeom prst="rect">
              <a:avLst/>
            </a:prstGeom>
          </p:spPr>
          <p:txBody>
            <a:bodyPr lIns="50800" tIns="50800" rIns="50800" bIns="50800" rtlCol="0" anchor="ctr"/>
            <a:lstStyle/>
            <a:p>
              <a:pPr algn="ctr">
                <a:lnSpc>
                  <a:spcPts val="5599"/>
                </a:lnSpc>
              </a:pPr>
              <a:r>
                <a:rPr lang="en-US" sz="3999" b="1">
                  <a:solidFill>
                    <a:srgbClr val="000000"/>
                  </a:solidFill>
                  <a:latin typeface="Open Sans Bold"/>
                  <a:ea typeface="Open Sans Bold"/>
                  <a:cs typeface="Open Sans Bold"/>
                  <a:sym typeface="Open Sans Bold"/>
                </a:rPr>
                <a:t>Lógica de Sistemas Sección </a:t>
              </a:r>
            </a:p>
          </p:txBody>
        </p:sp>
      </p:grpSp>
      <p:grpSp>
        <p:nvGrpSpPr>
          <p:cNvPr id="7" name="Group 7"/>
          <p:cNvGrpSpPr/>
          <p:nvPr/>
        </p:nvGrpSpPr>
        <p:grpSpPr>
          <a:xfrm>
            <a:off x="1977804" y="7160164"/>
            <a:ext cx="7166196" cy="894134"/>
            <a:chOff x="0" y="0"/>
            <a:chExt cx="1887393" cy="235492"/>
          </a:xfrm>
        </p:grpSpPr>
        <p:sp>
          <p:nvSpPr>
            <p:cNvPr id="8" name="Freeform 8"/>
            <p:cNvSpPr/>
            <p:nvPr/>
          </p:nvSpPr>
          <p:spPr>
            <a:xfrm>
              <a:off x="0" y="0"/>
              <a:ext cx="1887393" cy="235492"/>
            </a:xfrm>
            <a:custGeom>
              <a:avLst/>
              <a:gdLst/>
              <a:ahLst/>
              <a:cxnLst/>
              <a:rect l="l" t="t" r="r" b="b"/>
              <a:pathLst>
                <a:path w="1887393" h="235492">
                  <a:moveTo>
                    <a:pt x="0" y="0"/>
                  </a:moveTo>
                  <a:lnTo>
                    <a:pt x="1887393" y="0"/>
                  </a:lnTo>
                  <a:lnTo>
                    <a:pt x="1887393" y="235492"/>
                  </a:lnTo>
                  <a:lnTo>
                    <a:pt x="0" y="235492"/>
                  </a:lnTo>
                  <a:close/>
                </a:path>
              </a:pathLst>
            </a:custGeom>
            <a:solidFill>
              <a:srgbClr val="FFF3C2"/>
            </a:solidFill>
          </p:spPr>
          <p:txBody>
            <a:bodyPr/>
            <a:lstStyle/>
            <a:p>
              <a:endParaRPr lang="es-GT"/>
            </a:p>
          </p:txBody>
        </p:sp>
        <p:sp>
          <p:nvSpPr>
            <p:cNvPr id="9" name="TextBox 9"/>
            <p:cNvSpPr txBox="1"/>
            <p:nvPr/>
          </p:nvSpPr>
          <p:spPr>
            <a:xfrm>
              <a:off x="0" y="-57150"/>
              <a:ext cx="1887393" cy="292642"/>
            </a:xfrm>
            <a:prstGeom prst="rect">
              <a:avLst/>
            </a:prstGeom>
          </p:spPr>
          <p:txBody>
            <a:bodyPr lIns="50800" tIns="50800" rIns="50800" bIns="50800" rtlCol="0" anchor="ctr"/>
            <a:lstStyle/>
            <a:p>
              <a:pPr algn="ctr">
                <a:lnSpc>
                  <a:spcPts val="3919"/>
                </a:lnSpc>
              </a:pPr>
              <a:r>
                <a:rPr lang="en-US" sz="2799">
                  <a:solidFill>
                    <a:srgbClr val="000000"/>
                  </a:solidFill>
                  <a:latin typeface="Open Sans"/>
                  <a:ea typeface="Open Sans"/>
                  <a:cs typeface="Open Sans"/>
                  <a:sym typeface="Open Sans"/>
                </a:rPr>
                <a:t>NOMBRE DEL TUTOR</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a:off x="12541309" y="0"/>
            <a:ext cx="5746691" cy="1711780"/>
          </a:xfrm>
          <a:custGeom>
            <a:avLst/>
            <a:gdLst/>
            <a:ahLst/>
            <a:cxnLst/>
            <a:rect l="l" t="t" r="r" b="b"/>
            <a:pathLst>
              <a:path w="5746691" h="1711780">
                <a:moveTo>
                  <a:pt x="0" y="0"/>
                </a:moveTo>
                <a:lnTo>
                  <a:pt x="5746691" y="0"/>
                </a:lnTo>
                <a:lnTo>
                  <a:pt x="5746691" y="1711780"/>
                </a:lnTo>
                <a:lnTo>
                  <a:pt x="0" y="1711780"/>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945148" y="7834026"/>
            <a:ext cx="7436852" cy="863600"/>
          </a:xfrm>
          <a:prstGeom prst="rect">
            <a:avLst/>
          </a:prstGeom>
        </p:spPr>
        <p:txBody>
          <a:bodyPr wrap="square" lIns="0" tIns="0" rIns="0" bIns="0" rtlCol="0" anchor="t">
            <a:spAutoFit/>
          </a:bodyPr>
          <a:lstStyle/>
          <a:p>
            <a:pPr algn="ctr">
              <a:lnSpc>
                <a:spcPts val="7000"/>
              </a:lnSpc>
            </a:pPr>
            <a:r>
              <a:rPr lang="en-US" sz="5000" b="1" dirty="0" err="1">
                <a:solidFill>
                  <a:srgbClr val="131416"/>
                </a:solidFill>
                <a:latin typeface="Open Sans Bold"/>
                <a:ea typeface="Open Sans Bold"/>
                <a:cs typeface="Open Sans Bold"/>
                <a:sym typeface="Open Sans Bold"/>
              </a:rPr>
              <a:t>Lógica</a:t>
            </a:r>
            <a:r>
              <a:rPr lang="en-US" sz="5000" b="1" dirty="0">
                <a:solidFill>
                  <a:srgbClr val="131416"/>
                </a:solidFill>
                <a:latin typeface="Open Sans Bold"/>
                <a:ea typeface="Open Sans Bold"/>
                <a:cs typeface="Open Sans Bold"/>
                <a:sym typeface="Open Sans Bold"/>
              </a:rPr>
              <a:t> de Sistemas</a:t>
            </a:r>
          </a:p>
        </p:txBody>
      </p:sp>
      <p:sp>
        <p:nvSpPr>
          <p:cNvPr id="4" name="TextBox 4"/>
          <p:cNvSpPr txBox="1"/>
          <p:nvPr/>
        </p:nvSpPr>
        <p:spPr>
          <a:xfrm>
            <a:off x="3272076" y="3355266"/>
            <a:ext cx="11205567" cy="1368424"/>
          </a:xfrm>
          <a:prstGeom prst="rect">
            <a:avLst/>
          </a:prstGeom>
        </p:spPr>
        <p:txBody>
          <a:bodyPr lIns="0" tIns="0" rIns="0" bIns="0" rtlCol="0" anchor="t">
            <a:spAutoFit/>
          </a:bodyPr>
          <a:lstStyle/>
          <a:p>
            <a:pPr algn="ctr">
              <a:lnSpc>
                <a:spcPts val="11200"/>
              </a:lnSpc>
            </a:pPr>
            <a:r>
              <a:rPr lang="en-US" sz="8000" b="1">
                <a:solidFill>
                  <a:srgbClr val="131416"/>
                </a:solidFill>
                <a:latin typeface="Open Sans Bold"/>
                <a:ea typeface="Open Sans Bold"/>
                <a:cs typeface="Open Sans Bold"/>
                <a:sym typeface="Open Sans Bold"/>
              </a:rPr>
              <a:t>Repaso Unidades 3 y 4</a:t>
            </a:r>
          </a:p>
        </p:txBody>
      </p:sp>
      <p:sp>
        <p:nvSpPr>
          <p:cNvPr id="5" name="TextBox 5"/>
          <p:cNvSpPr txBox="1"/>
          <p:nvPr/>
        </p:nvSpPr>
        <p:spPr>
          <a:xfrm>
            <a:off x="1063303" y="8745251"/>
            <a:ext cx="6981379" cy="422275"/>
          </a:xfrm>
          <a:prstGeom prst="rect">
            <a:avLst/>
          </a:prstGeom>
        </p:spPr>
        <p:txBody>
          <a:bodyPr lIns="0" tIns="0" rIns="0" bIns="0" rtlCol="0" anchor="t">
            <a:spAutoFit/>
          </a:bodyPr>
          <a:lstStyle/>
          <a:p>
            <a:pPr algn="ctr">
              <a:lnSpc>
                <a:spcPts val="3499"/>
              </a:lnSpc>
            </a:pPr>
            <a:r>
              <a:rPr lang="en-US" sz="2499" b="1" dirty="0">
                <a:solidFill>
                  <a:srgbClr val="131416"/>
                </a:solidFill>
                <a:latin typeface="Open Sans Bold"/>
                <a:ea typeface="Open Sans Bold"/>
                <a:cs typeface="Open Sans Bold"/>
                <a:sym typeface="Open Sans Bold"/>
              </a:rPr>
              <a:t>Escuela de Ingenieria de </a:t>
            </a:r>
            <a:r>
              <a:rPr lang="en-US" sz="2499" b="1" dirty="0" err="1">
                <a:solidFill>
                  <a:srgbClr val="131416"/>
                </a:solidFill>
                <a:latin typeface="Open Sans Bold"/>
                <a:ea typeface="Open Sans Bold"/>
                <a:cs typeface="Open Sans Bold"/>
                <a:sym typeface="Open Sans Bold"/>
              </a:rPr>
              <a:t>Ciencias</a:t>
            </a:r>
            <a:r>
              <a:rPr lang="en-US" sz="2499" b="1" dirty="0">
                <a:solidFill>
                  <a:srgbClr val="131416"/>
                </a:solidFill>
                <a:latin typeface="Open Sans Bold"/>
                <a:ea typeface="Open Sans Bold"/>
                <a:cs typeface="Open Sans Bold"/>
                <a:sym typeface="Open Sans Bold"/>
              </a:rPr>
              <a:t> Y Sistemas</a:t>
            </a:r>
          </a:p>
        </p:txBody>
      </p:sp>
      <p:sp>
        <p:nvSpPr>
          <p:cNvPr id="6" name="TextBox 6"/>
          <p:cNvSpPr txBox="1"/>
          <p:nvPr/>
        </p:nvSpPr>
        <p:spPr>
          <a:xfrm>
            <a:off x="1028700" y="9210675"/>
            <a:ext cx="5372100" cy="422275"/>
          </a:xfrm>
          <a:prstGeom prst="rect">
            <a:avLst/>
          </a:prstGeom>
        </p:spPr>
        <p:txBody>
          <a:bodyPr wrap="square" lIns="0" tIns="0" rIns="0" bIns="0" rtlCol="0" anchor="t">
            <a:spAutoFit/>
          </a:bodyPr>
          <a:lstStyle/>
          <a:p>
            <a:pPr algn="ctr">
              <a:lnSpc>
                <a:spcPts val="3499"/>
              </a:lnSpc>
            </a:pPr>
            <a:r>
              <a:rPr lang="en-US" sz="2499" b="1" dirty="0" err="1">
                <a:solidFill>
                  <a:srgbClr val="131416"/>
                </a:solidFill>
                <a:latin typeface="Open Sans Bold"/>
                <a:ea typeface="Open Sans Bold"/>
                <a:cs typeface="Open Sans Bold"/>
                <a:sym typeface="Open Sans Bold"/>
              </a:rPr>
              <a:t>Facultad</a:t>
            </a:r>
            <a:r>
              <a:rPr lang="en-US" sz="2499" b="1" dirty="0">
                <a:solidFill>
                  <a:srgbClr val="131416"/>
                </a:solidFill>
                <a:latin typeface="Open Sans Bold"/>
                <a:ea typeface="Open Sans Bold"/>
                <a:cs typeface="Open Sans Bold"/>
                <a:sym typeface="Open Sans Bold"/>
              </a:rPr>
              <a:t> de Ingenieria</a:t>
            </a:r>
          </a:p>
        </p:txBody>
      </p:sp>
      <p:sp>
        <p:nvSpPr>
          <p:cNvPr id="7" name="TextBox 7"/>
          <p:cNvSpPr txBox="1"/>
          <p:nvPr/>
        </p:nvSpPr>
        <p:spPr>
          <a:xfrm>
            <a:off x="1028700" y="9585325"/>
            <a:ext cx="7581900" cy="422275"/>
          </a:xfrm>
          <a:prstGeom prst="rect">
            <a:avLst/>
          </a:prstGeom>
        </p:spPr>
        <p:txBody>
          <a:bodyPr wrap="square" lIns="0" tIns="0" rIns="0" bIns="0" rtlCol="0" anchor="t">
            <a:spAutoFit/>
          </a:bodyPr>
          <a:lstStyle/>
          <a:p>
            <a:pPr algn="ctr">
              <a:lnSpc>
                <a:spcPts val="3499"/>
              </a:lnSpc>
            </a:pPr>
            <a:r>
              <a:rPr lang="en-US" sz="2499" b="1" dirty="0">
                <a:solidFill>
                  <a:srgbClr val="131416"/>
                </a:solidFill>
                <a:latin typeface="Open Sans Bold"/>
                <a:ea typeface="Open Sans Bold"/>
                <a:cs typeface="Open Sans Bold"/>
                <a:sym typeface="Open Sans Bold"/>
              </a:rPr>
              <a:t>Universidad de San Carlos de Guatemala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grpSp>
        <p:nvGrpSpPr>
          <p:cNvPr id="2" name="Group 2"/>
          <p:cNvGrpSpPr/>
          <p:nvPr/>
        </p:nvGrpSpPr>
        <p:grpSpPr>
          <a:xfrm>
            <a:off x="176619" y="4699462"/>
            <a:ext cx="4613551" cy="666407"/>
            <a:chOff x="0" y="0"/>
            <a:chExt cx="1964221" cy="283723"/>
          </a:xfrm>
        </p:grpSpPr>
        <p:sp>
          <p:nvSpPr>
            <p:cNvPr id="3" name="Freeform 3"/>
            <p:cNvSpPr/>
            <p:nvPr/>
          </p:nvSpPr>
          <p:spPr>
            <a:xfrm>
              <a:off x="0" y="0"/>
              <a:ext cx="1964221" cy="283723"/>
            </a:xfrm>
            <a:custGeom>
              <a:avLst/>
              <a:gdLst/>
              <a:ahLst/>
              <a:cxnLst/>
              <a:rect l="l" t="t" r="r" b="b"/>
              <a:pathLst>
                <a:path w="1964221" h="283723">
                  <a:moveTo>
                    <a:pt x="1761021" y="0"/>
                  </a:moveTo>
                  <a:lnTo>
                    <a:pt x="0" y="0"/>
                  </a:lnTo>
                  <a:lnTo>
                    <a:pt x="0" y="283723"/>
                  </a:lnTo>
                  <a:lnTo>
                    <a:pt x="1761021" y="283723"/>
                  </a:lnTo>
                  <a:lnTo>
                    <a:pt x="1964221" y="141862"/>
                  </a:lnTo>
                  <a:lnTo>
                    <a:pt x="1761021" y="0"/>
                  </a:lnTo>
                  <a:close/>
                </a:path>
              </a:pathLst>
            </a:custGeom>
            <a:solidFill>
              <a:srgbClr val="FFFFFF"/>
            </a:solidFill>
          </p:spPr>
          <p:txBody>
            <a:bodyPr/>
            <a:lstStyle/>
            <a:p>
              <a:endParaRPr lang="es-GT"/>
            </a:p>
          </p:txBody>
        </p:sp>
        <p:sp>
          <p:nvSpPr>
            <p:cNvPr id="4" name="TextBox 4"/>
            <p:cNvSpPr txBox="1"/>
            <p:nvPr/>
          </p:nvSpPr>
          <p:spPr>
            <a:xfrm>
              <a:off x="0" y="-76200"/>
              <a:ext cx="1849921" cy="359923"/>
            </a:xfrm>
            <a:prstGeom prst="rect">
              <a:avLst/>
            </a:prstGeom>
          </p:spPr>
          <p:txBody>
            <a:bodyPr lIns="50800" tIns="50800" rIns="50800" bIns="50800" rtlCol="0" anchor="ctr"/>
            <a:lstStyle/>
            <a:p>
              <a:pPr algn="ctr">
                <a:lnSpc>
                  <a:spcPts val="4143"/>
                </a:lnSpc>
              </a:pPr>
              <a:r>
                <a:rPr lang="en-US" sz="2799" spc="81">
                  <a:solidFill>
                    <a:srgbClr val="000000"/>
                  </a:solidFill>
                  <a:latin typeface="Garet"/>
                  <a:ea typeface="Garet"/>
                  <a:cs typeface="Garet"/>
                  <a:sym typeface="Garet"/>
                </a:rPr>
                <a:t>Quizz</a:t>
              </a:r>
            </a:p>
          </p:txBody>
        </p:sp>
      </p:grpSp>
      <p:sp>
        <p:nvSpPr>
          <p:cNvPr id="5" name="Freeform 5"/>
          <p:cNvSpPr/>
          <p:nvPr/>
        </p:nvSpPr>
        <p:spPr>
          <a:xfrm>
            <a:off x="878654" y="4740441"/>
            <a:ext cx="453358" cy="550094"/>
          </a:xfrm>
          <a:custGeom>
            <a:avLst/>
            <a:gdLst/>
            <a:ahLst/>
            <a:cxnLst/>
            <a:rect l="l" t="t" r="r" b="b"/>
            <a:pathLst>
              <a:path w="453358" h="550094">
                <a:moveTo>
                  <a:pt x="0" y="0"/>
                </a:moveTo>
                <a:lnTo>
                  <a:pt x="453359" y="0"/>
                </a:lnTo>
                <a:lnTo>
                  <a:pt x="453359" y="550094"/>
                </a:lnTo>
                <a:lnTo>
                  <a:pt x="0" y="55009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GT"/>
          </a:p>
        </p:txBody>
      </p:sp>
      <p:grpSp>
        <p:nvGrpSpPr>
          <p:cNvPr id="6" name="Group 6"/>
          <p:cNvGrpSpPr/>
          <p:nvPr/>
        </p:nvGrpSpPr>
        <p:grpSpPr>
          <a:xfrm>
            <a:off x="1866989" y="3303305"/>
            <a:ext cx="4115190" cy="1267162"/>
            <a:chOff x="0" y="0"/>
            <a:chExt cx="1083836" cy="333738"/>
          </a:xfrm>
        </p:grpSpPr>
        <p:sp>
          <p:nvSpPr>
            <p:cNvPr id="7" name="Freeform 7"/>
            <p:cNvSpPr/>
            <p:nvPr/>
          </p:nvSpPr>
          <p:spPr>
            <a:xfrm>
              <a:off x="0" y="0"/>
              <a:ext cx="1083836" cy="333738"/>
            </a:xfrm>
            <a:custGeom>
              <a:avLst/>
              <a:gdLst/>
              <a:ahLst/>
              <a:cxnLst/>
              <a:rect l="l" t="t" r="r" b="b"/>
              <a:pathLst>
                <a:path w="1083836" h="333738">
                  <a:moveTo>
                    <a:pt x="880636" y="0"/>
                  </a:moveTo>
                  <a:lnTo>
                    <a:pt x="0" y="0"/>
                  </a:lnTo>
                  <a:lnTo>
                    <a:pt x="0" y="333738"/>
                  </a:lnTo>
                  <a:lnTo>
                    <a:pt x="880636" y="333738"/>
                  </a:lnTo>
                  <a:lnTo>
                    <a:pt x="1083836" y="166869"/>
                  </a:lnTo>
                  <a:lnTo>
                    <a:pt x="880636" y="0"/>
                  </a:lnTo>
                  <a:close/>
                </a:path>
              </a:pathLst>
            </a:custGeom>
            <a:solidFill>
              <a:srgbClr val="FFFFFF"/>
            </a:solidFill>
          </p:spPr>
          <p:txBody>
            <a:bodyPr/>
            <a:lstStyle/>
            <a:p>
              <a:endParaRPr lang="es-GT"/>
            </a:p>
          </p:txBody>
        </p:sp>
        <p:sp>
          <p:nvSpPr>
            <p:cNvPr id="8" name="TextBox 8"/>
            <p:cNvSpPr txBox="1"/>
            <p:nvPr/>
          </p:nvSpPr>
          <p:spPr>
            <a:xfrm>
              <a:off x="0" y="-76200"/>
              <a:ext cx="969536" cy="409938"/>
            </a:xfrm>
            <a:prstGeom prst="rect">
              <a:avLst/>
            </a:prstGeom>
          </p:spPr>
          <p:txBody>
            <a:bodyPr lIns="50800" tIns="50800" rIns="50800" bIns="50800" rtlCol="0" anchor="ctr"/>
            <a:lstStyle/>
            <a:p>
              <a:pPr algn="ctr">
                <a:lnSpc>
                  <a:spcPts val="4143"/>
                </a:lnSpc>
              </a:pPr>
              <a:r>
                <a:rPr lang="en-US" sz="2799" spc="81">
                  <a:solidFill>
                    <a:srgbClr val="000000"/>
                  </a:solidFill>
                  <a:latin typeface="Garet"/>
                  <a:ea typeface="Garet"/>
                  <a:cs typeface="Garet"/>
                  <a:sym typeface="Garet"/>
                </a:rPr>
                <a:t>RECORDATORIOS</a:t>
              </a:r>
            </a:p>
          </p:txBody>
        </p:sp>
      </p:grpSp>
      <p:sp>
        <p:nvSpPr>
          <p:cNvPr id="9" name="Freeform 9"/>
          <p:cNvSpPr/>
          <p:nvPr/>
        </p:nvSpPr>
        <p:spPr>
          <a:xfrm>
            <a:off x="651754" y="3429735"/>
            <a:ext cx="753892" cy="872928"/>
          </a:xfrm>
          <a:custGeom>
            <a:avLst/>
            <a:gdLst/>
            <a:ahLst/>
            <a:cxnLst/>
            <a:rect l="l" t="t" r="r" b="b"/>
            <a:pathLst>
              <a:path w="753892" h="872928">
                <a:moveTo>
                  <a:pt x="0" y="0"/>
                </a:moveTo>
                <a:lnTo>
                  <a:pt x="753892" y="0"/>
                </a:lnTo>
                <a:lnTo>
                  <a:pt x="753892" y="872927"/>
                </a:lnTo>
                <a:lnTo>
                  <a:pt x="0" y="8729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GT"/>
          </a:p>
        </p:txBody>
      </p:sp>
      <p:grpSp>
        <p:nvGrpSpPr>
          <p:cNvPr id="10" name="Group 10"/>
          <p:cNvGrpSpPr/>
          <p:nvPr/>
        </p:nvGrpSpPr>
        <p:grpSpPr>
          <a:xfrm>
            <a:off x="651754" y="-249180"/>
            <a:ext cx="6140237" cy="2980843"/>
            <a:chOff x="0" y="0"/>
            <a:chExt cx="8186982" cy="3974458"/>
          </a:xfrm>
        </p:grpSpPr>
        <p:sp>
          <p:nvSpPr>
            <p:cNvPr id="11" name="TextBox 11"/>
            <p:cNvSpPr txBox="1"/>
            <p:nvPr/>
          </p:nvSpPr>
          <p:spPr>
            <a:xfrm>
              <a:off x="0" y="986783"/>
              <a:ext cx="8186982" cy="2987675"/>
            </a:xfrm>
            <a:prstGeom prst="rect">
              <a:avLst/>
            </a:prstGeom>
          </p:spPr>
          <p:txBody>
            <a:bodyPr lIns="0" tIns="0" rIns="0" bIns="0" rtlCol="0" anchor="t">
              <a:spAutoFit/>
            </a:bodyPr>
            <a:lstStyle/>
            <a:p>
              <a:pPr algn="l">
                <a:lnSpc>
                  <a:spcPts val="17250"/>
                </a:lnSpc>
              </a:pPr>
              <a:r>
                <a:rPr lang="en-US" sz="15000">
                  <a:solidFill>
                    <a:srgbClr val="131416"/>
                  </a:solidFill>
                  <a:latin typeface="Playlist Script"/>
                  <a:ea typeface="Playlist Script"/>
                  <a:cs typeface="Playlist Script"/>
                  <a:sym typeface="Playlist Script"/>
                </a:rPr>
                <a:t>Agenda</a:t>
              </a:r>
            </a:p>
          </p:txBody>
        </p:sp>
        <p:sp>
          <p:nvSpPr>
            <p:cNvPr id="12" name="TextBox 12"/>
            <p:cNvSpPr txBox="1"/>
            <p:nvPr/>
          </p:nvSpPr>
          <p:spPr>
            <a:xfrm>
              <a:off x="0" y="-95250"/>
              <a:ext cx="8186982" cy="927435"/>
            </a:xfrm>
            <a:prstGeom prst="rect">
              <a:avLst/>
            </a:prstGeom>
          </p:spPr>
          <p:txBody>
            <a:bodyPr lIns="0" tIns="0" rIns="0" bIns="0" rtlCol="0" anchor="t">
              <a:spAutoFit/>
            </a:bodyPr>
            <a:lstStyle/>
            <a:p>
              <a:pPr algn="l">
                <a:lnSpc>
                  <a:spcPts val="5733"/>
                </a:lnSpc>
              </a:pPr>
              <a:endParaRPr/>
            </a:p>
          </p:txBody>
        </p:sp>
      </p:grpSp>
      <p:grpSp>
        <p:nvGrpSpPr>
          <p:cNvPr id="13" name="Group 13"/>
          <p:cNvGrpSpPr/>
          <p:nvPr/>
        </p:nvGrpSpPr>
        <p:grpSpPr>
          <a:xfrm>
            <a:off x="11131715" y="154716"/>
            <a:ext cx="8416862" cy="2844707"/>
            <a:chOff x="0" y="0"/>
            <a:chExt cx="11222483" cy="3792943"/>
          </a:xfrm>
        </p:grpSpPr>
        <p:sp>
          <p:nvSpPr>
            <p:cNvPr id="14" name="TextBox 14"/>
            <p:cNvSpPr txBox="1"/>
            <p:nvPr/>
          </p:nvSpPr>
          <p:spPr>
            <a:xfrm>
              <a:off x="0" y="805268"/>
              <a:ext cx="11222483" cy="2987675"/>
            </a:xfrm>
            <a:prstGeom prst="rect">
              <a:avLst/>
            </a:prstGeom>
          </p:spPr>
          <p:txBody>
            <a:bodyPr lIns="0" tIns="0" rIns="0" bIns="0" rtlCol="0" anchor="t">
              <a:spAutoFit/>
            </a:bodyPr>
            <a:lstStyle/>
            <a:p>
              <a:pPr algn="l">
                <a:lnSpc>
                  <a:spcPts val="17250"/>
                </a:lnSpc>
              </a:pPr>
              <a:r>
                <a:rPr lang="en-US" sz="15000">
                  <a:solidFill>
                    <a:srgbClr val="131416"/>
                  </a:solidFill>
                  <a:latin typeface="Playlist Script"/>
                  <a:ea typeface="Playlist Script"/>
                  <a:cs typeface="Playlist Script"/>
                  <a:sym typeface="Playlist Script"/>
                </a:rPr>
                <a:t>Recursos</a:t>
              </a:r>
            </a:p>
          </p:txBody>
        </p:sp>
        <p:sp>
          <p:nvSpPr>
            <p:cNvPr id="15" name="TextBox 15"/>
            <p:cNvSpPr txBox="1"/>
            <p:nvPr/>
          </p:nvSpPr>
          <p:spPr>
            <a:xfrm>
              <a:off x="0" y="-76200"/>
              <a:ext cx="11222483" cy="747545"/>
            </a:xfrm>
            <a:prstGeom prst="rect">
              <a:avLst/>
            </a:prstGeom>
          </p:spPr>
          <p:txBody>
            <a:bodyPr lIns="0" tIns="0" rIns="0" bIns="0" rtlCol="0" anchor="t">
              <a:spAutoFit/>
            </a:bodyPr>
            <a:lstStyle/>
            <a:p>
              <a:pPr algn="l">
                <a:lnSpc>
                  <a:spcPts val="4625"/>
                </a:lnSpc>
              </a:pPr>
              <a:endParaRPr/>
            </a:p>
          </p:txBody>
        </p:sp>
      </p:grpSp>
      <p:grpSp>
        <p:nvGrpSpPr>
          <p:cNvPr id="16" name="Group 16"/>
          <p:cNvGrpSpPr/>
          <p:nvPr/>
        </p:nvGrpSpPr>
        <p:grpSpPr>
          <a:xfrm>
            <a:off x="10220326" y="5365870"/>
            <a:ext cx="7038974" cy="1605280"/>
            <a:chOff x="0" y="0"/>
            <a:chExt cx="1853886" cy="422790"/>
          </a:xfrm>
        </p:grpSpPr>
        <p:sp>
          <p:nvSpPr>
            <p:cNvPr id="17" name="Freeform 17"/>
            <p:cNvSpPr/>
            <p:nvPr/>
          </p:nvSpPr>
          <p:spPr>
            <a:xfrm>
              <a:off x="0" y="0"/>
              <a:ext cx="1853886" cy="422790"/>
            </a:xfrm>
            <a:custGeom>
              <a:avLst/>
              <a:gdLst/>
              <a:ahLst/>
              <a:cxnLst/>
              <a:rect l="l" t="t" r="r" b="b"/>
              <a:pathLst>
                <a:path w="1853886" h="422790">
                  <a:moveTo>
                    <a:pt x="1650686" y="0"/>
                  </a:moveTo>
                  <a:lnTo>
                    <a:pt x="0" y="0"/>
                  </a:lnTo>
                  <a:lnTo>
                    <a:pt x="0" y="422790"/>
                  </a:lnTo>
                  <a:lnTo>
                    <a:pt x="1650686" y="422790"/>
                  </a:lnTo>
                  <a:lnTo>
                    <a:pt x="1853886" y="211395"/>
                  </a:lnTo>
                  <a:lnTo>
                    <a:pt x="1650686" y="0"/>
                  </a:lnTo>
                  <a:close/>
                </a:path>
              </a:pathLst>
            </a:custGeom>
            <a:solidFill>
              <a:srgbClr val="FFFFFF"/>
            </a:solidFill>
          </p:spPr>
          <p:txBody>
            <a:bodyPr/>
            <a:lstStyle/>
            <a:p>
              <a:endParaRPr lang="es-GT"/>
            </a:p>
          </p:txBody>
        </p:sp>
        <p:sp>
          <p:nvSpPr>
            <p:cNvPr id="18" name="TextBox 18"/>
            <p:cNvSpPr txBox="1"/>
            <p:nvPr/>
          </p:nvSpPr>
          <p:spPr>
            <a:xfrm>
              <a:off x="0" y="-47625"/>
              <a:ext cx="1739586" cy="470415"/>
            </a:xfrm>
            <a:prstGeom prst="rect">
              <a:avLst/>
            </a:prstGeom>
          </p:spPr>
          <p:txBody>
            <a:bodyPr lIns="50800" tIns="50800" rIns="50800" bIns="50800" rtlCol="0" anchor="ctr"/>
            <a:lstStyle/>
            <a:p>
              <a:pPr algn="ctr">
                <a:lnSpc>
                  <a:spcPts val="2960"/>
                </a:lnSpc>
              </a:pPr>
              <a:r>
                <a:rPr lang="en-US" sz="2000" b="1" spc="58">
                  <a:solidFill>
                    <a:srgbClr val="000000"/>
                  </a:solidFill>
                  <a:latin typeface="Garet Bold"/>
                  <a:ea typeface="Garet Bold"/>
                  <a:cs typeface="Garet Bold"/>
                  <a:sym typeface="Garet Bold"/>
                </a:rPr>
                <a:t>Link de Quizziz:</a:t>
              </a:r>
            </a:p>
            <a:p>
              <a:pPr algn="ctr">
                <a:lnSpc>
                  <a:spcPts val="2960"/>
                </a:lnSpc>
              </a:pPr>
              <a:endParaRPr lang="en-US" sz="2000" b="1" spc="58">
                <a:solidFill>
                  <a:srgbClr val="000000"/>
                </a:solidFill>
                <a:latin typeface="Garet Bold"/>
                <a:ea typeface="Garet Bold"/>
                <a:cs typeface="Garet Bold"/>
                <a:sym typeface="Garet Bold"/>
              </a:endParaRPr>
            </a:p>
            <a:p>
              <a:pPr algn="ctr">
                <a:lnSpc>
                  <a:spcPts val="2960"/>
                </a:lnSpc>
              </a:pPr>
              <a:r>
                <a:rPr lang="en-US" sz="2000" spc="58">
                  <a:solidFill>
                    <a:srgbClr val="000000"/>
                  </a:solidFill>
                  <a:latin typeface="Garet"/>
                  <a:ea typeface="Garet"/>
                  <a:cs typeface="Garet"/>
                  <a:sym typeface="Garet"/>
                </a:rPr>
                <a:t>https://create.kahoot.it/details/cc8e4463-cc27-42cc-8929-763d2174854c</a:t>
              </a:r>
            </a:p>
          </p:txBody>
        </p:sp>
      </p:grpSp>
      <p:grpSp>
        <p:nvGrpSpPr>
          <p:cNvPr id="19" name="Group 19"/>
          <p:cNvGrpSpPr/>
          <p:nvPr/>
        </p:nvGrpSpPr>
        <p:grpSpPr>
          <a:xfrm>
            <a:off x="10220326" y="3232617"/>
            <a:ext cx="7038974" cy="1267162"/>
            <a:chOff x="0" y="0"/>
            <a:chExt cx="1853886" cy="333738"/>
          </a:xfrm>
        </p:grpSpPr>
        <p:sp>
          <p:nvSpPr>
            <p:cNvPr id="20" name="Freeform 20"/>
            <p:cNvSpPr/>
            <p:nvPr/>
          </p:nvSpPr>
          <p:spPr>
            <a:xfrm>
              <a:off x="0" y="0"/>
              <a:ext cx="1853886" cy="333738"/>
            </a:xfrm>
            <a:custGeom>
              <a:avLst/>
              <a:gdLst/>
              <a:ahLst/>
              <a:cxnLst/>
              <a:rect l="l" t="t" r="r" b="b"/>
              <a:pathLst>
                <a:path w="1853886" h="333738">
                  <a:moveTo>
                    <a:pt x="1650686" y="0"/>
                  </a:moveTo>
                  <a:lnTo>
                    <a:pt x="0" y="0"/>
                  </a:lnTo>
                  <a:lnTo>
                    <a:pt x="0" y="333738"/>
                  </a:lnTo>
                  <a:lnTo>
                    <a:pt x="1650686" y="333738"/>
                  </a:lnTo>
                  <a:lnTo>
                    <a:pt x="1853886" y="166869"/>
                  </a:lnTo>
                  <a:lnTo>
                    <a:pt x="1650686" y="0"/>
                  </a:lnTo>
                  <a:close/>
                </a:path>
              </a:pathLst>
            </a:custGeom>
            <a:solidFill>
              <a:srgbClr val="FFFFFF"/>
            </a:solidFill>
          </p:spPr>
          <p:txBody>
            <a:bodyPr/>
            <a:lstStyle/>
            <a:p>
              <a:endParaRPr lang="es-GT"/>
            </a:p>
          </p:txBody>
        </p:sp>
        <p:sp>
          <p:nvSpPr>
            <p:cNvPr id="21" name="TextBox 21"/>
            <p:cNvSpPr txBox="1"/>
            <p:nvPr/>
          </p:nvSpPr>
          <p:spPr>
            <a:xfrm>
              <a:off x="0" y="-47625"/>
              <a:ext cx="1739586" cy="381363"/>
            </a:xfrm>
            <a:prstGeom prst="rect">
              <a:avLst/>
            </a:prstGeom>
          </p:spPr>
          <p:txBody>
            <a:bodyPr lIns="50800" tIns="50800" rIns="50800" bIns="50800" rtlCol="0" anchor="ctr"/>
            <a:lstStyle/>
            <a:p>
              <a:pPr algn="ctr">
                <a:lnSpc>
                  <a:spcPts val="2960"/>
                </a:lnSpc>
              </a:pPr>
              <a:r>
                <a:rPr lang="en-US" sz="2000" b="1" spc="58">
                  <a:solidFill>
                    <a:srgbClr val="000000"/>
                  </a:solidFill>
                  <a:latin typeface="Garet Bold"/>
                  <a:ea typeface="Garet Bold"/>
                  <a:cs typeface="Garet Bold"/>
                  <a:sym typeface="Garet Bold"/>
                </a:rPr>
                <a:t>Link video:</a:t>
              </a:r>
            </a:p>
            <a:p>
              <a:pPr algn="ctr">
                <a:lnSpc>
                  <a:spcPts val="2960"/>
                </a:lnSpc>
              </a:pPr>
              <a:endParaRPr lang="en-US" sz="2000" b="1" spc="58">
                <a:solidFill>
                  <a:srgbClr val="000000"/>
                </a:solidFill>
                <a:latin typeface="Garet Bold"/>
                <a:ea typeface="Garet Bold"/>
                <a:cs typeface="Garet Bold"/>
                <a:sym typeface="Garet Bold"/>
              </a:endParaRPr>
            </a:p>
            <a:p>
              <a:pPr algn="ctr">
                <a:lnSpc>
                  <a:spcPts val="2960"/>
                </a:lnSpc>
              </a:pPr>
              <a:r>
                <a:rPr lang="en-US" sz="2000" spc="58">
                  <a:solidFill>
                    <a:srgbClr val="000000"/>
                  </a:solidFill>
                  <a:latin typeface="Garet"/>
                  <a:ea typeface="Garet"/>
                  <a:cs typeface="Garet"/>
                  <a:sym typeface="Garet"/>
                </a:rPr>
                <a:t>https://youtu.be/XHKBruGBD6c</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TextBox 2"/>
          <p:cNvSpPr txBox="1"/>
          <p:nvPr/>
        </p:nvSpPr>
        <p:spPr>
          <a:xfrm>
            <a:off x="1374889" y="654364"/>
            <a:ext cx="13991174" cy="1801020"/>
          </a:xfrm>
          <a:prstGeom prst="rect">
            <a:avLst/>
          </a:prstGeom>
        </p:spPr>
        <p:txBody>
          <a:bodyPr lIns="0" tIns="0" rIns="0" bIns="0" rtlCol="0" anchor="t">
            <a:spAutoFit/>
          </a:bodyPr>
          <a:lstStyle/>
          <a:p>
            <a:pPr algn="just">
              <a:lnSpc>
                <a:spcPts val="6890"/>
              </a:lnSpc>
            </a:pPr>
            <a:r>
              <a:rPr lang="en-US" sz="6098">
                <a:solidFill>
                  <a:srgbClr val="131416"/>
                </a:solidFill>
                <a:latin typeface="Horizon"/>
                <a:ea typeface="Horizon"/>
                <a:cs typeface="Horizon"/>
                <a:sym typeface="Horizon"/>
              </a:rPr>
              <a:t>COMPETENCIA(S) QUE DESARROLLAREMOS</a:t>
            </a:r>
          </a:p>
        </p:txBody>
      </p:sp>
      <p:sp>
        <p:nvSpPr>
          <p:cNvPr id="3" name="TextBox 3"/>
          <p:cNvSpPr txBox="1"/>
          <p:nvPr/>
        </p:nvSpPr>
        <p:spPr>
          <a:xfrm>
            <a:off x="1917751" y="2940050"/>
            <a:ext cx="13448312" cy="5613400"/>
          </a:xfrm>
          <a:prstGeom prst="rect">
            <a:avLst/>
          </a:prstGeom>
        </p:spPr>
        <p:txBody>
          <a:bodyPr lIns="0" tIns="0" rIns="0" bIns="0" rtlCol="0" anchor="t">
            <a:spAutoFit/>
          </a:bodyPr>
          <a:lstStyle/>
          <a:p>
            <a:pPr marL="863599" lvl="1" indent="-431800" algn="just">
              <a:lnSpc>
                <a:spcPts val="5599"/>
              </a:lnSpc>
              <a:buFont typeface="Arial"/>
              <a:buChar char="•"/>
            </a:pPr>
            <a:r>
              <a:rPr lang="en-US" sz="3999">
                <a:solidFill>
                  <a:srgbClr val="131416"/>
                </a:solidFill>
                <a:latin typeface="Open Sans"/>
                <a:ea typeface="Open Sans"/>
                <a:cs typeface="Open Sans"/>
                <a:sym typeface="Open Sans"/>
              </a:rPr>
              <a:t>Aplica la construcción de árboles lógicos y tríadas conceptuales para representar gráficamente las estructuras de pensamiento trabajadas en el curso</a:t>
            </a:r>
          </a:p>
          <a:p>
            <a:pPr algn="just">
              <a:lnSpc>
                <a:spcPts val="5599"/>
              </a:lnSpc>
            </a:pPr>
            <a:endParaRPr lang="en-US" sz="3999">
              <a:solidFill>
                <a:srgbClr val="131416"/>
              </a:solidFill>
              <a:latin typeface="Open Sans"/>
              <a:ea typeface="Open Sans"/>
              <a:cs typeface="Open Sans"/>
              <a:sym typeface="Open Sans"/>
            </a:endParaRPr>
          </a:p>
          <a:p>
            <a:pPr marL="863599" lvl="1" indent="-431800" algn="just">
              <a:lnSpc>
                <a:spcPts val="5599"/>
              </a:lnSpc>
              <a:buFont typeface="Arial"/>
              <a:buChar char="•"/>
            </a:pPr>
            <a:r>
              <a:rPr lang="en-US" sz="3999">
                <a:solidFill>
                  <a:srgbClr val="131416"/>
                </a:solidFill>
                <a:latin typeface="Open Sans"/>
                <a:ea typeface="Open Sans"/>
                <a:cs typeface="Open Sans"/>
                <a:sym typeface="Open Sans"/>
              </a:rPr>
              <a:t>Evalúa la validez de razonamientos y falacias empleando discusiones guiadas y la resolución de dilemas en contextos académicos del curso</a:t>
            </a:r>
          </a:p>
          <a:p>
            <a:pPr algn="just">
              <a:lnSpc>
                <a:spcPts val="5599"/>
              </a:lnSpc>
            </a:pPr>
            <a:endParaRPr lang="en-US" sz="3999">
              <a:solidFill>
                <a:srgbClr val="131416"/>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TextBox 2"/>
          <p:cNvSpPr txBox="1"/>
          <p:nvPr/>
        </p:nvSpPr>
        <p:spPr>
          <a:xfrm>
            <a:off x="1374889" y="3027816"/>
            <a:ext cx="12625499" cy="6784193"/>
          </a:xfrm>
          <a:prstGeom prst="rect">
            <a:avLst/>
          </a:prstGeom>
        </p:spPr>
        <p:txBody>
          <a:bodyPr lIns="0" tIns="0" rIns="0" bIns="0" rtlCol="0" anchor="t">
            <a:spAutoFit/>
          </a:bodyPr>
          <a:lstStyle/>
          <a:p>
            <a:pPr marL="847776" lvl="1" indent="-423888" algn="l">
              <a:lnSpc>
                <a:spcPts val="6793"/>
              </a:lnSpc>
              <a:buFont typeface="Arial"/>
              <a:buChar char="•"/>
            </a:pPr>
            <a:r>
              <a:rPr lang="en-US" sz="3926">
                <a:solidFill>
                  <a:srgbClr val="131416"/>
                </a:solidFill>
                <a:latin typeface="Garet"/>
                <a:ea typeface="Garet"/>
                <a:cs typeface="Garet"/>
                <a:sym typeface="Garet"/>
              </a:rPr>
              <a:t>Triadas Parciales</a:t>
            </a:r>
          </a:p>
          <a:p>
            <a:pPr marL="847776" lvl="1" indent="-423888" algn="l">
              <a:lnSpc>
                <a:spcPts val="6793"/>
              </a:lnSpc>
              <a:buFont typeface="Arial"/>
              <a:buChar char="•"/>
            </a:pPr>
            <a:r>
              <a:rPr lang="en-US" sz="3926">
                <a:solidFill>
                  <a:srgbClr val="131416"/>
                </a:solidFill>
                <a:latin typeface="Garet"/>
                <a:ea typeface="Garet"/>
                <a:cs typeface="Garet"/>
                <a:sym typeface="Garet"/>
              </a:rPr>
              <a:t>Objetos </a:t>
            </a:r>
          </a:p>
          <a:p>
            <a:pPr marL="847776" lvl="1" indent="-423888" algn="l">
              <a:lnSpc>
                <a:spcPts val="6793"/>
              </a:lnSpc>
              <a:buFont typeface="Arial"/>
              <a:buChar char="•"/>
            </a:pPr>
            <a:r>
              <a:rPr lang="en-US" sz="3926">
                <a:solidFill>
                  <a:srgbClr val="131416"/>
                </a:solidFill>
                <a:latin typeface="Garet"/>
                <a:ea typeface="Garet"/>
                <a:cs typeface="Garet"/>
                <a:sym typeface="Garet"/>
              </a:rPr>
              <a:t>Sinónimos y Homónimos</a:t>
            </a:r>
          </a:p>
          <a:p>
            <a:pPr marL="847776" lvl="1" indent="-423888" algn="l">
              <a:lnSpc>
                <a:spcPts val="6793"/>
              </a:lnSpc>
              <a:buFont typeface="Arial"/>
              <a:buChar char="•"/>
            </a:pPr>
            <a:r>
              <a:rPr lang="en-US" sz="3926">
                <a:solidFill>
                  <a:srgbClr val="131416"/>
                </a:solidFill>
                <a:latin typeface="Garet"/>
                <a:ea typeface="Garet"/>
                <a:cs typeface="Garet"/>
                <a:sym typeface="Garet"/>
              </a:rPr>
              <a:t> Diagrama del árbol </a:t>
            </a:r>
          </a:p>
          <a:p>
            <a:pPr marL="847776" lvl="1" indent="-423888" algn="l">
              <a:lnSpc>
                <a:spcPts val="6793"/>
              </a:lnSpc>
              <a:buFont typeface="Arial"/>
              <a:buChar char="•"/>
            </a:pPr>
            <a:r>
              <a:rPr lang="en-US" sz="3926">
                <a:solidFill>
                  <a:srgbClr val="131416"/>
                </a:solidFill>
                <a:latin typeface="Garet"/>
                <a:ea typeface="Garet"/>
                <a:cs typeface="Garet"/>
                <a:sym typeface="Garet"/>
              </a:rPr>
              <a:t>Operaciones Lógicas</a:t>
            </a:r>
          </a:p>
          <a:p>
            <a:pPr marL="847776" lvl="1" indent="-423888" algn="l">
              <a:lnSpc>
                <a:spcPts val="6793"/>
              </a:lnSpc>
              <a:buFont typeface="Arial"/>
              <a:buChar char="•"/>
            </a:pPr>
            <a:r>
              <a:rPr lang="en-US" sz="3926">
                <a:solidFill>
                  <a:srgbClr val="131416"/>
                </a:solidFill>
                <a:latin typeface="Garet"/>
                <a:ea typeface="Garet"/>
                <a:cs typeface="Garet"/>
                <a:sym typeface="Garet"/>
              </a:rPr>
              <a:t>Proposiciones</a:t>
            </a:r>
          </a:p>
          <a:p>
            <a:pPr marL="847776" lvl="1" indent="-423888" algn="l">
              <a:lnSpc>
                <a:spcPts val="6793"/>
              </a:lnSpc>
              <a:buFont typeface="Arial"/>
              <a:buChar char="•"/>
            </a:pPr>
            <a:r>
              <a:rPr lang="en-US" sz="3926">
                <a:solidFill>
                  <a:srgbClr val="131416"/>
                </a:solidFill>
                <a:latin typeface="Garet"/>
                <a:ea typeface="Garet"/>
                <a:cs typeface="Garet"/>
                <a:sym typeface="Garet"/>
              </a:rPr>
              <a:t>Logica del Razonamiento</a:t>
            </a:r>
          </a:p>
          <a:p>
            <a:pPr algn="l">
              <a:lnSpc>
                <a:spcPts val="6793"/>
              </a:lnSpc>
            </a:pPr>
            <a:endParaRPr lang="en-US" sz="3926">
              <a:solidFill>
                <a:srgbClr val="131416"/>
              </a:solidFill>
              <a:latin typeface="Garet"/>
              <a:ea typeface="Garet"/>
              <a:cs typeface="Garet"/>
              <a:sym typeface="Garet"/>
            </a:endParaRPr>
          </a:p>
        </p:txBody>
      </p:sp>
      <p:sp>
        <p:nvSpPr>
          <p:cNvPr id="3" name="TextBox 3"/>
          <p:cNvSpPr txBox="1"/>
          <p:nvPr/>
        </p:nvSpPr>
        <p:spPr>
          <a:xfrm>
            <a:off x="1374889" y="654364"/>
            <a:ext cx="13991174" cy="937141"/>
          </a:xfrm>
          <a:prstGeom prst="rect">
            <a:avLst/>
          </a:prstGeom>
        </p:spPr>
        <p:txBody>
          <a:bodyPr lIns="0" tIns="0" rIns="0" bIns="0" rtlCol="0" anchor="t">
            <a:spAutoFit/>
          </a:bodyPr>
          <a:lstStyle/>
          <a:p>
            <a:pPr algn="just">
              <a:lnSpc>
                <a:spcPts val="6890"/>
              </a:lnSpc>
            </a:pPr>
            <a:r>
              <a:rPr lang="en-US" sz="6098">
                <a:solidFill>
                  <a:srgbClr val="131416"/>
                </a:solidFill>
                <a:latin typeface="Horizon"/>
                <a:ea typeface="Horizon"/>
                <a:cs typeface="Horizon"/>
                <a:sym typeface="Horizon"/>
              </a:rPr>
              <a:t>CONTENIDO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a:off x="9144000" y="2919265"/>
            <a:ext cx="7908390" cy="4448470"/>
          </a:xfrm>
          <a:custGeom>
            <a:avLst/>
            <a:gdLst/>
            <a:ahLst/>
            <a:cxnLst/>
            <a:rect l="l" t="t" r="r" b="b"/>
            <a:pathLst>
              <a:path w="7908390" h="4448470">
                <a:moveTo>
                  <a:pt x="0" y="0"/>
                </a:moveTo>
                <a:lnTo>
                  <a:pt x="7908390" y="0"/>
                </a:lnTo>
                <a:lnTo>
                  <a:pt x="7908390" y="4448470"/>
                </a:lnTo>
                <a:lnTo>
                  <a:pt x="0" y="4448470"/>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1028700" y="782002"/>
            <a:ext cx="15884411" cy="545465"/>
          </a:xfrm>
          <a:prstGeom prst="rect">
            <a:avLst/>
          </a:prstGeom>
        </p:spPr>
        <p:txBody>
          <a:bodyPr lIns="0" tIns="0" rIns="0" bIns="0" rtlCol="0" anchor="t">
            <a:spAutoFit/>
          </a:bodyPr>
          <a:lstStyle/>
          <a:p>
            <a:pPr algn="l">
              <a:lnSpc>
                <a:spcPts val="3955"/>
              </a:lnSpc>
            </a:pPr>
            <a:r>
              <a:rPr lang="en-US" sz="3500">
                <a:solidFill>
                  <a:srgbClr val="131416"/>
                </a:solidFill>
                <a:latin typeface="Horizon"/>
                <a:ea typeface="Horizon"/>
                <a:cs typeface="Horizon"/>
                <a:sym typeface="Horizon"/>
              </a:rPr>
              <a:t>¿QUE ES UN OBJETO?</a:t>
            </a:r>
          </a:p>
        </p:txBody>
      </p:sp>
      <p:sp>
        <p:nvSpPr>
          <p:cNvPr id="4" name="TextBox 4"/>
          <p:cNvSpPr txBox="1"/>
          <p:nvPr/>
        </p:nvSpPr>
        <p:spPr>
          <a:xfrm>
            <a:off x="351713" y="2495368"/>
            <a:ext cx="8028233" cy="5549900"/>
          </a:xfrm>
          <a:prstGeom prst="rect">
            <a:avLst/>
          </a:prstGeom>
        </p:spPr>
        <p:txBody>
          <a:bodyPr lIns="0" tIns="0" rIns="0" bIns="0" rtlCol="0" anchor="t">
            <a:spAutoFit/>
          </a:bodyPr>
          <a:lstStyle/>
          <a:p>
            <a:pPr algn="just">
              <a:lnSpc>
                <a:spcPts val="4900"/>
              </a:lnSpc>
            </a:pPr>
            <a:r>
              <a:rPr lang="en-US" sz="3500">
                <a:solidFill>
                  <a:srgbClr val="131416"/>
                </a:solidFill>
                <a:latin typeface="Open Sans"/>
                <a:ea typeface="Open Sans"/>
                <a:cs typeface="Open Sans"/>
                <a:sym typeface="Open Sans"/>
              </a:rPr>
              <a:t>Un objeto es cualquier cosa concreta o abstracta a la que se puede aplicar un concepto. Es una instancia particular que podemos percibir, describir o analizar gracias a los conceptos que poseemos.</a:t>
            </a:r>
          </a:p>
          <a:p>
            <a:pPr algn="just">
              <a:lnSpc>
                <a:spcPts val="4900"/>
              </a:lnSpc>
            </a:pPr>
            <a:r>
              <a:rPr lang="en-US" sz="3500" b="1">
                <a:solidFill>
                  <a:srgbClr val="131416"/>
                </a:solidFill>
                <a:latin typeface="Open Sans Bold"/>
                <a:ea typeface="Open Sans Bold"/>
                <a:cs typeface="Open Sans Bold"/>
                <a:sym typeface="Open Sans Bold"/>
              </a:rPr>
              <a:t>Ejemplo:</a:t>
            </a:r>
            <a:r>
              <a:rPr lang="en-US" sz="3500">
                <a:solidFill>
                  <a:srgbClr val="131416"/>
                </a:solidFill>
                <a:latin typeface="Open Sans"/>
                <a:ea typeface="Open Sans"/>
                <a:cs typeface="Open Sans"/>
                <a:sym typeface="Open Sans"/>
              </a:rPr>
              <a:t> Un celular específico que usas todos los días es un objeto del concepto general “teléfono móvil”.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TextBox 2"/>
          <p:cNvSpPr txBox="1"/>
          <p:nvPr/>
        </p:nvSpPr>
        <p:spPr>
          <a:xfrm>
            <a:off x="1028700" y="782002"/>
            <a:ext cx="15884411" cy="545465"/>
          </a:xfrm>
          <a:prstGeom prst="rect">
            <a:avLst/>
          </a:prstGeom>
        </p:spPr>
        <p:txBody>
          <a:bodyPr lIns="0" tIns="0" rIns="0" bIns="0" rtlCol="0" anchor="t">
            <a:spAutoFit/>
          </a:bodyPr>
          <a:lstStyle/>
          <a:p>
            <a:pPr algn="l">
              <a:lnSpc>
                <a:spcPts val="3955"/>
              </a:lnSpc>
            </a:pPr>
            <a:r>
              <a:rPr lang="en-US" sz="3500">
                <a:solidFill>
                  <a:srgbClr val="131416"/>
                </a:solidFill>
                <a:latin typeface="Horizon"/>
                <a:ea typeface="Horizon"/>
                <a:cs typeface="Horizon"/>
                <a:sym typeface="Horizon"/>
              </a:rPr>
              <a:t>TRIADAS DEL CONCEPTO</a:t>
            </a:r>
          </a:p>
        </p:txBody>
      </p:sp>
      <p:sp>
        <p:nvSpPr>
          <p:cNvPr id="3" name="TextBox 3"/>
          <p:cNvSpPr txBox="1"/>
          <p:nvPr/>
        </p:nvSpPr>
        <p:spPr>
          <a:xfrm>
            <a:off x="1396015" y="1632672"/>
            <a:ext cx="15863285" cy="10115550"/>
          </a:xfrm>
          <a:prstGeom prst="rect">
            <a:avLst/>
          </a:prstGeom>
        </p:spPr>
        <p:txBody>
          <a:bodyPr lIns="0" tIns="0" rIns="0" bIns="0" rtlCol="0" anchor="t">
            <a:spAutoFit/>
          </a:bodyPr>
          <a:lstStyle/>
          <a:p>
            <a:pPr algn="just">
              <a:lnSpc>
                <a:spcPts val="4200"/>
              </a:lnSpc>
            </a:pPr>
            <a:endParaRPr/>
          </a:p>
          <a:p>
            <a:pPr algn="just">
              <a:lnSpc>
                <a:spcPts val="4200"/>
              </a:lnSpc>
            </a:pPr>
            <a:r>
              <a:rPr lang="en-US" sz="3000" b="1">
                <a:solidFill>
                  <a:srgbClr val="131416"/>
                </a:solidFill>
                <a:latin typeface="Open Sans Bold"/>
                <a:ea typeface="Open Sans Bold"/>
                <a:cs typeface="Open Sans Bold"/>
                <a:sym typeface="Open Sans Bold"/>
              </a:rPr>
              <a:t>Recordemos lo que son las triadas del concepto y que elementos la componen:</a:t>
            </a:r>
          </a:p>
          <a:p>
            <a:pPr algn="just">
              <a:lnSpc>
                <a:spcPts val="4200"/>
              </a:lnSpc>
            </a:pPr>
            <a:endParaRPr lang="en-US" sz="3000" b="1">
              <a:solidFill>
                <a:srgbClr val="131416"/>
              </a:solidFill>
              <a:latin typeface="Open Sans Bold"/>
              <a:ea typeface="Open Sans Bold"/>
              <a:cs typeface="Open Sans Bold"/>
              <a:sym typeface="Open Sans Bold"/>
            </a:endParaRPr>
          </a:p>
          <a:p>
            <a:pPr algn="just">
              <a:lnSpc>
                <a:spcPts val="4200"/>
              </a:lnSpc>
            </a:pPr>
            <a:r>
              <a:rPr lang="en-US" sz="3000">
                <a:solidFill>
                  <a:srgbClr val="131416"/>
                </a:solidFill>
                <a:latin typeface="Open Sans"/>
                <a:ea typeface="Open Sans"/>
                <a:cs typeface="Open Sans"/>
                <a:sym typeface="Open Sans"/>
              </a:rPr>
              <a:t>Es el conjunto de tres elementos que usamos para comprender y reconocer un concepto, el nombre del concepto (símbolo), sus características principales (intensidad) y los ejemplos que lo representan (extensión).</a:t>
            </a:r>
          </a:p>
          <a:p>
            <a:pPr algn="just">
              <a:lnSpc>
                <a:spcPts val="4200"/>
              </a:lnSpc>
            </a:pPr>
            <a:endParaRPr lang="en-US" sz="3000">
              <a:solidFill>
                <a:srgbClr val="131416"/>
              </a:solidFill>
              <a:latin typeface="Open Sans"/>
              <a:ea typeface="Open Sans"/>
              <a:cs typeface="Open Sans"/>
              <a:sym typeface="Open Sans"/>
            </a:endParaRPr>
          </a:p>
          <a:p>
            <a:pPr algn="just">
              <a:lnSpc>
                <a:spcPts val="4200"/>
              </a:lnSpc>
            </a:pPr>
            <a:r>
              <a:rPr lang="en-US" sz="3000">
                <a:solidFill>
                  <a:srgbClr val="131416"/>
                </a:solidFill>
                <a:latin typeface="Open Sans"/>
                <a:ea typeface="Open Sans"/>
                <a:cs typeface="Open Sans"/>
                <a:sym typeface="Open Sans"/>
              </a:rPr>
              <a:t>Los elementos que componen las triadas del concepto son:</a:t>
            </a:r>
          </a:p>
          <a:p>
            <a:pPr algn="just">
              <a:lnSpc>
                <a:spcPts val="4200"/>
              </a:lnSpc>
            </a:pPr>
            <a:endParaRPr lang="en-US" sz="3000">
              <a:solidFill>
                <a:srgbClr val="131416"/>
              </a:solidFill>
              <a:latin typeface="Open Sans"/>
              <a:ea typeface="Open Sans"/>
              <a:cs typeface="Open Sans"/>
              <a:sym typeface="Open Sans"/>
            </a:endParaRPr>
          </a:p>
          <a:p>
            <a:pPr marL="647700" lvl="1" indent="-323850" algn="just">
              <a:lnSpc>
                <a:spcPts val="4200"/>
              </a:lnSpc>
              <a:buFont typeface="Arial"/>
              <a:buChar char="•"/>
            </a:pPr>
            <a:r>
              <a:rPr lang="en-US" sz="3000" b="1">
                <a:solidFill>
                  <a:srgbClr val="131416"/>
                </a:solidFill>
                <a:latin typeface="Open Sans Bold"/>
                <a:ea typeface="Open Sans Bold"/>
                <a:cs typeface="Open Sans Bold"/>
                <a:sym typeface="Open Sans Bold"/>
              </a:rPr>
              <a:t>Símbolo:</a:t>
            </a:r>
            <a:r>
              <a:rPr lang="en-US" sz="3000">
                <a:solidFill>
                  <a:srgbClr val="131416"/>
                </a:solidFill>
                <a:latin typeface="Open Sans"/>
                <a:ea typeface="Open Sans"/>
                <a:cs typeface="Open Sans"/>
                <a:sym typeface="Open Sans"/>
              </a:rPr>
              <a:t> Es la palabra o etiqueta con la que identificamos mentalmente una idea.</a:t>
            </a:r>
          </a:p>
          <a:p>
            <a:pPr marL="647700" lvl="1" indent="-323850" algn="just">
              <a:lnSpc>
                <a:spcPts val="4200"/>
              </a:lnSpc>
              <a:buFont typeface="Arial"/>
              <a:buChar char="•"/>
            </a:pPr>
            <a:r>
              <a:rPr lang="en-US" sz="3000" b="1">
                <a:solidFill>
                  <a:srgbClr val="131416"/>
                </a:solidFill>
                <a:latin typeface="Open Sans Bold"/>
                <a:ea typeface="Open Sans Bold"/>
                <a:cs typeface="Open Sans Bold"/>
                <a:sym typeface="Open Sans Bold"/>
              </a:rPr>
              <a:t>Intensidad: </a:t>
            </a:r>
            <a:r>
              <a:rPr lang="en-US" sz="3000">
                <a:solidFill>
                  <a:srgbClr val="131416"/>
                </a:solidFill>
                <a:latin typeface="Open Sans"/>
                <a:ea typeface="Open Sans"/>
                <a:cs typeface="Open Sans"/>
                <a:sym typeface="Open Sans"/>
              </a:rPr>
              <a:t>Son las características esenciales que definen al concepto.</a:t>
            </a:r>
          </a:p>
          <a:p>
            <a:pPr marL="647700" lvl="1" indent="-323850" algn="just">
              <a:lnSpc>
                <a:spcPts val="4200"/>
              </a:lnSpc>
              <a:buFont typeface="Arial"/>
              <a:buChar char="•"/>
            </a:pPr>
            <a:r>
              <a:rPr lang="en-US" sz="3000" b="1">
                <a:solidFill>
                  <a:srgbClr val="131416"/>
                </a:solidFill>
                <a:latin typeface="Open Sans Bold"/>
                <a:ea typeface="Open Sans Bold"/>
                <a:cs typeface="Open Sans Bold"/>
                <a:sym typeface="Open Sans Bold"/>
              </a:rPr>
              <a:t>Extensión: </a:t>
            </a:r>
            <a:r>
              <a:rPr lang="en-US" sz="3000">
                <a:solidFill>
                  <a:srgbClr val="131416"/>
                </a:solidFill>
                <a:latin typeface="Open Sans"/>
                <a:ea typeface="Open Sans"/>
                <a:cs typeface="Open Sans"/>
                <a:sym typeface="Open Sans"/>
              </a:rPr>
              <a:t>Son los ejemplos concretos que representan ese concepto.</a:t>
            </a:r>
          </a:p>
          <a:p>
            <a:pPr algn="just">
              <a:lnSpc>
                <a:spcPts val="4200"/>
              </a:lnSpc>
            </a:pPr>
            <a:endParaRPr lang="en-US" sz="3000">
              <a:solidFill>
                <a:srgbClr val="131416"/>
              </a:solidFill>
              <a:latin typeface="Open Sans"/>
              <a:ea typeface="Open Sans"/>
              <a:cs typeface="Open Sans"/>
              <a:sym typeface="Open Sans"/>
            </a:endParaRPr>
          </a:p>
          <a:p>
            <a:pPr algn="just">
              <a:lnSpc>
                <a:spcPts val="4200"/>
              </a:lnSpc>
            </a:pPr>
            <a:endParaRPr lang="en-US" sz="3000">
              <a:solidFill>
                <a:srgbClr val="131416"/>
              </a:solidFill>
              <a:latin typeface="Open Sans"/>
              <a:ea typeface="Open Sans"/>
              <a:cs typeface="Open Sans"/>
              <a:sym typeface="Open Sans"/>
            </a:endParaRPr>
          </a:p>
          <a:p>
            <a:pPr algn="just">
              <a:lnSpc>
                <a:spcPts val="4200"/>
              </a:lnSpc>
            </a:pPr>
            <a:endParaRPr lang="en-US" sz="3000">
              <a:solidFill>
                <a:srgbClr val="131416"/>
              </a:solidFill>
              <a:latin typeface="Open Sans"/>
              <a:ea typeface="Open Sans"/>
              <a:cs typeface="Open Sans"/>
              <a:sym typeface="Open Sans"/>
            </a:endParaRPr>
          </a:p>
          <a:p>
            <a:pPr algn="just">
              <a:lnSpc>
                <a:spcPts val="4200"/>
              </a:lnSpc>
            </a:pPr>
            <a:endParaRPr lang="en-US" sz="3000">
              <a:solidFill>
                <a:srgbClr val="131416"/>
              </a:solidFill>
              <a:latin typeface="Open Sans"/>
              <a:ea typeface="Open Sans"/>
              <a:cs typeface="Open Sans"/>
              <a:sym typeface="Open Sans"/>
            </a:endParaRPr>
          </a:p>
          <a:p>
            <a:pPr algn="just">
              <a:lnSpc>
                <a:spcPts val="4200"/>
              </a:lnSpc>
            </a:pPr>
            <a:endParaRPr lang="en-US" sz="3000">
              <a:solidFill>
                <a:srgbClr val="131416"/>
              </a:solidFill>
              <a:latin typeface="Open Sans"/>
              <a:ea typeface="Open Sans"/>
              <a:cs typeface="Open Sans"/>
              <a:sym typeface="Open Sans"/>
            </a:endParaRPr>
          </a:p>
          <a:p>
            <a:pPr algn="just">
              <a:lnSpc>
                <a:spcPts val="4200"/>
              </a:lnSpc>
            </a:pPr>
            <a:endParaRPr lang="en-US" sz="3000">
              <a:solidFill>
                <a:srgbClr val="131416"/>
              </a:solidFill>
              <a:latin typeface="Open Sans"/>
              <a:ea typeface="Open Sans"/>
              <a:cs typeface="Open Sans"/>
              <a:sym typeface="Open Sans"/>
            </a:endParaRPr>
          </a:p>
          <a:p>
            <a:pPr algn="just">
              <a:lnSpc>
                <a:spcPts val="4200"/>
              </a:lnSpc>
            </a:pPr>
            <a:endParaRPr lang="en-US" sz="3000">
              <a:solidFill>
                <a:srgbClr val="131416"/>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TextBox 2"/>
          <p:cNvSpPr txBox="1"/>
          <p:nvPr/>
        </p:nvSpPr>
        <p:spPr>
          <a:xfrm>
            <a:off x="1028700" y="782002"/>
            <a:ext cx="15884411" cy="545465"/>
          </a:xfrm>
          <a:prstGeom prst="rect">
            <a:avLst/>
          </a:prstGeom>
        </p:spPr>
        <p:txBody>
          <a:bodyPr lIns="0" tIns="0" rIns="0" bIns="0" rtlCol="0" anchor="t">
            <a:spAutoFit/>
          </a:bodyPr>
          <a:lstStyle/>
          <a:p>
            <a:pPr algn="l">
              <a:lnSpc>
                <a:spcPts val="3955"/>
              </a:lnSpc>
            </a:pPr>
            <a:r>
              <a:rPr lang="en-US" sz="3500">
                <a:solidFill>
                  <a:srgbClr val="131416"/>
                </a:solidFill>
                <a:latin typeface="Horizon"/>
                <a:ea typeface="Horizon"/>
                <a:cs typeface="Horizon"/>
                <a:sym typeface="Horizon"/>
              </a:rPr>
              <a:t>RECORDEMOS LAS TRIADAS PARCIALES</a:t>
            </a:r>
          </a:p>
        </p:txBody>
      </p:sp>
      <p:sp>
        <p:nvSpPr>
          <p:cNvPr id="3" name="TextBox 3"/>
          <p:cNvSpPr txBox="1"/>
          <p:nvPr/>
        </p:nvSpPr>
        <p:spPr>
          <a:xfrm>
            <a:off x="743589" y="1538445"/>
            <a:ext cx="15863285" cy="8515350"/>
          </a:xfrm>
          <a:prstGeom prst="rect">
            <a:avLst/>
          </a:prstGeom>
        </p:spPr>
        <p:txBody>
          <a:bodyPr lIns="0" tIns="0" rIns="0" bIns="0" rtlCol="0" anchor="t">
            <a:spAutoFit/>
          </a:bodyPr>
          <a:lstStyle/>
          <a:p>
            <a:pPr algn="just">
              <a:lnSpc>
                <a:spcPts val="4200"/>
              </a:lnSpc>
            </a:pPr>
            <a:r>
              <a:rPr lang="en-US" sz="3000">
                <a:solidFill>
                  <a:srgbClr val="131416"/>
                </a:solidFill>
                <a:latin typeface="Open Sans"/>
                <a:ea typeface="Open Sans"/>
                <a:cs typeface="Open Sans"/>
                <a:sym typeface="Open Sans"/>
              </a:rPr>
              <a:t>En alguna circunstancia, vemos triadas parciales, es decir triadas a las que les falta uno de los elementos que mencionamos con anterioridad, estos casos especiales son:</a:t>
            </a:r>
          </a:p>
          <a:p>
            <a:pPr algn="just">
              <a:lnSpc>
                <a:spcPts val="4200"/>
              </a:lnSpc>
            </a:pPr>
            <a:endParaRPr lang="en-US" sz="3000">
              <a:solidFill>
                <a:srgbClr val="131416"/>
              </a:solidFill>
              <a:latin typeface="Open Sans"/>
              <a:ea typeface="Open Sans"/>
              <a:cs typeface="Open Sans"/>
              <a:sym typeface="Open Sans"/>
            </a:endParaRPr>
          </a:p>
          <a:p>
            <a:pPr marL="647700" lvl="1" indent="-323850" algn="just">
              <a:lnSpc>
                <a:spcPts val="4200"/>
              </a:lnSpc>
              <a:buFont typeface="Arial"/>
              <a:buChar char="•"/>
            </a:pPr>
            <a:r>
              <a:rPr lang="en-US" sz="3000" b="1">
                <a:solidFill>
                  <a:srgbClr val="131416"/>
                </a:solidFill>
                <a:latin typeface="Open Sans Bold"/>
                <a:ea typeface="Open Sans Bold"/>
                <a:cs typeface="Open Sans Bold"/>
                <a:sym typeface="Open Sans Bold"/>
              </a:rPr>
              <a:t>Conceptos sin nombre:</a:t>
            </a:r>
            <a:r>
              <a:rPr lang="en-US" sz="3000">
                <a:solidFill>
                  <a:srgbClr val="131416"/>
                </a:solidFill>
                <a:latin typeface="Open Sans"/>
                <a:ea typeface="Open Sans"/>
                <a:cs typeface="Open Sans"/>
                <a:sym typeface="Open Sans"/>
              </a:rPr>
              <a:t> Es decir las triadas que no cuentan con un símbolo ya que un concepto puede existir en nuestra mente sin tener un nombre específico. Sin embargo, al nombrarlo con un símbolo o palabra, podemos comunicarlo de forma más rápida y efectiva.</a:t>
            </a:r>
          </a:p>
          <a:p>
            <a:pPr algn="just">
              <a:lnSpc>
                <a:spcPts val="4200"/>
              </a:lnSpc>
            </a:pPr>
            <a:endParaRPr lang="en-US" sz="3000">
              <a:solidFill>
                <a:srgbClr val="131416"/>
              </a:solidFill>
              <a:latin typeface="Open Sans"/>
              <a:ea typeface="Open Sans"/>
              <a:cs typeface="Open Sans"/>
              <a:sym typeface="Open Sans"/>
            </a:endParaRPr>
          </a:p>
          <a:p>
            <a:pPr marL="647700" lvl="1" indent="-323850" algn="just">
              <a:lnSpc>
                <a:spcPts val="4200"/>
              </a:lnSpc>
              <a:buFont typeface="Arial"/>
              <a:buChar char="•"/>
            </a:pPr>
            <a:r>
              <a:rPr lang="en-US" sz="3000" b="1">
                <a:solidFill>
                  <a:srgbClr val="131416"/>
                </a:solidFill>
                <a:latin typeface="Open Sans Bold"/>
                <a:ea typeface="Open Sans Bold"/>
                <a:cs typeface="Open Sans Bold"/>
                <a:sym typeface="Open Sans Bold"/>
              </a:rPr>
              <a:t>Conceptos sin objeto: </a:t>
            </a:r>
            <a:r>
              <a:rPr lang="en-US" sz="3000">
                <a:solidFill>
                  <a:srgbClr val="131416"/>
                </a:solidFill>
                <a:latin typeface="Open Sans"/>
                <a:ea typeface="Open Sans"/>
                <a:cs typeface="Open Sans"/>
                <a:sym typeface="Open Sans"/>
              </a:rPr>
              <a:t>Son conceptos que existen en nuestra mente, pero que no tienen un objeto real o presente asociado. Sirven para anticipar, imaginar o prevenir situaciones, aunque no exista un ejemplo concreto.  Es decir son las triadas que no cuentan con una extensión.</a:t>
            </a:r>
          </a:p>
          <a:p>
            <a:pPr algn="just">
              <a:lnSpc>
                <a:spcPts val="4200"/>
              </a:lnSpc>
            </a:pPr>
            <a:endParaRPr lang="en-US" sz="3000">
              <a:solidFill>
                <a:srgbClr val="131416"/>
              </a:solidFill>
              <a:latin typeface="Open Sans"/>
              <a:ea typeface="Open Sans"/>
              <a:cs typeface="Open Sans"/>
              <a:sym typeface="Open Sans"/>
            </a:endParaRPr>
          </a:p>
          <a:p>
            <a:pPr marL="647700" lvl="1" indent="-323850" algn="just">
              <a:lnSpc>
                <a:spcPts val="4200"/>
              </a:lnSpc>
              <a:buFont typeface="Arial"/>
              <a:buChar char="•"/>
            </a:pPr>
            <a:r>
              <a:rPr lang="en-US" sz="3000" b="1">
                <a:solidFill>
                  <a:srgbClr val="131416"/>
                </a:solidFill>
                <a:latin typeface="Open Sans Bold"/>
                <a:ea typeface="Open Sans Bold"/>
                <a:cs typeface="Open Sans Bold"/>
                <a:sym typeface="Open Sans Bold"/>
              </a:rPr>
              <a:t>Conceptos sin definición: </a:t>
            </a:r>
            <a:r>
              <a:rPr lang="en-US" sz="3000">
                <a:solidFill>
                  <a:srgbClr val="131416"/>
                </a:solidFill>
                <a:latin typeface="Open Sans"/>
                <a:ea typeface="Open Sans"/>
                <a:cs typeface="Open Sans"/>
                <a:sym typeface="Open Sans"/>
              </a:rPr>
              <a:t>Son conceptos a los que se les asignan objetos o casos, pero no tienen una definición clara que explique qué los caracteriza o por qué pertenecen a ese concepto. Es decir que no cuentan con una intensidad.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TextBox 2"/>
          <p:cNvSpPr txBox="1"/>
          <p:nvPr/>
        </p:nvSpPr>
        <p:spPr>
          <a:xfrm>
            <a:off x="2797569" y="4309436"/>
            <a:ext cx="13991174" cy="1639553"/>
          </a:xfrm>
          <a:prstGeom prst="rect">
            <a:avLst/>
          </a:prstGeom>
        </p:spPr>
        <p:txBody>
          <a:bodyPr lIns="0" tIns="0" rIns="0" bIns="0" rtlCol="0" anchor="t">
            <a:spAutoFit/>
          </a:bodyPr>
          <a:lstStyle/>
          <a:p>
            <a:pPr algn="l">
              <a:lnSpc>
                <a:spcPts val="6212"/>
              </a:lnSpc>
            </a:pPr>
            <a:r>
              <a:rPr lang="en-US" sz="5498">
                <a:solidFill>
                  <a:srgbClr val="131416"/>
                </a:solidFill>
                <a:latin typeface="Horizon"/>
                <a:ea typeface="Horizon"/>
                <a:cs typeface="Horizon"/>
                <a:sym typeface="Horizon"/>
              </a:rPr>
              <a:t>OTROS EJEMPLOS DE TRIADAS PARCIALES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a:off x="1737645" y="2117623"/>
            <a:ext cx="14466521" cy="7522591"/>
          </a:xfrm>
          <a:custGeom>
            <a:avLst/>
            <a:gdLst/>
            <a:ahLst/>
            <a:cxnLst/>
            <a:rect l="l" t="t" r="r" b="b"/>
            <a:pathLst>
              <a:path w="14466521" h="7522591">
                <a:moveTo>
                  <a:pt x="0" y="0"/>
                </a:moveTo>
                <a:lnTo>
                  <a:pt x="14466521" y="0"/>
                </a:lnTo>
                <a:lnTo>
                  <a:pt x="14466521" y="7522591"/>
                </a:lnTo>
                <a:lnTo>
                  <a:pt x="0" y="7522591"/>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1028700" y="782003"/>
            <a:ext cx="15884411" cy="1040765"/>
          </a:xfrm>
          <a:prstGeom prst="rect">
            <a:avLst/>
          </a:prstGeom>
        </p:spPr>
        <p:txBody>
          <a:bodyPr lIns="0" tIns="0" rIns="0" bIns="0" rtlCol="0" anchor="t">
            <a:spAutoFit/>
          </a:bodyPr>
          <a:lstStyle/>
          <a:p>
            <a:pPr algn="l">
              <a:lnSpc>
                <a:spcPts val="3955"/>
              </a:lnSpc>
            </a:pPr>
            <a:r>
              <a:rPr lang="en-US" sz="3500">
                <a:solidFill>
                  <a:srgbClr val="131416"/>
                </a:solidFill>
                <a:latin typeface="Horizon"/>
                <a:ea typeface="Horizon"/>
                <a:cs typeface="Horizon"/>
                <a:sym typeface="Horizon"/>
              </a:rPr>
              <a:t>EJEMPLO DE TRIADA DE CONCEPTOS SIN NOMBRE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TextBox 2"/>
          <p:cNvSpPr txBox="1"/>
          <p:nvPr/>
        </p:nvSpPr>
        <p:spPr>
          <a:xfrm>
            <a:off x="1028700" y="782003"/>
            <a:ext cx="15884411" cy="1040765"/>
          </a:xfrm>
          <a:prstGeom prst="rect">
            <a:avLst/>
          </a:prstGeom>
        </p:spPr>
        <p:txBody>
          <a:bodyPr lIns="0" tIns="0" rIns="0" bIns="0" rtlCol="0" anchor="t">
            <a:spAutoFit/>
          </a:bodyPr>
          <a:lstStyle/>
          <a:p>
            <a:pPr algn="l">
              <a:lnSpc>
                <a:spcPts val="3955"/>
              </a:lnSpc>
            </a:pPr>
            <a:r>
              <a:rPr lang="en-US" sz="3500">
                <a:solidFill>
                  <a:srgbClr val="131416"/>
                </a:solidFill>
                <a:latin typeface="Horizon"/>
                <a:ea typeface="Horizon"/>
                <a:cs typeface="Horizon"/>
                <a:sym typeface="Horizon"/>
              </a:rPr>
              <a:t>EJEMPLO DE TRIADA DE CONCEPTOS SIN OBJETO:</a:t>
            </a:r>
          </a:p>
        </p:txBody>
      </p:sp>
      <p:sp>
        <p:nvSpPr>
          <p:cNvPr id="3" name="Freeform 3"/>
          <p:cNvSpPr/>
          <p:nvPr/>
        </p:nvSpPr>
        <p:spPr>
          <a:xfrm>
            <a:off x="2440212" y="2100948"/>
            <a:ext cx="13407576" cy="7642318"/>
          </a:xfrm>
          <a:custGeom>
            <a:avLst/>
            <a:gdLst/>
            <a:ahLst/>
            <a:cxnLst/>
            <a:rect l="l" t="t" r="r" b="b"/>
            <a:pathLst>
              <a:path w="13407576" h="7642318">
                <a:moveTo>
                  <a:pt x="0" y="0"/>
                </a:moveTo>
                <a:lnTo>
                  <a:pt x="13407576" y="0"/>
                </a:lnTo>
                <a:lnTo>
                  <a:pt x="13407576" y="7642318"/>
                </a:lnTo>
                <a:lnTo>
                  <a:pt x="0" y="7642318"/>
                </a:lnTo>
                <a:lnTo>
                  <a:pt x="0" y="0"/>
                </a:lnTo>
                <a:close/>
              </a:path>
            </a:pathLst>
          </a:custGeom>
          <a:blipFill>
            <a:blip r:embed="rId2"/>
            <a:stretch>
              <a:fillRect/>
            </a:stretch>
          </a:blipFill>
        </p:spPr>
        <p:txBody>
          <a:bodyPr/>
          <a:lstStyle/>
          <a:p>
            <a:endParaRPr lang="es-GT"/>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a:off x="1983141" y="2035654"/>
            <a:ext cx="14188209" cy="7803515"/>
          </a:xfrm>
          <a:custGeom>
            <a:avLst/>
            <a:gdLst/>
            <a:ahLst/>
            <a:cxnLst/>
            <a:rect l="l" t="t" r="r" b="b"/>
            <a:pathLst>
              <a:path w="14188209" h="7803515">
                <a:moveTo>
                  <a:pt x="0" y="0"/>
                </a:moveTo>
                <a:lnTo>
                  <a:pt x="14188209" y="0"/>
                </a:lnTo>
                <a:lnTo>
                  <a:pt x="14188209" y="7803515"/>
                </a:lnTo>
                <a:lnTo>
                  <a:pt x="0" y="7803515"/>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1028700" y="782003"/>
            <a:ext cx="15884411" cy="1040765"/>
          </a:xfrm>
          <a:prstGeom prst="rect">
            <a:avLst/>
          </a:prstGeom>
        </p:spPr>
        <p:txBody>
          <a:bodyPr lIns="0" tIns="0" rIns="0" bIns="0" rtlCol="0" anchor="t">
            <a:spAutoFit/>
          </a:bodyPr>
          <a:lstStyle/>
          <a:p>
            <a:pPr algn="l">
              <a:lnSpc>
                <a:spcPts val="3955"/>
              </a:lnSpc>
            </a:pPr>
            <a:r>
              <a:rPr lang="en-US" sz="3500">
                <a:solidFill>
                  <a:srgbClr val="131416"/>
                </a:solidFill>
                <a:latin typeface="Horizon"/>
                <a:ea typeface="Horizon"/>
                <a:cs typeface="Horizon"/>
                <a:sym typeface="Horizon"/>
              </a:rPr>
              <a:t>EJEMPLO DE TRIADA DE CONCEPTOS SIN DEFINICIÓN: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grpSp>
        <p:nvGrpSpPr>
          <p:cNvPr id="2" name="Group 2"/>
          <p:cNvGrpSpPr/>
          <p:nvPr/>
        </p:nvGrpSpPr>
        <p:grpSpPr>
          <a:xfrm>
            <a:off x="2340441" y="8199975"/>
            <a:ext cx="1827415" cy="1827415"/>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E8B97"/>
            </a:solidFill>
          </p:spPr>
          <p:txBody>
            <a:bodyPr/>
            <a:lstStyle/>
            <a:p>
              <a:endParaRPr lang="es-GT"/>
            </a:p>
          </p:txBody>
        </p:sp>
      </p:grpSp>
      <p:sp>
        <p:nvSpPr>
          <p:cNvPr id="4" name="Freeform 4"/>
          <p:cNvSpPr/>
          <p:nvPr/>
        </p:nvSpPr>
        <p:spPr>
          <a:xfrm>
            <a:off x="2628950" y="8802615"/>
            <a:ext cx="1250396" cy="909550"/>
          </a:xfrm>
          <a:custGeom>
            <a:avLst/>
            <a:gdLst/>
            <a:ahLst/>
            <a:cxnLst/>
            <a:rect l="l" t="t" r="r" b="b"/>
            <a:pathLst>
              <a:path w="1250396" h="909550">
                <a:moveTo>
                  <a:pt x="0" y="0"/>
                </a:moveTo>
                <a:lnTo>
                  <a:pt x="1250396" y="0"/>
                </a:lnTo>
                <a:lnTo>
                  <a:pt x="1250396" y="909550"/>
                </a:lnTo>
                <a:lnTo>
                  <a:pt x="0" y="9095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GT"/>
          </a:p>
        </p:txBody>
      </p:sp>
      <p:grpSp>
        <p:nvGrpSpPr>
          <p:cNvPr id="5" name="Group 5"/>
          <p:cNvGrpSpPr/>
          <p:nvPr/>
        </p:nvGrpSpPr>
        <p:grpSpPr>
          <a:xfrm>
            <a:off x="4167856" y="8506884"/>
            <a:ext cx="3817938" cy="1205281"/>
            <a:chOff x="0" y="0"/>
            <a:chExt cx="1005548" cy="317440"/>
          </a:xfrm>
        </p:grpSpPr>
        <p:sp>
          <p:nvSpPr>
            <p:cNvPr id="6" name="Freeform 6"/>
            <p:cNvSpPr/>
            <p:nvPr/>
          </p:nvSpPr>
          <p:spPr>
            <a:xfrm>
              <a:off x="0" y="0"/>
              <a:ext cx="1005548" cy="317440"/>
            </a:xfrm>
            <a:custGeom>
              <a:avLst/>
              <a:gdLst/>
              <a:ahLst/>
              <a:cxnLst/>
              <a:rect l="l" t="t" r="r" b="b"/>
              <a:pathLst>
                <a:path w="1005548" h="317440">
                  <a:moveTo>
                    <a:pt x="158720" y="0"/>
                  </a:moveTo>
                  <a:lnTo>
                    <a:pt x="846827" y="0"/>
                  </a:lnTo>
                  <a:cubicBezTo>
                    <a:pt x="888923" y="0"/>
                    <a:pt x="929294" y="16722"/>
                    <a:pt x="959059" y="46488"/>
                  </a:cubicBezTo>
                  <a:cubicBezTo>
                    <a:pt x="988825" y="76254"/>
                    <a:pt x="1005548" y="116625"/>
                    <a:pt x="1005548" y="158720"/>
                  </a:cubicBezTo>
                  <a:lnTo>
                    <a:pt x="1005548" y="158720"/>
                  </a:lnTo>
                  <a:cubicBezTo>
                    <a:pt x="1005548" y="200815"/>
                    <a:pt x="988825" y="241186"/>
                    <a:pt x="959059" y="270952"/>
                  </a:cubicBezTo>
                  <a:cubicBezTo>
                    <a:pt x="929294" y="300718"/>
                    <a:pt x="888923" y="317440"/>
                    <a:pt x="846827" y="317440"/>
                  </a:cubicBezTo>
                  <a:lnTo>
                    <a:pt x="158720" y="317440"/>
                  </a:lnTo>
                  <a:cubicBezTo>
                    <a:pt x="116625" y="317440"/>
                    <a:pt x="76254" y="300718"/>
                    <a:pt x="46488" y="270952"/>
                  </a:cubicBezTo>
                  <a:cubicBezTo>
                    <a:pt x="16722" y="241186"/>
                    <a:pt x="0" y="200815"/>
                    <a:pt x="0" y="158720"/>
                  </a:cubicBezTo>
                  <a:lnTo>
                    <a:pt x="0" y="158720"/>
                  </a:lnTo>
                  <a:cubicBezTo>
                    <a:pt x="0" y="116625"/>
                    <a:pt x="16722" y="76254"/>
                    <a:pt x="46488" y="46488"/>
                  </a:cubicBezTo>
                  <a:cubicBezTo>
                    <a:pt x="76254" y="16722"/>
                    <a:pt x="116625" y="0"/>
                    <a:pt x="158720" y="0"/>
                  </a:cubicBezTo>
                  <a:close/>
                </a:path>
              </a:pathLst>
            </a:custGeom>
            <a:solidFill>
              <a:srgbClr val="FFDE59"/>
            </a:solidFill>
          </p:spPr>
          <p:txBody>
            <a:bodyPr/>
            <a:lstStyle/>
            <a:p>
              <a:endParaRPr lang="es-GT"/>
            </a:p>
          </p:txBody>
        </p:sp>
        <p:sp>
          <p:nvSpPr>
            <p:cNvPr id="7" name="TextBox 7"/>
            <p:cNvSpPr txBox="1"/>
            <p:nvPr/>
          </p:nvSpPr>
          <p:spPr>
            <a:xfrm>
              <a:off x="0" y="-28575"/>
              <a:ext cx="1005548" cy="346015"/>
            </a:xfrm>
            <a:prstGeom prst="rect">
              <a:avLst/>
            </a:prstGeom>
          </p:spPr>
          <p:txBody>
            <a:bodyPr lIns="50800" tIns="50800" rIns="50800" bIns="50800" rtlCol="0" anchor="ctr"/>
            <a:lstStyle/>
            <a:p>
              <a:pPr marL="496571" lvl="1" indent="-248285" algn="ctr">
                <a:lnSpc>
                  <a:spcPts val="2921"/>
                </a:lnSpc>
                <a:buFont typeface="Arial"/>
                <a:buChar char="•"/>
              </a:pPr>
              <a:r>
                <a:rPr lang="en-US" sz="2300">
                  <a:solidFill>
                    <a:srgbClr val="292727"/>
                  </a:solidFill>
                  <a:latin typeface="Glacial Indifference"/>
                  <a:ea typeface="Glacial Indifference"/>
                  <a:cs typeface="Glacial Indifference"/>
                  <a:sym typeface="Glacial Indifference"/>
                </a:rPr>
                <a:t>Diferente símbolo</a:t>
              </a:r>
            </a:p>
            <a:p>
              <a:pPr marL="496571" lvl="1" indent="-248285" algn="ctr">
                <a:lnSpc>
                  <a:spcPts val="2921"/>
                </a:lnSpc>
                <a:buFont typeface="Arial"/>
                <a:buChar char="•"/>
              </a:pPr>
              <a:r>
                <a:rPr lang="en-US" sz="2300">
                  <a:solidFill>
                    <a:srgbClr val="292727"/>
                  </a:solidFill>
                  <a:latin typeface="Glacial Indifference"/>
                  <a:ea typeface="Glacial Indifference"/>
                  <a:cs typeface="Glacial Indifference"/>
                  <a:sym typeface="Glacial Indifference"/>
                </a:rPr>
                <a:t>Misma Intensidad</a:t>
              </a:r>
            </a:p>
            <a:p>
              <a:pPr marL="496571" lvl="1" indent="-248285" algn="ctr">
                <a:lnSpc>
                  <a:spcPts val="2921"/>
                </a:lnSpc>
                <a:buFont typeface="Arial"/>
                <a:buChar char="•"/>
              </a:pPr>
              <a:r>
                <a:rPr lang="en-US" sz="2300">
                  <a:solidFill>
                    <a:srgbClr val="292727"/>
                  </a:solidFill>
                  <a:latin typeface="Glacial Indifference"/>
                  <a:ea typeface="Glacial Indifference"/>
                  <a:cs typeface="Glacial Indifference"/>
                  <a:sym typeface="Glacial Indifference"/>
                </a:rPr>
                <a:t>Misma extensión </a:t>
              </a:r>
            </a:p>
          </p:txBody>
        </p:sp>
      </p:grpSp>
      <p:sp>
        <p:nvSpPr>
          <p:cNvPr id="8" name="Freeform 8"/>
          <p:cNvSpPr/>
          <p:nvPr/>
        </p:nvSpPr>
        <p:spPr>
          <a:xfrm>
            <a:off x="1304633" y="2863697"/>
            <a:ext cx="15278684" cy="5137457"/>
          </a:xfrm>
          <a:custGeom>
            <a:avLst/>
            <a:gdLst/>
            <a:ahLst/>
            <a:cxnLst/>
            <a:rect l="l" t="t" r="r" b="b"/>
            <a:pathLst>
              <a:path w="15278684" h="5137457">
                <a:moveTo>
                  <a:pt x="0" y="0"/>
                </a:moveTo>
                <a:lnTo>
                  <a:pt x="15278683" y="0"/>
                </a:lnTo>
                <a:lnTo>
                  <a:pt x="15278683" y="5137457"/>
                </a:lnTo>
                <a:lnTo>
                  <a:pt x="0" y="5137457"/>
                </a:lnTo>
                <a:lnTo>
                  <a:pt x="0" y="0"/>
                </a:lnTo>
                <a:close/>
              </a:path>
            </a:pathLst>
          </a:custGeom>
          <a:blipFill>
            <a:blip r:embed="rId4"/>
            <a:stretch>
              <a:fillRect/>
            </a:stretch>
          </a:blipFill>
        </p:spPr>
        <p:txBody>
          <a:bodyPr/>
          <a:lstStyle/>
          <a:p>
            <a:endParaRPr lang="es-GT"/>
          </a:p>
        </p:txBody>
      </p:sp>
      <p:sp>
        <p:nvSpPr>
          <p:cNvPr id="9" name="TextBox 9"/>
          <p:cNvSpPr txBox="1"/>
          <p:nvPr/>
        </p:nvSpPr>
        <p:spPr>
          <a:xfrm>
            <a:off x="1028700" y="782002"/>
            <a:ext cx="15884411" cy="545465"/>
          </a:xfrm>
          <a:prstGeom prst="rect">
            <a:avLst/>
          </a:prstGeom>
        </p:spPr>
        <p:txBody>
          <a:bodyPr lIns="0" tIns="0" rIns="0" bIns="0" rtlCol="0" anchor="t">
            <a:spAutoFit/>
          </a:bodyPr>
          <a:lstStyle/>
          <a:p>
            <a:pPr algn="l">
              <a:lnSpc>
                <a:spcPts val="3955"/>
              </a:lnSpc>
            </a:pPr>
            <a:r>
              <a:rPr lang="en-US" sz="3500">
                <a:solidFill>
                  <a:srgbClr val="131416"/>
                </a:solidFill>
                <a:latin typeface="Horizon"/>
                <a:ea typeface="Horizon"/>
                <a:cs typeface="Horizon"/>
                <a:sym typeface="Horizon"/>
              </a:rPr>
              <a:t>TRIADA DE SINÓNIMOS</a:t>
            </a:r>
          </a:p>
        </p:txBody>
      </p:sp>
      <p:sp>
        <p:nvSpPr>
          <p:cNvPr id="10" name="TextBox 10"/>
          <p:cNvSpPr txBox="1"/>
          <p:nvPr/>
        </p:nvSpPr>
        <p:spPr>
          <a:xfrm>
            <a:off x="720032" y="1260793"/>
            <a:ext cx="15863285" cy="2374900"/>
          </a:xfrm>
          <a:prstGeom prst="rect">
            <a:avLst/>
          </a:prstGeom>
        </p:spPr>
        <p:txBody>
          <a:bodyPr lIns="0" tIns="0" rIns="0" bIns="0" rtlCol="0" anchor="t">
            <a:spAutoFit/>
          </a:bodyPr>
          <a:lstStyle/>
          <a:p>
            <a:pPr algn="just">
              <a:lnSpc>
                <a:spcPts val="4900"/>
              </a:lnSpc>
            </a:pPr>
            <a:r>
              <a:rPr lang="en-US" sz="3500">
                <a:solidFill>
                  <a:srgbClr val="131416"/>
                </a:solidFill>
                <a:latin typeface="Open Sans"/>
                <a:ea typeface="Open Sans"/>
                <a:cs typeface="Open Sans"/>
                <a:sym typeface="Open Sans"/>
              </a:rPr>
              <a:t>Dibuje la pareja de tríadas que correspondan a sinónimos del concepto "Pelota".</a:t>
            </a:r>
          </a:p>
          <a:p>
            <a:pPr algn="just">
              <a:lnSpc>
                <a:spcPts val="4900"/>
              </a:lnSpc>
            </a:pPr>
            <a:endParaRPr lang="en-US" sz="3500">
              <a:solidFill>
                <a:srgbClr val="131416"/>
              </a:solidFill>
              <a:latin typeface="Open Sans"/>
              <a:ea typeface="Open Sans"/>
              <a:cs typeface="Open Sans"/>
              <a:sym typeface="Open Sans"/>
            </a:endParaRPr>
          </a:p>
          <a:p>
            <a:pPr algn="just">
              <a:lnSpc>
                <a:spcPts val="4200"/>
              </a:lnSpc>
            </a:pPr>
            <a:endParaRPr lang="en-US" sz="3500">
              <a:solidFill>
                <a:srgbClr val="131416"/>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grpSp>
        <p:nvGrpSpPr>
          <p:cNvPr id="2" name="Group 2"/>
          <p:cNvGrpSpPr/>
          <p:nvPr/>
        </p:nvGrpSpPr>
        <p:grpSpPr>
          <a:xfrm>
            <a:off x="2340441" y="8199975"/>
            <a:ext cx="1827415" cy="1827415"/>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E8B97"/>
            </a:solidFill>
          </p:spPr>
          <p:txBody>
            <a:bodyPr/>
            <a:lstStyle/>
            <a:p>
              <a:endParaRPr lang="es-GT"/>
            </a:p>
          </p:txBody>
        </p:sp>
      </p:grpSp>
      <p:sp>
        <p:nvSpPr>
          <p:cNvPr id="4" name="Freeform 4"/>
          <p:cNvSpPr/>
          <p:nvPr/>
        </p:nvSpPr>
        <p:spPr>
          <a:xfrm>
            <a:off x="2628950" y="8802615"/>
            <a:ext cx="1250396" cy="909550"/>
          </a:xfrm>
          <a:custGeom>
            <a:avLst/>
            <a:gdLst/>
            <a:ahLst/>
            <a:cxnLst/>
            <a:rect l="l" t="t" r="r" b="b"/>
            <a:pathLst>
              <a:path w="1250396" h="909550">
                <a:moveTo>
                  <a:pt x="0" y="0"/>
                </a:moveTo>
                <a:lnTo>
                  <a:pt x="1250396" y="0"/>
                </a:lnTo>
                <a:lnTo>
                  <a:pt x="1250396" y="909550"/>
                </a:lnTo>
                <a:lnTo>
                  <a:pt x="0" y="9095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s-GT"/>
          </a:p>
        </p:txBody>
      </p:sp>
      <p:grpSp>
        <p:nvGrpSpPr>
          <p:cNvPr id="5" name="Group 5"/>
          <p:cNvGrpSpPr/>
          <p:nvPr/>
        </p:nvGrpSpPr>
        <p:grpSpPr>
          <a:xfrm>
            <a:off x="4167856" y="8506884"/>
            <a:ext cx="3817938" cy="1205281"/>
            <a:chOff x="0" y="0"/>
            <a:chExt cx="1005548" cy="317440"/>
          </a:xfrm>
        </p:grpSpPr>
        <p:sp>
          <p:nvSpPr>
            <p:cNvPr id="6" name="Freeform 6"/>
            <p:cNvSpPr/>
            <p:nvPr/>
          </p:nvSpPr>
          <p:spPr>
            <a:xfrm>
              <a:off x="0" y="0"/>
              <a:ext cx="1005548" cy="317440"/>
            </a:xfrm>
            <a:custGeom>
              <a:avLst/>
              <a:gdLst/>
              <a:ahLst/>
              <a:cxnLst/>
              <a:rect l="l" t="t" r="r" b="b"/>
              <a:pathLst>
                <a:path w="1005548" h="317440">
                  <a:moveTo>
                    <a:pt x="158720" y="0"/>
                  </a:moveTo>
                  <a:lnTo>
                    <a:pt x="846827" y="0"/>
                  </a:lnTo>
                  <a:cubicBezTo>
                    <a:pt x="888923" y="0"/>
                    <a:pt x="929294" y="16722"/>
                    <a:pt x="959059" y="46488"/>
                  </a:cubicBezTo>
                  <a:cubicBezTo>
                    <a:pt x="988825" y="76254"/>
                    <a:pt x="1005548" y="116625"/>
                    <a:pt x="1005548" y="158720"/>
                  </a:cubicBezTo>
                  <a:lnTo>
                    <a:pt x="1005548" y="158720"/>
                  </a:lnTo>
                  <a:cubicBezTo>
                    <a:pt x="1005548" y="200815"/>
                    <a:pt x="988825" y="241186"/>
                    <a:pt x="959059" y="270952"/>
                  </a:cubicBezTo>
                  <a:cubicBezTo>
                    <a:pt x="929294" y="300718"/>
                    <a:pt x="888923" y="317440"/>
                    <a:pt x="846827" y="317440"/>
                  </a:cubicBezTo>
                  <a:lnTo>
                    <a:pt x="158720" y="317440"/>
                  </a:lnTo>
                  <a:cubicBezTo>
                    <a:pt x="116625" y="317440"/>
                    <a:pt x="76254" y="300718"/>
                    <a:pt x="46488" y="270952"/>
                  </a:cubicBezTo>
                  <a:cubicBezTo>
                    <a:pt x="16722" y="241186"/>
                    <a:pt x="0" y="200815"/>
                    <a:pt x="0" y="158720"/>
                  </a:cubicBezTo>
                  <a:lnTo>
                    <a:pt x="0" y="158720"/>
                  </a:lnTo>
                  <a:cubicBezTo>
                    <a:pt x="0" y="116625"/>
                    <a:pt x="16722" y="76254"/>
                    <a:pt x="46488" y="46488"/>
                  </a:cubicBezTo>
                  <a:cubicBezTo>
                    <a:pt x="76254" y="16722"/>
                    <a:pt x="116625" y="0"/>
                    <a:pt x="158720" y="0"/>
                  </a:cubicBezTo>
                  <a:close/>
                </a:path>
              </a:pathLst>
            </a:custGeom>
            <a:solidFill>
              <a:srgbClr val="FFDE59"/>
            </a:solidFill>
          </p:spPr>
          <p:txBody>
            <a:bodyPr/>
            <a:lstStyle/>
            <a:p>
              <a:endParaRPr lang="es-GT"/>
            </a:p>
          </p:txBody>
        </p:sp>
        <p:sp>
          <p:nvSpPr>
            <p:cNvPr id="7" name="TextBox 7"/>
            <p:cNvSpPr txBox="1"/>
            <p:nvPr/>
          </p:nvSpPr>
          <p:spPr>
            <a:xfrm>
              <a:off x="0" y="-28575"/>
              <a:ext cx="1005548" cy="346015"/>
            </a:xfrm>
            <a:prstGeom prst="rect">
              <a:avLst/>
            </a:prstGeom>
          </p:spPr>
          <p:txBody>
            <a:bodyPr lIns="50800" tIns="50800" rIns="50800" bIns="50800" rtlCol="0" anchor="ctr"/>
            <a:lstStyle/>
            <a:p>
              <a:pPr marL="496571" lvl="1" indent="-248285" algn="ctr">
                <a:lnSpc>
                  <a:spcPts val="2921"/>
                </a:lnSpc>
                <a:buFont typeface="Arial"/>
                <a:buChar char="•"/>
              </a:pPr>
              <a:r>
                <a:rPr lang="en-US" sz="2300">
                  <a:solidFill>
                    <a:srgbClr val="292727"/>
                  </a:solidFill>
                  <a:latin typeface="Glacial Indifference"/>
                  <a:ea typeface="Glacial Indifference"/>
                  <a:cs typeface="Glacial Indifference"/>
                  <a:sym typeface="Glacial Indifference"/>
                </a:rPr>
                <a:t>Mismo símbolo</a:t>
              </a:r>
            </a:p>
            <a:p>
              <a:pPr marL="496571" lvl="1" indent="-248285" algn="ctr">
                <a:lnSpc>
                  <a:spcPts val="2921"/>
                </a:lnSpc>
                <a:buFont typeface="Arial"/>
                <a:buChar char="•"/>
              </a:pPr>
              <a:r>
                <a:rPr lang="en-US" sz="2300">
                  <a:solidFill>
                    <a:srgbClr val="292727"/>
                  </a:solidFill>
                  <a:latin typeface="Glacial Indifference"/>
                  <a:ea typeface="Glacial Indifference"/>
                  <a:cs typeface="Glacial Indifference"/>
                  <a:sym typeface="Glacial Indifference"/>
                </a:rPr>
                <a:t>Diferente Intensidad</a:t>
              </a:r>
            </a:p>
            <a:p>
              <a:pPr marL="496571" lvl="1" indent="-248285" algn="ctr">
                <a:lnSpc>
                  <a:spcPts val="2921"/>
                </a:lnSpc>
                <a:buFont typeface="Arial"/>
                <a:buChar char="•"/>
              </a:pPr>
              <a:r>
                <a:rPr lang="en-US" sz="2300">
                  <a:solidFill>
                    <a:srgbClr val="292727"/>
                  </a:solidFill>
                  <a:latin typeface="Glacial Indifference"/>
                  <a:ea typeface="Glacial Indifference"/>
                  <a:cs typeface="Glacial Indifference"/>
                  <a:sym typeface="Glacial Indifference"/>
                </a:rPr>
                <a:t>Diferente extensión </a:t>
              </a:r>
            </a:p>
          </p:txBody>
        </p:sp>
      </p:grpSp>
      <p:sp>
        <p:nvSpPr>
          <p:cNvPr id="8" name="Freeform 8"/>
          <p:cNvSpPr/>
          <p:nvPr/>
        </p:nvSpPr>
        <p:spPr>
          <a:xfrm>
            <a:off x="720032" y="2896942"/>
            <a:ext cx="17311718" cy="4804002"/>
          </a:xfrm>
          <a:custGeom>
            <a:avLst/>
            <a:gdLst/>
            <a:ahLst/>
            <a:cxnLst/>
            <a:rect l="l" t="t" r="r" b="b"/>
            <a:pathLst>
              <a:path w="17311718" h="4804002">
                <a:moveTo>
                  <a:pt x="0" y="0"/>
                </a:moveTo>
                <a:lnTo>
                  <a:pt x="17311718" y="0"/>
                </a:lnTo>
                <a:lnTo>
                  <a:pt x="17311718" y="4804001"/>
                </a:lnTo>
                <a:lnTo>
                  <a:pt x="0" y="4804001"/>
                </a:lnTo>
                <a:lnTo>
                  <a:pt x="0" y="0"/>
                </a:lnTo>
                <a:close/>
              </a:path>
            </a:pathLst>
          </a:custGeom>
          <a:blipFill>
            <a:blip r:embed="rId4"/>
            <a:stretch>
              <a:fillRect/>
            </a:stretch>
          </a:blipFill>
        </p:spPr>
        <p:txBody>
          <a:bodyPr/>
          <a:lstStyle/>
          <a:p>
            <a:endParaRPr lang="es-GT"/>
          </a:p>
        </p:txBody>
      </p:sp>
      <p:sp>
        <p:nvSpPr>
          <p:cNvPr id="9" name="TextBox 9"/>
          <p:cNvSpPr txBox="1"/>
          <p:nvPr/>
        </p:nvSpPr>
        <p:spPr>
          <a:xfrm>
            <a:off x="1028700" y="782002"/>
            <a:ext cx="15884411" cy="545465"/>
          </a:xfrm>
          <a:prstGeom prst="rect">
            <a:avLst/>
          </a:prstGeom>
        </p:spPr>
        <p:txBody>
          <a:bodyPr lIns="0" tIns="0" rIns="0" bIns="0" rtlCol="0" anchor="t">
            <a:spAutoFit/>
          </a:bodyPr>
          <a:lstStyle/>
          <a:p>
            <a:pPr algn="l">
              <a:lnSpc>
                <a:spcPts val="3955"/>
              </a:lnSpc>
            </a:pPr>
            <a:r>
              <a:rPr lang="en-US" sz="3500">
                <a:solidFill>
                  <a:srgbClr val="131416"/>
                </a:solidFill>
                <a:latin typeface="Horizon"/>
                <a:ea typeface="Horizon"/>
                <a:cs typeface="Horizon"/>
                <a:sym typeface="Horizon"/>
              </a:rPr>
              <a:t>TRIADA DE homónimos </a:t>
            </a:r>
          </a:p>
        </p:txBody>
      </p:sp>
      <p:sp>
        <p:nvSpPr>
          <p:cNvPr id="10" name="TextBox 10"/>
          <p:cNvSpPr txBox="1"/>
          <p:nvPr/>
        </p:nvSpPr>
        <p:spPr>
          <a:xfrm>
            <a:off x="720032" y="1260793"/>
            <a:ext cx="15863285" cy="2374900"/>
          </a:xfrm>
          <a:prstGeom prst="rect">
            <a:avLst/>
          </a:prstGeom>
        </p:spPr>
        <p:txBody>
          <a:bodyPr lIns="0" tIns="0" rIns="0" bIns="0" rtlCol="0" anchor="t">
            <a:spAutoFit/>
          </a:bodyPr>
          <a:lstStyle/>
          <a:p>
            <a:pPr algn="just">
              <a:lnSpc>
                <a:spcPts val="4900"/>
              </a:lnSpc>
            </a:pPr>
            <a:r>
              <a:rPr lang="en-US" sz="3500">
                <a:solidFill>
                  <a:srgbClr val="131416"/>
                </a:solidFill>
                <a:latin typeface="Open Sans"/>
                <a:ea typeface="Open Sans"/>
                <a:cs typeface="Open Sans"/>
                <a:sym typeface="Open Sans"/>
              </a:rPr>
              <a:t>Dibuje la pareja de tríadas que correspondan a sinónimos del concepto "Hoja".</a:t>
            </a:r>
          </a:p>
          <a:p>
            <a:pPr algn="just">
              <a:lnSpc>
                <a:spcPts val="4900"/>
              </a:lnSpc>
            </a:pPr>
            <a:endParaRPr lang="en-US" sz="3500">
              <a:solidFill>
                <a:srgbClr val="131416"/>
              </a:solidFill>
              <a:latin typeface="Open Sans"/>
              <a:ea typeface="Open Sans"/>
              <a:cs typeface="Open Sans"/>
              <a:sym typeface="Open Sans"/>
            </a:endParaRPr>
          </a:p>
          <a:p>
            <a:pPr algn="just">
              <a:lnSpc>
                <a:spcPts val="4200"/>
              </a:lnSpc>
            </a:pPr>
            <a:endParaRPr lang="en-US" sz="3500">
              <a:solidFill>
                <a:srgbClr val="131416"/>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a:off x="437748" y="3080827"/>
            <a:ext cx="9383974" cy="5184646"/>
          </a:xfrm>
          <a:custGeom>
            <a:avLst/>
            <a:gdLst/>
            <a:ahLst/>
            <a:cxnLst/>
            <a:rect l="l" t="t" r="r" b="b"/>
            <a:pathLst>
              <a:path w="9383974" h="5184646">
                <a:moveTo>
                  <a:pt x="0" y="0"/>
                </a:moveTo>
                <a:lnTo>
                  <a:pt x="9383974" y="0"/>
                </a:lnTo>
                <a:lnTo>
                  <a:pt x="9383974" y="5184646"/>
                </a:lnTo>
                <a:lnTo>
                  <a:pt x="0" y="5184646"/>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1374889" y="644839"/>
            <a:ext cx="13991174" cy="858503"/>
          </a:xfrm>
          <a:prstGeom prst="rect">
            <a:avLst/>
          </a:prstGeom>
        </p:spPr>
        <p:txBody>
          <a:bodyPr lIns="0" tIns="0" rIns="0" bIns="0" rtlCol="0" anchor="t">
            <a:spAutoFit/>
          </a:bodyPr>
          <a:lstStyle/>
          <a:p>
            <a:pPr algn="l">
              <a:lnSpc>
                <a:spcPts val="6212"/>
              </a:lnSpc>
            </a:pPr>
            <a:r>
              <a:rPr lang="en-US" sz="5498">
                <a:solidFill>
                  <a:srgbClr val="131416"/>
                </a:solidFill>
                <a:latin typeface="Horizon"/>
                <a:ea typeface="Horizon"/>
                <a:cs typeface="Horizon"/>
                <a:sym typeface="Horizon"/>
              </a:rPr>
              <a:t>DIAGRAMA DE ARBOL</a:t>
            </a:r>
          </a:p>
        </p:txBody>
      </p:sp>
      <p:sp>
        <p:nvSpPr>
          <p:cNvPr id="4" name="TextBox 4"/>
          <p:cNvSpPr txBox="1"/>
          <p:nvPr/>
        </p:nvSpPr>
        <p:spPr>
          <a:xfrm>
            <a:off x="10322682" y="4078334"/>
            <a:ext cx="7632005" cy="2647950"/>
          </a:xfrm>
          <a:prstGeom prst="rect">
            <a:avLst/>
          </a:prstGeom>
        </p:spPr>
        <p:txBody>
          <a:bodyPr lIns="0" tIns="0" rIns="0" bIns="0" rtlCol="0" anchor="t">
            <a:spAutoFit/>
          </a:bodyPr>
          <a:lstStyle/>
          <a:p>
            <a:pPr algn="just">
              <a:lnSpc>
                <a:spcPts val="4200"/>
              </a:lnSpc>
            </a:pPr>
            <a:r>
              <a:rPr lang="en-US" sz="3000">
                <a:solidFill>
                  <a:srgbClr val="131416"/>
                </a:solidFill>
                <a:latin typeface="Open Sans"/>
                <a:ea typeface="Open Sans"/>
                <a:cs typeface="Open Sans"/>
                <a:sym typeface="Open Sans"/>
              </a:rPr>
              <a:t>Un árbol lógico es una estructura jerárquica que organiza elementos según sus relaciones lógicas y niveles de generalidad, representando un esquema en forma de árbol invertido.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TextBox 2"/>
          <p:cNvSpPr txBox="1"/>
          <p:nvPr/>
        </p:nvSpPr>
        <p:spPr>
          <a:xfrm>
            <a:off x="852333" y="834551"/>
            <a:ext cx="16406967" cy="2327148"/>
          </a:xfrm>
          <a:prstGeom prst="rect">
            <a:avLst/>
          </a:prstGeom>
        </p:spPr>
        <p:txBody>
          <a:bodyPr lIns="0" tIns="0" rIns="0" bIns="0" rtlCol="0" anchor="t">
            <a:spAutoFit/>
          </a:bodyPr>
          <a:lstStyle/>
          <a:p>
            <a:pPr algn="ctr">
              <a:lnSpc>
                <a:spcPts val="5084"/>
              </a:lnSpc>
            </a:pPr>
            <a:r>
              <a:rPr lang="en-US" sz="4500">
                <a:solidFill>
                  <a:srgbClr val="131416"/>
                </a:solidFill>
                <a:latin typeface="Horizon"/>
                <a:ea typeface="Horizon"/>
                <a:cs typeface="Horizon"/>
                <a:sym typeface="Horizon"/>
              </a:rPr>
              <a:t>CARACTERISITCAS DE LOS ARBOLES LOGICOS</a:t>
            </a:r>
          </a:p>
          <a:p>
            <a:pPr algn="ctr">
              <a:lnSpc>
                <a:spcPts val="7797"/>
              </a:lnSpc>
            </a:pPr>
            <a:endParaRPr lang="en-US" sz="4500">
              <a:solidFill>
                <a:srgbClr val="131416"/>
              </a:solidFill>
              <a:latin typeface="Horizon"/>
              <a:ea typeface="Horizon"/>
              <a:cs typeface="Horizon"/>
              <a:sym typeface="Horizon"/>
            </a:endParaRPr>
          </a:p>
        </p:txBody>
      </p:sp>
      <p:sp>
        <p:nvSpPr>
          <p:cNvPr id="3" name="TextBox 3"/>
          <p:cNvSpPr txBox="1"/>
          <p:nvPr/>
        </p:nvSpPr>
        <p:spPr>
          <a:xfrm>
            <a:off x="1934014" y="3183276"/>
            <a:ext cx="14900226" cy="4958674"/>
          </a:xfrm>
          <a:prstGeom prst="rect">
            <a:avLst/>
          </a:prstGeom>
        </p:spPr>
        <p:txBody>
          <a:bodyPr lIns="0" tIns="0" rIns="0" bIns="0" rtlCol="0" anchor="t">
            <a:spAutoFit/>
          </a:bodyPr>
          <a:lstStyle/>
          <a:p>
            <a:pPr marL="680435" lvl="1" indent="-340217" algn="l">
              <a:lnSpc>
                <a:spcPts val="4412"/>
              </a:lnSpc>
              <a:buFont typeface="Arial"/>
              <a:buChar char="•"/>
            </a:pPr>
            <a:r>
              <a:rPr lang="en-US" sz="3151">
                <a:solidFill>
                  <a:srgbClr val="131416"/>
                </a:solidFill>
                <a:latin typeface="Garet"/>
                <a:ea typeface="Garet"/>
                <a:cs typeface="Garet"/>
                <a:sym typeface="Garet"/>
              </a:rPr>
              <a:t>Es un grafo no dirigido</a:t>
            </a:r>
          </a:p>
          <a:p>
            <a:pPr marL="680435" lvl="1" indent="-340217" algn="l">
              <a:lnSpc>
                <a:spcPts val="4412"/>
              </a:lnSpc>
              <a:buFont typeface="Arial"/>
              <a:buChar char="•"/>
            </a:pPr>
            <a:r>
              <a:rPr lang="en-US" sz="3151">
                <a:solidFill>
                  <a:srgbClr val="131416"/>
                </a:solidFill>
                <a:latin typeface="Garet"/>
                <a:ea typeface="Garet"/>
                <a:cs typeface="Garet"/>
                <a:sym typeface="Garet"/>
              </a:rPr>
              <a:t>No se utilizan flechas</a:t>
            </a:r>
          </a:p>
          <a:p>
            <a:pPr marL="680435" lvl="1" indent="-340217" algn="l">
              <a:lnSpc>
                <a:spcPts val="4412"/>
              </a:lnSpc>
              <a:buFont typeface="Arial"/>
              <a:buChar char="•"/>
            </a:pPr>
            <a:r>
              <a:rPr lang="en-US" sz="3151">
                <a:solidFill>
                  <a:srgbClr val="131416"/>
                </a:solidFill>
                <a:latin typeface="Garet"/>
                <a:ea typeface="Garet"/>
                <a:cs typeface="Garet"/>
                <a:sym typeface="Garet"/>
              </a:rPr>
              <a:t>No tiene ciclos</a:t>
            </a:r>
          </a:p>
          <a:p>
            <a:pPr marL="680435" lvl="1" indent="-340217" algn="l">
              <a:lnSpc>
                <a:spcPts val="4412"/>
              </a:lnSpc>
              <a:buFont typeface="Arial"/>
              <a:buChar char="•"/>
            </a:pPr>
            <a:r>
              <a:rPr lang="en-US" sz="3151">
                <a:solidFill>
                  <a:srgbClr val="131416"/>
                </a:solidFill>
                <a:latin typeface="Garet"/>
                <a:ea typeface="Garet"/>
                <a:cs typeface="Garet"/>
                <a:sym typeface="Garet"/>
              </a:rPr>
              <a:t>Todos los nodos estan conectados entre si por algun camino</a:t>
            </a:r>
          </a:p>
          <a:p>
            <a:pPr marL="680435" lvl="1" indent="-340217" algn="l">
              <a:lnSpc>
                <a:spcPts val="4412"/>
              </a:lnSpc>
              <a:buFont typeface="Arial"/>
              <a:buChar char="•"/>
            </a:pPr>
            <a:r>
              <a:rPr lang="en-US" sz="3151">
                <a:solidFill>
                  <a:srgbClr val="131416"/>
                </a:solidFill>
                <a:latin typeface="Garet"/>
                <a:ea typeface="Garet"/>
                <a:cs typeface="Garet"/>
                <a:sym typeface="Garet"/>
              </a:rPr>
              <a:t>Jerárquico ya que los elementos se organizan por niveles</a:t>
            </a:r>
          </a:p>
          <a:p>
            <a:pPr marL="680435" lvl="1" indent="-340217" algn="l">
              <a:lnSpc>
                <a:spcPts val="4412"/>
              </a:lnSpc>
              <a:buFont typeface="Arial"/>
              <a:buChar char="•"/>
            </a:pPr>
            <a:r>
              <a:rPr lang="en-US" sz="3151">
                <a:solidFill>
                  <a:srgbClr val="131416"/>
                </a:solidFill>
                <a:latin typeface="Garet"/>
                <a:ea typeface="Garet"/>
                <a:cs typeface="Garet"/>
                <a:sym typeface="Garet"/>
              </a:rPr>
              <a:t>La raíz es el nivel 0</a:t>
            </a:r>
          </a:p>
          <a:p>
            <a:pPr marL="680435" lvl="1" indent="-340217" algn="l">
              <a:lnSpc>
                <a:spcPts val="4412"/>
              </a:lnSpc>
              <a:buFont typeface="Arial"/>
              <a:buChar char="•"/>
            </a:pPr>
            <a:r>
              <a:rPr lang="en-US" sz="3151">
                <a:solidFill>
                  <a:srgbClr val="131416"/>
                </a:solidFill>
                <a:latin typeface="Garet"/>
                <a:ea typeface="Garet"/>
                <a:cs typeface="Garet"/>
                <a:sym typeface="Garet"/>
              </a:rPr>
              <a:t>Tiene forma de árbol invertido</a:t>
            </a:r>
          </a:p>
          <a:p>
            <a:pPr marL="680435" lvl="1" indent="-340217" algn="l">
              <a:lnSpc>
                <a:spcPts val="4412"/>
              </a:lnSpc>
              <a:buFont typeface="Arial"/>
              <a:buChar char="•"/>
            </a:pPr>
            <a:r>
              <a:rPr lang="en-US" sz="3151">
                <a:solidFill>
                  <a:srgbClr val="131416"/>
                </a:solidFill>
                <a:latin typeface="Garet"/>
                <a:ea typeface="Garet"/>
                <a:cs typeface="Garet"/>
                <a:sym typeface="Garet"/>
              </a:rPr>
              <a:t>No se deben colocar listas de conceptos en un solo nodo, solamente se colocan conceptos.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a:off x="363475" y="2125296"/>
            <a:ext cx="10877908" cy="6793146"/>
          </a:xfrm>
          <a:custGeom>
            <a:avLst/>
            <a:gdLst/>
            <a:ahLst/>
            <a:cxnLst/>
            <a:rect l="l" t="t" r="r" b="b"/>
            <a:pathLst>
              <a:path w="10877908" h="6793146">
                <a:moveTo>
                  <a:pt x="0" y="0"/>
                </a:moveTo>
                <a:lnTo>
                  <a:pt x="10877908" y="0"/>
                </a:lnTo>
                <a:lnTo>
                  <a:pt x="10877908" y="6793146"/>
                </a:lnTo>
                <a:lnTo>
                  <a:pt x="0" y="6793146"/>
                </a:lnTo>
                <a:lnTo>
                  <a:pt x="0" y="0"/>
                </a:lnTo>
                <a:close/>
              </a:path>
            </a:pathLst>
          </a:custGeom>
          <a:blipFill>
            <a:blip r:embed="rId2"/>
            <a:stretch>
              <a:fillRect l="-1207" r="-10060"/>
            </a:stretch>
          </a:blipFill>
        </p:spPr>
        <p:txBody>
          <a:bodyPr/>
          <a:lstStyle/>
          <a:p>
            <a:endParaRPr lang="es-GT"/>
          </a:p>
        </p:txBody>
      </p:sp>
      <p:sp>
        <p:nvSpPr>
          <p:cNvPr id="3" name="TextBox 3"/>
          <p:cNvSpPr txBox="1"/>
          <p:nvPr/>
        </p:nvSpPr>
        <p:spPr>
          <a:xfrm>
            <a:off x="1028700" y="571944"/>
            <a:ext cx="14976106" cy="787400"/>
          </a:xfrm>
          <a:prstGeom prst="rect">
            <a:avLst/>
          </a:prstGeom>
        </p:spPr>
        <p:txBody>
          <a:bodyPr lIns="0" tIns="0" rIns="0" bIns="0" rtlCol="0" anchor="t">
            <a:spAutoFit/>
          </a:bodyPr>
          <a:lstStyle/>
          <a:p>
            <a:pPr algn="l">
              <a:lnSpc>
                <a:spcPts val="5650"/>
              </a:lnSpc>
            </a:pPr>
            <a:r>
              <a:rPr lang="en-US" sz="5000">
                <a:solidFill>
                  <a:srgbClr val="131416"/>
                </a:solidFill>
                <a:latin typeface="Horizon"/>
                <a:ea typeface="Horizon"/>
                <a:cs typeface="Horizon"/>
                <a:sym typeface="Horizon"/>
              </a:rPr>
              <a:t>EJEMPLO DE ARBOL LOGICO</a:t>
            </a:r>
          </a:p>
        </p:txBody>
      </p:sp>
      <p:sp>
        <p:nvSpPr>
          <p:cNvPr id="4" name="TextBox 4"/>
          <p:cNvSpPr txBox="1"/>
          <p:nvPr/>
        </p:nvSpPr>
        <p:spPr>
          <a:xfrm>
            <a:off x="11526488" y="3102519"/>
            <a:ext cx="6231212" cy="4781550"/>
          </a:xfrm>
          <a:prstGeom prst="rect">
            <a:avLst/>
          </a:prstGeom>
        </p:spPr>
        <p:txBody>
          <a:bodyPr lIns="0" tIns="0" rIns="0" bIns="0" rtlCol="0" anchor="t">
            <a:spAutoFit/>
          </a:bodyPr>
          <a:lstStyle/>
          <a:p>
            <a:pPr algn="just">
              <a:lnSpc>
                <a:spcPts val="4200"/>
              </a:lnSpc>
            </a:pPr>
            <a:r>
              <a:rPr lang="en-US" sz="3000">
                <a:solidFill>
                  <a:srgbClr val="131416"/>
                </a:solidFill>
                <a:latin typeface="Open Sans"/>
                <a:ea typeface="Open Sans"/>
                <a:cs typeface="Open Sans"/>
                <a:sym typeface="Open Sans"/>
              </a:rPr>
              <a:t>Este arbol representa el analisis del objeto “Fruta”, como se puede observar este árbol cuenta con tres niveles, en la raíz del árbol (nivel 0) se coloca el concepto al que se aplica el análisis, el nivel 1 y  dos son los nodos hijo y el nivel tres que es el ultimo son los nodos hoja.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TextBox 2"/>
          <p:cNvSpPr txBox="1"/>
          <p:nvPr/>
        </p:nvSpPr>
        <p:spPr>
          <a:xfrm>
            <a:off x="651214" y="1567567"/>
            <a:ext cx="16126564" cy="7448550"/>
          </a:xfrm>
          <a:prstGeom prst="rect">
            <a:avLst/>
          </a:prstGeom>
        </p:spPr>
        <p:txBody>
          <a:bodyPr lIns="0" tIns="0" rIns="0" bIns="0" rtlCol="0" anchor="t">
            <a:spAutoFit/>
          </a:bodyPr>
          <a:lstStyle/>
          <a:p>
            <a:pPr algn="just">
              <a:lnSpc>
                <a:spcPts val="4200"/>
              </a:lnSpc>
            </a:pPr>
            <a:r>
              <a:rPr lang="en-US" sz="3000">
                <a:solidFill>
                  <a:srgbClr val="131416"/>
                </a:solidFill>
                <a:latin typeface="Open Sans"/>
                <a:ea typeface="Open Sans"/>
                <a:cs typeface="Open Sans"/>
                <a:sym typeface="Open Sans"/>
              </a:rPr>
              <a:t>A los arboles lógicos se le pueden aplicar diferentes tipos de análisis, entre ellos podemos encontrar los siguientes:</a:t>
            </a:r>
          </a:p>
          <a:p>
            <a:pPr algn="just">
              <a:lnSpc>
                <a:spcPts val="4200"/>
              </a:lnSpc>
            </a:pPr>
            <a:endParaRPr lang="en-US" sz="3000">
              <a:solidFill>
                <a:srgbClr val="131416"/>
              </a:solidFill>
              <a:latin typeface="Open Sans"/>
              <a:ea typeface="Open Sans"/>
              <a:cs typeface="Open Sans"/>
              <a:sym typeface="Open Sans"/>
            </a:endParaRPr>
          </a:p>
          <a:p>
            <a:pPr marL="647700" lvl="1" indent="-323850" algn="just">
              <a:lnSpc>
                <a:spcPts val="4200"/>
              </a:lnSpc>
              <a:buFont typeface="Arial"/>
              <a:buChar char="•"/>
            </a:pPr>
            <a:r>
              <a:rPr lang="en-US" sz="3000" b="1">
                <a:solidFill>
                  <a:srgbClr val="131416"/>
                </a:solidFill>
                <a:latin typeface="Open Sans Bold"/>
                <a:ea typeface="Open Sans Bold"/>
                <a:cs typeface="Open Sans Bold"/>
                <a:sym typeface="Open Sans Bold"/>
              </a:rPr>
              <a:t>Memoria:</a:t>
            </a:r>
            <a:r>
              <a:rPr lang="en-US" sz="3000">
                <a:solidFill>
                  <a:srgbClr val="131416"/>
                </a:solidFill>
                <a:latin typeface="Open Sans"/>
                <a:ea typeface="Open Sans"/>
                <a:cs typeface="Open Sans"/>
                <a:sym typeface="Open Sans"/>
              </a:rPr>
              <a:t> La memoria es una serie horizontal de objetos del mismo tipo lógico que pueden sustituirse entre sí, permitiendo agrupar elementos similares dentro de un mismo nivel del árbol.</a:t>
            </a:r>
          </a:p>
          <a:p>
            <a:pPr algn="just">
              <a:lnSpc>
                <a:spcPts val="4200"/>
              </a:lnSpc>
            </a:pPr>
            <a:endParaRPr lang="en-US" sz="3000">
              <a:solidFill>
                <a:srgbClr val="131416"/>
              </a:solidFill>
              <a:latin typeface="Open Sans"/>
              <a:ea typeface="Open Sans"/>
              <a:cs typeface="Open Sans"/>
              <a:sym typeface="Open Sans"/>
            </a:endParaRPr>
          </a:p>
          <a:p>
            <a:pPr algn="just">
              <a:lnSpc>
                <a:spcPts val="4200"/>
              </a:lnSpc>
            </a:pPr>
            <a:r>
              <a:rPr lang="en-US" sz="3000" b="1">
                <a:solidFill>
                  <a:srgbClr val="131416"/>
                </a:solidFill>
                <a:latin typeface="Open Sans Bold"/>
                <a:ea typeface="Open Sans Bold"/>
                <a:cs typeface="Open Sans Bold"/>
                <a:sym typeface="Open Sans Bold"/>
              </a:rPr>
              <a:t>Ejemplo:</a:t>
            </a:r>
          </a:p>
          <a:p>
            <a:pPr algn="just">
              <a:lnSpc>
                <a:spcPts val="4200"/>
              </a:lnSpc>
            </a:pPr>
            <a:endParaRPr lang="en-US" sz="3000" b="1">
              <a:solidFill>
                <a:srgbClr val="131416"/>
              </a:solidFill>
              <a:latin typeface="Open Sans Bold"/>
              <a:ea typeface="Open Sans Bold"/>
              <a:cs typeface="Open Sans Bold"/>
              <a:sym typeface="Open Sans Bold"/>
            </a:endParaRPr>
          </a:p>
          <a:p>
            <a:pPr algn="just">
              <a:lnSpc>
                <a:spcPts val="4200"/>
              </a:lnSpc>
            </a:pPr>
            <a:endParaRPr lang="en-US" sz="3000" b="1">
              <a:solidFill>
                <a:srgbClr val="131416"/>
              </a:solidFill>
              <a:latin typeface="Open Sans Bold"/>
              <a:ea typeface="Open Sans Bold"/>
              <a:cs typeface="Open Sans Bold"/>
              <a:sym typeface="Open Sans Bold"/>
            </a:endParaRPr>
          </a:p>
          <a:p>
            <a:pPr algn="just">
              <a:lnSpc>
                <a:spcPts val="4200"/>
              </a:lnSpc>
            </a:pPr>
            <a:endParaRPr lang="en-US" sz="3000" b="1">
              <a:solidFill>
                <a:srgbClr val="131416"/>
              </a:solidFill>
              <a:latin typeface="Open Sans Bold"/>
              <a:ea typeface="Open Sans Bold"/>
              <a:cs typeface="Open Sans Bold"/>
              <a:sym typeface="Open Sans Bold"/>
            </a:endParaRPr>
          </a:p>
          <a:p>
            <a:pPr algn="just">
              <a:lnSpc>
                <a:spcPts val="4200"/>
              </a:lnSpc>
            </a:pPr>
            <a:endParaRPr lang="en-US" sz="3000" b="1">
              <a:solidFill>
                <a:srgbClr val="131416"/>
              </a:solidFill>
              <a:latin typeface="Open Sans Bold"/>
              <a:ea typeface="Open Sans Bold"/>
              <a:cs typeface="Open Sans Bold"/>
              <a:sym typeface="Open Sans Bold"/>
            </a:endParaRPr>
          </a:p>
          <a:p>
            <a:pPr algn="just">
              <a:lnSpc>
                <a:spcPts val="4200"/>
              </a:lnSpc>
            </a:pPr>
            <a:endParaRPr lang="en-US" sz="3000" b="1">
              <a:solidFill>
                <a:srgbClr val="131416"/>
              </a:solidFill>
              <a:latin typeface="Open Sans Bold"/>
              <a:ea typeface="Open Sans Bold"/>
              <a:cs typeface="Open Sans Bold"/>
              <a:sym typeface="Open Sans Bold"/>
            </a:endParaRPr>
          </a:p>
          <a:p>
            <a:pPr algn="just">
              <a:lnSpc>
                <a:spcPts val="4200"/>
              </a:lnSpc>
            </a:pPr>
            <a:endParaRPr lang="en-US" sz="3000" b="1">
              <a:solidFill>
                <a:srgbClr val="131416"/>
              </a:solidFill>
              <a:latin typeface="Open Sans Bold"/>
              <a:ea typeface="Open Sans Bold"/>
              <a:cs typeface="Open Sans Bold"/>
              <a:sym typeface="Open Sans Bold"/>
            </a:endParaRPr>
          </a:p>
        </p:txBody>
      </p:sp>
      <p:sp>
        <p:nvSpPr>
          <p:cNvPr id="3" name="Freeform 3"/>
          <p:cNvSpPr/>
          <p:nvPr/>
        </p:nvSpPr>
        <p:spPr>
          <a:xfrm>
            <a:off x="3323423" y="5805050"/>
            <a:ext cx="11294965" cy="3623447"/>
          </a:xfrm>
          <a:custGeom>
            <a:avLst/>
            <a:gdLst/>
            <a:ahLst/>
            <a:cxnLst/>
            <a:rect l="l" t="t" r="r" b="b"/>
            <a:pathLst>
              <a:path w="11294965" h="3623447">
                <a:moveTo>
                  <a:pt x="0" y="0"/>
                </a:moveTo>
                <a:lnTo>
                  <a:pt x="11294965" y="0"/>
                </a:lnTo>
                <a:lnTo>
                  <a:pt x="11294965" y="3623448"/>
                </a:lnTo>
                <a:lnTo>
                  <a:pt x="0" y="3623448"/>
                </a:lnTo>
                <a:lnTo>
                  <a:pt x="0" y="0"/>
                </a:lnTo>
                <a:close/>
              </a:path>
            </a:pathLst>
          </a:custGeom>
          <a:blipFill>
            <a:blip r:embed="rId2"/>
            <a:stretch>
              <a:fillRect/>
            </a:stretch>
          </a:blipFill>
        </p:spPr>
        <p:txBody>
          <a:bodyPr/>
          <a:lstStyle/>
          <a:p>
            <a:endParaRPr lang="es-GT"/>
          </a:p>
        </p:txBody>
      </p:sp>
      <p:sp>
        <p:nvSpPr>
          <p:cNvPr id="4" name="TextBox 4"/>
          <p:cNvSpPr txBox="1"/>
          <p:nvPr/>
        </p:nvSpPr>
        <p:spPr>
          <a:xfrm>
            <a:off x="1028700" y="782002"/>
            <a:ext cx="15884411" cy="545465"/>
          </a:xfrm>
          <a:prstGeom prst="rect">
            <a:avLst/>
          </a:prstGeom>
        </p:spPr>
        <p:txBody>
          <a:bodyPr lIns="0" tIns="0" rIns="0" bIns="0" rtlCol="0" anchor="t">
            <a:spAutoFit/>
          </a:bodyPr>
          <a:lstStyle/>
          <a:p>
            <a:pPr algn="l">
              <a:lnSpc>
                <a:spcPts val="3955"/>
              </a:lnSpc>
            </a:pPr>
            <a:r>
              <a:rPr lang="en-US" sz="3500">
                <a:solidFill>
                  <a:srgbClr val="131416"/>
                </a:solidFill>
                <a:latin typeface="Horizon"/>
                <a:ea typeface="Horizon"/>
                <a:cs typeface="Horizon"/>
                <a:sym typeface="Horizon"/>
              </a:rPr>
              <a:t>OPERACIONES LOGICAS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TextBox 2"/>
          <p:cNvSpPr txBox="1"/>
          <p:nvPr/>
        </p:nvSpPr>
        <p:spPr>
          <a:xfrm>
            <a:off x="1080718" y="1994319"/>
            <a:ext cx="16126564" cy="7870825"/>
          </a:xfrm>
          <a:prstGeom prst="rect">
            <a:avLst/>
          </a:prstGeom>
        </p:spPr>
        <p:txBody>
          <a:bodyPr lIns="0" tIns="0" rIns="0" bIns="0" rtlCol="0" anchor="t">
            <a:spAutoFit/>
          </a:bodyPr>
          <a:lstStyle/>
          <a:p>
            <a:pPr algn="just">
              <a:lnSpc>
                <a:spcPts val="3499"/>
              </a:lnSpc>
            </a:pPr>
            <a:r>
              <a:rPr lang="en-US" sz="2499">
                <a:solidFill>
                  <a:srgbClr val="131416"/>
                </a:solidFill>
                <a:latin typeface="Open Sans"/>
                <a:ea typeface="Open Sans"/>
                <a:cs typeface="Open Sans"/>
                <a:sym typeface="Open Sans"/>
              </a:rPr>
              <a:t>El análisis en profundidad permite descomponer un concepto en niveles más específicos o generales. Aunque los niveles pueden numerarse, lo esencial es conservar el orden lógico: hacia arriba se generaliza, hacia abajo se subdivide. Así se logra un análisis más detallado.</a:t>
            </a:r>
          </a:p>
          <a:p>
            <a:pPr algn="just">
              <a:lnSpc>
                <a:spcPts val="3499"/>
              </a:lnSpc>
            </a:pPr>
            <a:endParaRPr lang="en-US" sz="2499">
              <a:solidFill>
                <a:srgbClr val="131416"/>
              </a:solidFill>
              <a:latin typeface="Open Sans"/>
              <a:ea typeface="Open Sans"/>
              <a:cs typeface="Open Sans"/>
              <a:sym typeface="Open Sans"/>
            </a:endParaRPr>
          </a:p>
          <a:p>
            <a:pPr algn="just">
              <a:lnSpc>
                <a:spcPts val="3499"/>
              </a:lnSpc>
            </a:pPr>
            <a:r>
              <a:rPr lang="en-US" sz="2499">
                <a:solidFill>
                  <a:srgbClr val="131416"/>
                </a:solidFill>
                <a:latin typeface="Open Sans"/>
                <a:ea typeface="Open Sans"/>
                <a:cs typeface="Open Sans"/>
                <a:sym typeface="Open Sans"/>
              </a:rPr>
              <a:t>Los métodos que desglosan un concepto son: </a:t>
            </a:r>
          </a:p>
          <a:p>
            <a:pPr marL="539749" lvl="1" indent="-269875" algn="just">
              <a:lnSpc>
                <a:spcPts val="3499"/>
              </a:lnSpc>
              <a:buFont typeface="Arial"/>
              <a:buChar char="•"/>
            </a:pPr>
            <a:r>
              <a:rPr lang="en-US" sz="2499" b="1">
                <a:solidFill>
                  <a:srgbClr val="131416"/>
                </a:solidFill>
                <a:latin typeface="Open Sans Bold"/>
                <a:ea typeface="Open Sans Bold"/>
                <a:cs typeface="Open Sans Bold"/>
                <a:sym typeface="Open Sans Bold"/>
              </a:rPr>
              <a:t>Análisis:</a:t>
            </a:r>
          </a:p>
          <a:p>
            <a:pPr marL="1079499" lvl="2" indent="-359833" algn="just">
              <a:lnSpc>
                <a:spcPts val="3499"/>
              </a:lnSpc>
              <a:buFont typeface="Arial"/>
              <a:buChar char="⚬"/>
            </a:pPr>
            <a:r>
              <a:rPr lang="en-US" sz="2499" b="1">
                <a:solidFill>
                  <a:srgbClr val="131416"/>
                </a:solidFill>
                <a:latin typeface="Open Sans Bold"/>
                <a:ea typeface="Open Sans Bold"/>
                <a:cs typeface="Open Sans Bold"/>
                <a:sym typeface="Open Sans Bold"/>
              </a:rPr>
              <a:t>Por especialización:</a:t>
            </a:r>
            <a:r>
              <a:rPr lang="en-US" sz="2499">
                <a:solidFill>
                  <a:srgbClr val="131416"/>
                </a:solidFill>
                <a:latin typeface="Open Sans"/>
                <a:ea typeface="Open Sans"/>
                <a:cs typeface="Open Sans"/>
                <a:sym typeface="Open Sans"/>
              </a:rPr>
              <a:t> En este tipo de análisis se generan sub-conceptos a partir del concepto raíz. </a:t>
            </a:r>
          </a:p>
          <a:p>
            <a:pPr marL="1079499" lvl="2" indent="-359833" algn="just">
              <a:lnSpc>
                <a:spcPts val="3499"/>
              </a:lnSpc>
              <a:buFont typeface="Arial"/>
              <a:buChar char="⚬"/>
            </a:pPr>
            <a:r>
              <a:rPr lang="en-US" sz="2499" b="1">
                <a:solidFill>
                  <a:srgbClr val="131416"/>
                </a:solidFill>
                <a:latin typeface="Open Sans Bold"/>
                <a:ea typeface="Open Sans Bold"/>
                <a:cs typeface="Open Sans Bold"/>
                <a:sym typeface="Open Sans Bold"/>
              </a:rPr>
              <a:t>Por descomposición:</a:t>
            </a:r>
            <a:r>
              <a:rPr lang="en-US" sz="2499">
                <a:solidFill>
                  <a:srgbClr val="131416"/>
                </a:solidFill>
                <a:latin typeface="Open Sans"/>
                <a:ea typeface="Open Sans"/>
                <a:cs typeface="Open Sans"/>
                <a:sym typeface="Open Sans"/>
              </a:rPr>
              <a:t> Se divide el concepto en todas sus partes o en los subelementos que lo componen.</a:t>
            </a:r>
          </a:p>
          <a:p>
            <a:pPr marL="1079499" lvl="2" indent="-359833" algn="just">
              <a:lnSpc>
                <a:spcPts val="3499"/>
              </a:lnSpc>
              <a:buFont typeface="Arial"/>
              <a:buChar char="⚬"/>
            </a:pPr>
            <a:r>
              <a:rPr lang="en-US" sz="2499" b="1">
                <a:solidFill>
                  <a:srgbClr val="131416"/>
                </a:solidFill>
                <a:latin typeface="Open Sans Bold"/>
                <a:ea typeface="Open Sans Bold"/>
                <a:cs typeface="Open Sans Bold"/>
                <a:sym typeface="Open Sans Bold"/>
              </a:rPr>
              <a:t>Por atributos:</a:t>
            </a:r>
            <a:r>
              <a:rPr lang="en-US" sz="2499">
                <a:solidFill>
                  <a:srgbClr val="131416"/>
                </a:solidFill>
                <a:latin typeface="Open Sans"/>
                <a:ea typeface="Open Sans"/>
                <a:cs typeface="Open Sans"/>
                <a:sym typeface="Open Sans"/>
              </a:rPr>
              <a:t> Se separa en sus componentes, donde cada componente es un subconjunto del objeto. Este tipo de análisis permite reconocer el tipo al que pertenece el objeto y los elementos que lo conforman.</a:t>
            </a:r>
          </a:p>
          <a:p>
            <a:pPr algn="just">
              <a:lnSpc>
                <a:spcPts val="3499"/>
              </a:lnSpc>
            </a:pPr>
            <a:endParaRPr lang="en-US" sz="2499">
              <a:solidFill>
                <a:srgbClr val="131416"/>
              </a:solidFill>
              <a:latin typeface="Open Sans"/>
              <a:ea typeface="Open Sans"/>
              <a:cs typeface="Open Sans"/>
              <a:sym typeface="Open Sans"/>
            </a:endParaRPr>
          </a:p>
          <a:p>
            <a:pPr marL="539749" lvl="1" indent="-269875" algn="just">
              <a:lnSpc>
                <a:spcPts val="3499"/>
              </a:lnSpc>
              <a:buFont typeface="Arial"/>
              <a:buChar char="•"/>
            </a:pPr>
            <a:r>
              <a:rPr lang="en-US" sz="2499" b="1">
                <a:solidFill>
                  <a:srgbClr val="131416"/>
                </a:solidFill>
                <a:latin typeface="Open Sans Bold"/>
                <a:ea typeface="Open Sans Bold"/>
                <a:cs typeface="Open Sans Bold"/>
                <a:sym typeface="Open Sans Bold"/>
              </a:rPr>
              <a:t>Síntesis:</a:t>
            </a:r>
          </a:p>
          <a:p>
            <a:pPr marL="1079499" lvl="2" indent="-359833" algn="just">
              <a:lnSpc>
                <a:spcPts val="3499"/>
              </a:lnSpc>
              <a:buFont typeface="Arial"/>
              <a:buChar char="⚬"/>
            </a:pPr>
            <a:r>
              <a:rPr lang="en-US" sz="2499" b="1">
                <a:solidFill>
                  <a:srgbClr val="131416"/>
                </a:solidFill>
                <a:latin typeface="Open Sans Bold"/>
                <a:ea typeface="Open Sans Bold"/>
                <a:cs typeface="Open Sans Bold"/>
                <a:sym typeface="Open Sans Bold"/>
              </a:rPr>
              <a:t>Por generalización:</a:t>
            </a:r>
            <a:r>
              <a:rPr lang="en-US" sz="2499">
                <a:solidFill>
                  <a:srgbClr val="131416"/>
                </a:solidFill>
                <a:latin typeface="Open Sans"/>
                <a:ea typeface="Open Sans"/>
                <a:cs typeface="Open Sans"/>
                <a:sym typeface="Open Sans"/>
              </a:rPr>
              <a:t> Se reúnen todos los subconjuntos del sistema hasta llegar a una abstracción que defina el concepto general.</a:t>
            </a:r>
          </a:p>
          <a:p>
            <a:pPr marL="1079499" lvl="2" indent="-359833" algn="just">
              <a:lnSpc>
                <a:spcPts val="3499"/>
              </a:lnSpc>
              <a:buFont typeface="Arial"/>
              <a:buChar char="⚬"/>
            </a:pPr>
            <a:r>
              <a:rPr lang="en-US" sz="2499" b="1">
                <a:solidFill>
                  <a:srgbClr val="131416"/>
                </a:solidFill>
                <a:latin typeface="Open Sans Bold"/>
                <a:ea typeface="Open Sans Bold"/>
                <a:cs typeface="Open Sans Bold"/>
                <a:sym typeface="Open Sans Bold"/>
              </a:rPr>
              <a:t>Por composición:</a:t>
            </a:r>
            <a:r>
              <a:rPr lang="en-US" sz="2499">
                <a:solidFill>
                  <a:srgbClr val="131416"/>
                </a:solidFill>
                <a:latin typeface="Open Sans"/>
                <a:ea typeface="Open Sans"/>
                <a:cs typeface="Open Sans"/>
                <a:sym typeface="Open Sans"/>
              </a:rPr>
              <a:t> Se integran todas las partes o conceptos que conforman el objeto para entenderlo como un todo.</a:t>
            </a:r>
          </a:p>
        </p:txBody>
      </p:sp>
      <p:sp>
        <p:nvSpPr>
          <p:cNvPr id="3" name="TextBox 3"/>
          <p:cNvSpPr txBox="1"/>
          <p:nvPr/>
        </p:nvSpPr>
        <p:spPr>
          <a:xfrm>
            <a:off x="1028700" y="782002"/>
            <a:ext cx="15884411" cy="545465"/>
          </a:xfrm>
          <a:prstGeom prst="rect">
            <a:avLst/>
          </a:prstGeom>
        </p:spPr>
        <p:txBody>
          <a:bodyPr lIns="0" tIns="0" rIns="0" bIns="0" rtlCol="0" anchor="t">
            <a:spAutoFit/>
          </a:bodyPr>
          <a:lstStyle/>
          <a:p>
            <a:pPr algn="l">
              <a:lnSpc>
                <a:spcPts val="3955"/>
              </a:lnSpc>
            </a:pPr>
            <a:r>
              <a:rPr lang="en-US" sz="3500">
                <a:solidFill>
                  <a:srgbClr val="131416"/>
                </a:solidFill>
                <a:latin typeface="Horizon"/>
                <a:ea typeface="Horizon"/>
                <a:cs typeface="Horizon"/>
                <a:sym typeface="Horizon"/>
              </a:rPr>
              <a:t>ANÁLISIS EN PROFUNDIDAD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a:off x="215417" y="2437385"/>
            <a:ext cx="11135972" cy="6416852"/>
          </a:xfrm>
          <a:custGeom>
            <a:avLst/>
            <a:gdLst/>
            <a:ahLst/>
            <a:cxnLst/>
            <a:rect l="l" t="t" r="r" b="b"/>
            <a:pathLst>
              <a:path w="11135972" h="6416852">
                <a:moveTo>
                  <a:pt x="0" y="0"/>
                </a:moveTo>
                <a:lnTo>
                  <a:pt x="11135972" y="0"/>
                </a:lnTo>
                <a:lnTo>
                  <a:pt x="11135972" y="6416853"/>
                </a:lnTo>
                <a:lnTo>
                  <a:pt x="0" y="6416853"/>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1028700" y="571944"/>
            <a:ext cx="14976106" cy="787400"/>
          </a:xfrm>
          <a:prstGeom prst="rect">
            <a:avLst/>
          </a:prstGeom>
        </p:spPr>
        <p:txBody>
          <a:bodyPr lIns="0" tIns="0" rIns="0" bIns="0" rtlCol="0" anchor="t">
            <a:spAutoFit/>
          </a:bodyPr>
          <a:lstStyle/>
          <a:p>
            <a:pPr algn="l">
              <a:lnSpc>
                <a:spcPts val="5650"/>
              </a:lnSpc>
            </a:pPr>
            <a:r>
              <a:rPr lang="en-US" sz="5000">
                <a:solidFill>
                  <a:srgbClr val="131416"/>
                </a:solidFill>
                <a:latin typeface="Horizon"/>
                <a:ea typeface="Horizon"/>
                <a:cs typeface="Horizon"/>
                <a:sym typeface="Horizon"/>
              </a:rPr>
              <a:t>ARBOL POR ESPECIALIZACION</a:t>
            </a:r>
          </a:p>
        </p:txBody>
      </p:sp>
      <p:sp>
        <p:nvSpPr>
          <p:cNvPr id="4" name="TextBox 4"/>
          <p:cNvSpPr txBox="1"/>
          <p:nvPr/>
        </p:nvSpPr>
        <p:spPr>
          <a:xfrm>
            <a:off x="11614037" y="4324350"/>
            <a:ext cx="6231212" cy="1581150"/>
          </a:xfrm>
          <a:prstGeom prst="rect">
            <a:avLst/>
          </a:prstGeom>
        </p:spPr>
        <p:txBody>
          <a:bodyPr lIns="0" tIns="0" rIns="0" bIns="0" rtlCol="0" anchor="t">
            <a:spAutoFit/>
          </a:bodyPr>
          <a:lstStyle/>
          <a:p>
            <a:pPr algn="just">
              <a:lnSpc>
                <a:spcPts val="4200"/>
              </a:lnSpc>
            </a:pPr>
            <a:r>
              <a:rPr lang="en-US" sz="3000">
                <a:solidFill>
                  <a:srgbClr val="131416"/>
                </a:solidFill>
                <a:latin typeface="Open Sans"/>
                <a:ea typeface="Open Sans"/>
                <a:cs typeface="Open Sans"/>
                <a:sym typeface="Open Sans"/>
              </a:rPr>
              <a:t>Este árbol representa el análisis  por especialización del concepto  “Animal”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a:off x="1028700" y="2659292"/>
            <a:ext cx="9378655" cy="6194708"/>
          </a:xfrm>
          <a:custGeom>
            <a:avLst/>
            <a:gdLst/>
            <a:ahLst/>
            <a:cxnLst/>
            <a:rect l="l" t="t" r="r" b="b"/>
            <a:pathLst>
              <a:path w="9378655" h="6194708">
                <a:moveTo>
                  <a:pt x="0" y="0"/>
                </a:moveTo>
                <a:lnTo>
                  <a:pt x="9378655" y="0"/>
                </a:lnTo>
                <a:lnTo>
                  <a:pt x="9378655" y="6194708"/>
                </a:lnTo>
                <a:lnTo>
                  <a:pt x="0" y="6194708"/>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1028700" y="571944"/>
            <a:ext cx="14976106" cy="787400"/>
          </a:xfrm>
          <a:prstGeom prst="rect">
            <a:avLst/>
          </a:prstGeom>
        </p:spPr>
        <p:txBody>
          <a:bodyPr lIns="0" tIns="0" rIns="0" bIns="0" rtlCol="0" anchor="t">
            <a:spAutoFit/>
          </a:bodyPr>
          <a:lstStyle/>
          <a:p>
            <a:pPr algn="l">
              <a:lnSpc>
                <a:spcPts val="5650"/>
              </a:lnSpc>
            </a:pPr>
            <a:r>
              <a:rPr lang="en-US" sz="5000">
                <a:solidFill>
                  <a:srgbClr val="131416"/>
                </a:solidFill>
                <a:latin typeface="Horizon"/>
                <a:ea typeface="Horizon"/>
                <a:cs typeface="Horizon"/>
                <a:sym typeface="Horizon"/>
              </a:rPr>
              <a:t>ARBOL POR DESCOMPOSICION</a:t>
            </a:r>
          </a:p>
        </p:txBody>
      </p:sp>
      <p:sp>
        <p:nvSpPr>
          <p:cNvPr id="4" name="TextBox 4"/>
          <p:cNvSpPr txBox="1"/>
          <p:nvPr/>
        </p:nvSpPr>
        <p:spPr>
          <a:xfrm>
            <a:off x="11614037" y="4324350"/>
            <a:ext cx="6231212" cy="1581150"/>
          </a:xfrm>
          <a:prstGeom prst="rect">
            <a:avLst/>
          </a:prstGeom>
        </p:spPr>
        <p:txBody>
          <a:bodyPr lIns="0" tIns="0" rIns="0" bIns="0" rtlCol="0" anchor="t">
            <a:spAutoFit/>
          </a:bodyPr>
          <a:lstStyle/>
          <a:p>
            <a:pPr algn="just">
              <a:lnSpc>
                <a:spcPts val="4200"/>
              </a:lnSpc>
            </a:pPr>
            <a:r>
              <a:rPr lang="en-US" sz="3000">
                <a:solidFill>
                  <a:srgbClr val="131416"/>
                </a:solidFill>
                <a:latin typeface="Open Sans"/>
                <a:ea typeface="Open Sans"/>
                <a:cs typeface="Open Sans"/>
                <a:sym typeface="Open Sans"/>
              </a:rPr>
              <a:t>Este árbol representa el análisis  por descomposición del concepto  “Bicicleta”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a:off x="661820" y="2613145"/>
            <a:ext cx="10045907" cy="6213826"/>
          </a:xfrm>
          <a:custGeom>
            <a:avLst/>
            <a:gdLst/>
            <a:ahLst/>
            <a:cxnLst/>
            <a:rect l="l" t="t" r="r" b="b"/>
            <a:pathLst>
              <a:path w="10045907" h="6213826">
                <a:moveTo>
                  <a:pt x="0" y="0"/>
                </a:moveTo>
                <a:lnTo>
                  <a:pt x="10045906" y="0"/>
                </a:lnTo>
                <a:lnTo>
                  <a:pt x="10045906" y="6213825"/>
                </a:lnTo>
                <a:lnTo>
                  <a:pt x="0" y="6213825"/>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1028700" y="571944"/>
            <a:ext cx="14976106" cy="787400"/>
          </a:xfrm>
          <a:prstGeom prst="rect">
            <a:avLst/>
          </a:prstGeom>
        </p:spPr>
        <p:txBody>
          <a:bodyPr lIns="0" tIns="0" rIns="0" bIns="0" rtlCol="0" anchor="t">
            <a:spAutoFit/>
          </a:bodyPr>
          <a:lstStyle/>
          <a:p>
            <a:pPr algn="l">
              <a:lnSpc>
                <a:spcPts val="5650"/>
              </a:lnSpc>
            </a:pPr>
            <a:r>
              <a:rPr lang="en-US" sz="5000">
                <a:solidFill>
                  <a:srgbClr val="131416"/>
                </a:solidFill>
                <a:latin typeface="Horizon"/>
                <a:ea typeface="Horizon"/>
                <a:cs typeface="Horizon"/>
                <a:sym typeface="Horizon"/>
              </a:rPr>
              <a:t>ARBOL POR ATRIBUTOS</a:t>
            </a:r>
          </a:p>
        </p:txBody>
      </p:sp>
      <p:sp>
        <p:nvSpPr>
          <p:cNvPr id="4" name="TextBox 4"/>
          <p:cNvSpPr txBox="1"/>
          <p:nvPr/>
        </p:nvSpPr>
        <p:spPr>
          <a:xfrm>
            <a:off x="11614037" y="4324350"/>
            <a:ext cx="6231212" cy="1581150"/>
          </a:xfrm>
          <a:prstGeom prst="rect">
            <a:avLst/>
          </a:prstGeom>
        </p:spPr>
        <p:txBody>
          <a:bodyPr lIns="0" tIns="0" rIns="0" bIns="0" rtlCol="0" anchor="t">
            <a:spAutoFit/>
          </a:bodyPr>
          <a:lstStyle/>
          <a:p>
            <a:pPr algn="just">
              <a:lnSpc>
                <a:spcPts val="4200"/>
              </a:lnSpc>
            </a:pPr>
            <a:r>
              <a:rPr lang="en-US" sz="3000">
                <a:solidFill>
                  <a:srgbClr val="131416"/>
                </a:solidFill>
                <a:latin typeface="Open Sans"/>
                <a:ea typeface="Open Sans"/>
                <a:cs typeface="Open Sans"/>
                <a:sym typeface="Open Sans"/>
              </a:rPr>
              <a:t>Este árbol representa el análisis  por atributos del concepto  “Manzana”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a:off x="766137" y="2251060"/>
            <a:ext cx="9516769" cy="7103095"/>
          </a:xfrm>
          <a:custGeom>
            <a:avLst/>
            <a:gdLst/>
            <a:ahLst/>
            <a:cxnLst/>
            <a:rect l="l" t="t" r="r" b="b"/>
            <a:pathLst>
              <a:path w="9516769" h="7103095">
                <a:moveTo>
                  <a:pt x="0" y="0"/>
                </a:moveTo>
                <a:lnTo>
                  <a:pt x="9516769" y="0"/>
                </a:lnTo>
                <a:lnTo>
                  <a:pt x="9516769" y="7103095"/>
                </a:lnTo>
                <a:lnTo>
                  <a:pt x="0" y="7103095"/>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1028700" y="571944"/>
            <a:ext cx="14976106" cy="787400"/>
          </a:xfrm>
          <a:prstGeom prst="rect">
            <a:avLst/>
          </a:prstGeom>
        </p:spPr>
        <p:txBody>
          <a:bodyPr lIns="0" tIns="0" rIns="0" bIns="0" rtlCol="0" anchor="t">
            <a:spAutoFit/>
          </a:bodyPr>
          <a:lstStyle/>
          <a:p>
            <a:pPr algn="l">
              <a:lnSpc>
                <a:spcPts val="5650"/>
              </a:lnSpc>
            </a:pPr>
            <a:r>
              <a:rPr lang="en-US" sz="5000">
                <a:solidFill>
                  <a:srgbClr val="131416"/>
                </a:solidFill>
                <a:latin typeface="Horizon"/>
                <a:ea typeface="Horizon"/>
                <a:cs typeface="Horizon"/>
                <a:sym typeface="Horizon"/>
              </a:rPr>
              <a:t>ARBOL POR GENERALIZACION</a:t>
            </a:r>
          </a:p>
        </p:txBody>
      </p:sp>
      <p:sp>
        <p:nvSpPr>
          <p:cNvPr id="4" name="TextBox 4"/>
          <p:cNvSpPr txBox="1"/>
          <p:nvPr/>
        </p:nvSpPr>
        <p:spPr>
          <a:xfrm>
            <a:off x="11614037" y="4324350"/>
            <a:ext cx="6231212" cy="1581150"/>
          </a:xfrm>
          <a:prstGeom prst="rect">
            <a:avLst/>
          </a:prstGeom>
        </p:spPr>
        <p:txBody>
          <a:bodyPr lIns="0" tIns="0" rIns="0" bIns="0" rtlCol="0" anchor="t">
            <a:spAutoFit/>
          </a:bodyPr>
          <a:lstStyle/>
          <a:p>
            <a:pPr algn="just">
              <a:lnSpc>
                <a:spcPts val="4200"/>
              </a:lnSpc>
            </a:pPr>
            <a:r>
              <a:rPr lang="en-US" sz="3000">
                <a:solidFill>
                  <a:srgbClr val="131416"/>
                </a:solidFill>
                <a:latin typeface="Open Sans"/>
                <a:ea typeface="Open Sans"/>
                <a:cs typeface="Open Sans"/>
                <a:sym typeface="Open Sans"/>
              </a:rPr>
              <a:t>Este árbol representa el análisis  por generalización del concepto  “Mamíferos domésticos”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a:off x="454406" y="2809910"/>
            <a:ext cx="10427251" cy="6191180"/>
          </a:xfrm>
          <a:custGeom>
            <a:avLst/>
            <a:gdLst/>
            <a:ahLst/>
            <a:cxnLst/>
            <a:rect l="l" t="t" r="r" b="b"/>
            <a:pathLst>
              <a:path w="10427251" h="6191180">
                <a:moveTo>
                  <a:pt x="0" y="0"/>
                </a:moveTo>
                <a:lnTo>
                  <a:pt x="10427251" y="0"/>
                </a:lnTo>
                <a:lnTo>
                  <a:pt x="10427251" y="6191180"/>
                </a:lnTo>
                <a:lnTo>
                  <a:pt x="0" y="6191180"/>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1028700" y="571944"/>
            <a:ext cx="14976106" cy="787400"/>
          </a:xfrm>
          <a:prstGeom prst="rect">
            <a:avLst/>
          </a:prstGeom>
        </p:spPr>
        <p:txBody>
          <a:bodyPr lIns="0" tIns="0" rIns="0" bIns="0" rtlCol="0" anchor="t">
            <a:spAutoFit/>
          </a:bodyPr>
          <a:lstStyle/>
          <a:p>
            <a:pPr algn="l">
              <a:lnSpc>
                <a:spcPts val="5650"/>
              </a:lnSpc>
            </a:pPr>
            <a:r>
              <a:rPr lang="en-US" sz="5000">
                <a:solidFill>
                  <a:srgbClr val="131416"/>
                </a:solidFill>
                <a:latin typeface="Horizon"/>
                <a:ea typeface="Horizon"/>
                <a:cs typeface="Horizon"/>
                <a:sym typeface="Horizon"/>
              </a:rPr>
              <a:t>ARBOL POR COMPOSICIÓN</a:t>
            </a:r>
          </a:p>
        </p:txBody>
      </p:sp>
      <p:sp>
        <p:nvSpPr>
          <p:cNvPr id="4" name="TextBox 4"/>
          <p:cNvSpPr txBox="1"/>
          <p:nvPr/>
        </p:nvSpPr>
        <p:spPr>
          <a:xfrm>
            <a:off x="11614037" y="4324350"/>
            <a:ext cx="6231212" cy="1581150"/>
          </a:xfrm>
          <a:prstGeom prst="rect">
            <a:avLst/>
          </a:prstGeom>
        </p:spPr>
        <p:txBody>
          <a:bodyPr lIns="0" tIns="0" rIns="0" bIns="0" rtlCol="0" anchor="t">
            <a:spAutoFit/>
          </a:bodyPr>
          <a:lstStyle/>
          <a:p>
            <a:pPr algn="just">
              <a:lnSpc>
                <a:spcPts val="4200"/>
              </a:lnSpc>
            </a:pPr>
            <a:r>
              <a:rPr lang="en-US" sz="3000">
                <a:solidFill>
                  <a:srgbClr val="131416"/>
                </a:solidFill>
                <a:latin typeface="Open Sans"/>
                <a:ea typeface="Open Sans"/>
                <a:cs typeface="Open Sans"/>
                <a:sym typeface="Open Sans"/>
              </a:rPr>
              <a:t>Este árbol representa el análisis  por Composición del concepto  “Computadora”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TextBox 2"/>
          <p:cNvSpPr txBox="1"/>
          <p:nvPr/>
        </p:nvSpPr>
        <p:spPr>
          <a:xfrm>
            <a:off x="651214" y="1567567"/>
            <a:ext cx="16126564" cy="5314950"/>
          </a:xfrm>
          <a:prstGeom prst="rect">
            <a:avLst/>
          </a:prstGeom>
        </p:spPr>
        <p:txBody>
          <a:bodyPr lIns="0" tIns="0" rIns="0" bIns="0" rtlCol="0" anchor="t">
            <a:spAutoFit/>
          </a:bodyPr>
          <a:lstStyle/>
          <a:p>
            <a:pPr algn="just">
              <a:lnSpc>
                <a:spcPts val="4200"/>
              </a:lnSpc>
            </a:pPr>
            <a:r>
              <a:rPr lang="en-US" sz="3000" b="1">
                <a:solidFill>
                  <a:srgbClr val="131416"/>
                </a:solidFill>
                <a:latin typeface="Open Sans Bold"/>
                <a:ea typeface="Open Sans Bold"/>
                <a:cs typeface="Open Sans Bold"/>
                <a:sym typeface="Open Sans Bold"/>
              </a:rPr>
              <a:t>Inordinación: </a:t>
            </a:r>
            <a:r>
              <a:rPr lang="en-US" sz="3000">
                <a:solidFill>
                  <a:srgbClr val="131416"/>
                </a:solidFill>
                <a:latin typeface="Open Sans"/>
                <a:ea typeface="Open Sans"/>
                <a:cs typeface="Open Sans"/>
                <a:sym typeface="Open Sans"/>
              </a:rPr>
              <a:t>El concepto se ubica en un punto intermedio del árbol lógico; no es ni la raíz (nivel general) ni una hoja (nivel más específico).</a:t>
            </a:r>
          </a:p>
          <a:p>
            <a:pPr algn="just">
              <a:lnSpc>
                <a:spcPts val="4200"/>
              </a:lnSpc>
            </a:pPr>
            <a:endParaRPr lang="en-US" sz="3000">
              <a:solidFill>
                <a:srgbClr val="131416"/>
              </a:solidFill>
              <a:latin typeface="Open Sans"/>
              <a:ea typeface="Open Sans"/>
              <a:cs typeface="Open Sans"/>
              <a:sym typeface="Open Sans"/>
            </a:endParaRPr>
          </a:p>
          <a:p>
            <a:pPr algn="just">
              <a:lnSpc>
                <a:spcPts val="4200"/>
              </a:lnSpc>
            </a:pPr>
            <a:r>
              <a:rPr lang="en-US" sz="3000" b="1">
                <a:solidFill>
                  <a:srgbClr val="131416"/>
                </a:solidFill>
                <a:latin typeface="Open Sans Bold"/>
                <a:ea typeface="Open Sans Bold"/>
                <a:cs typeface="Open Sans Bold"/>
                <a:sym typeface="Open Sans Bold"/>
              </a:rPr>
              <a:t>Ejemplo:</a:t>
            </a:r>
          </a:p>
          <a:p>
            <a:pPr algn="just">
              <a:lnSpc>
                <a:spcPts val="4200"/>
              </a:lnSpc>
            </a:pPr>
            <a:endParaRPr lang="en-US" sz="3000" b="1">
              <a:solidFill>
                <a:srgbClr val="131416"/>
              </a:solidFill>
              <a:latin typeface="Open Sans Bold"/>
              <a:ea typeface="Open Sans Bold"/>
              <a:cs typeface="Open Sans Bold"/>
              <a:sym typeface="Open Sans Bold"/>
            </a:endParaRPr>
          </a:p>
          <a:p>
            <a:pPr algn="just">
              <a:lnSpc>
                <a:spcPts val="4200"/>
              </a:lnSpc>
            </a:pPr>
            <a:endParaRPr lang="en-US" sz="3000" b="1">
              <a:solidFill>
                <a:srgbClr val="131416"/>
              </a:solidFill>
              <a:latin typeface="Open Sans Bold"/>
              <a:ea typeface="Open Sans Bold"/>
              <a:cs typeface="Open Sans Bold"/>
              <a:sym typeface="Open Sans Bold"/>
            </a:endParaRPr>
          </a:p>
          <a:p>
            <a:pPr algn="just">
              <a:lnSpc>
                <a:spcPts val="4200"/>
              </a:lnSpc>
            </a:pPr>
            <a:endParaRPr lang="en-US" sz="3000" b="1">
              <a:solidFill>
                <a:srgbClr val="131416"/>
              </a:solidFill>
              <a:latin typeface="Open Sans Bold"/>
              <a:ea typeface="Open Sans Bold"/>
              <a:cs typeface="Open Sans Bold"/>
              <a:sym typeface="Open Sans Bold"/>
            </a:endParaRPr>
          </a:p>
          <a:p>
            <a:pPr algn="just">
              <a:lnSpc>
                <a:spcPts val="4200"/>
              </a:lnSpc>
            </a:pPr>
            <a:endParaRPr lang="en-US" sz="3000" b="1">
              <a:solidFill>
                <a:srgbClr val="131416"/>
              </a:solidFill>
              <a:latin typeface="Open Sans Bold"/>
              <a:ea typeface="Open Sans Bold"/>
              <a:cs typeface="Open Sans Bold"/>
              <a:sym typeface="Open Sans Bold"/>
            </a:endParaRPr>
          </a:p>
          <a:p>
            <a:pPr algn="just">
              <a:lnSpc>
                <a:spcPts val="4200"/>
              </a:lnSpc>
            </a:pPr>
            <a:endParaRPr lang="en-US" sz="3000" b="1">
              <a:solidFill>
                <a:srgbClr val="131416"/>
              </a:solidFill>
              <a:latin typeface="Open Sans Bold"/>
              <a:ea typeface="Open Sans Bold"/>
              <a:cs typeface="Open Sans Bold"/>
              <a:sym typeface="Open Sans Bold"/>
            </a:endParaRPr>
          </a:p>
          <a:p>
            <a:pPr algn="just">
              <a:lnSpc>
                <a:spcPts val="4200"/>
              </a:lnSpc>
            </a:pPr>
            <a:endParaRPr lang="en-US" sz="3000" b="1">
              <a:solidFill>
                <a:srgbClr val="131416"/>
              </a:solidFill>
              <a:latin typeface="Open Sans Bold"/>
              <a:ea typeface="Open Sans Bold"/>
              <a:cs typeface="Open Sans Bold"/>
              <a:sym typeface="Open Sans Bold"/>
            </a:endParaRPr>
          </a:p>
        </p:txBody>
      </p:sp>
      <p:sp>
        <p:nvSpPr>
          <p:cNvPr id="3" name="Freeform 3"/>
          <p:cNvSpPr/>
          <p:nvPr/>
        </p:nvSpPr>
        <p:spPr>
          <a:xfrm>
            <a:off x="3063866" y="3737289"/>
            <a:ext cx="11301259" cy="5876655"/>
          </a:xfrm>
          <a:custGeom>
            <a:avLst/>
            <a:gdLst/>
            <a:ahLst/>
            <a:cxnLst/>
            <a:rect l="l" t="t" r="r" b="b"/>
            <a:pathLst>
              <a:path w="11301259" h="5876655">
                <a:moveTo>
                  <a:pt x="0" y="0"/>
                </a:moveTo>
                <a:lnTo>
                  <a:pt x="11301259" y="0"/>
                </a:lnTo>
                <a:lnTo>
                  <a:pt x="11301259" y="5876655"/>
                </a:lnTo>
                <a:lnTo>
                  <a:pt x="0" y="5876655"/>
                </a:lnTo>
                <a:lnTo>
                  <a:pt x="0" y="0"/>
                </a:lnTo>
                <a:close/>
              </a:path>
            </a:pathLst>
          </a:custGeom>
          <a:blipFill>
            <a:blip r:embed="rId2"/>
            <a:stretch>
              <a:fillRect/>
            </a:stretch>
          </a:blipFill>
        </p:spPr>
        <p:txBody>
          <a:bodyPr/>
          <a:lstStyle/>
          <a:p>
            <a:endParaRPr lang="es-GT"/>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TextBox 2"/>
          <p:cNvSpPr txBox="1"/>
          <p:nvPr/>
        </p:nvSpPr>
        <p:spPr>
          <a:xfrm>
            <a:off x="1028700" y="782002"/>
            <a:ext cx="15884411" cy="545465"/>
          </a:xfrm>
          <a:prstGeom prst="rect">
            <a:avLst/>
          </a:prstGeom>
        </p:spPr>
        <p:txBody>
          <a:bodyPr lIns="0" tIns="0" rIns="0" bIns="0" rtlCol="0" anchor="t">
            <a:spAutoFit/>
          </a:bodyPr>
          <a:lstStyle/>
          <a:p>
            <a:pPr algn="l">
              <a:lnSpc>
                <a:spcPts val="3955"/>
              </a:lnSpc>
            </a:pPr>
            <a:r>
              <a:rPr lang="en-US" sz="3500">
                <a:solidFill>
                  <a:srgbClr val="131416"/>
                </a:solidFill>
                <a:latin typeface="Horizon"/>
                <a:ea typeface="Horizon"/>
                <a:cs typeface="Horizon"/>
                <a:sym typeface="Horizon"/>
              </a:rPr>
              <a:t>LÓGICA DE LAS PROPOSICIONES</a:t>
            </a:r>
          </a:p>
        </p:txBody>
      </p:sp>
      <p:sp>
        <p:nvSpPr>
          <p:cNvPr id="3" name="TextBox 3"/>
          <p:cNvSpPr txBox="1"/>
          <p:nvPr/>
        </p:nvSpPr>
        <p:spPr>
          <a:xfrm>
            <a:off x="1338901" y="1917765"/>
            <a:ext cx="16126564" cy="9302750"/>
          </a:xfrm>
          <a:prstGeom prst="rect">
            <a:avLst/>
          </a:prstGeom>
        </p:spPr>
        <p:txBody>
          <a:bodyPr lIns="0" tIns="0" rIns="0" bIns="0" rtlCol="0" anchor="t">
            <a:spAutoFit/>
          </a:bodyPr>
          <a:lstStyle/>
          <a:p>
            <a:pPr algn="just">
              <a:lnSpc>
                <a:spcPts val="4200"/>
              </a:lnSpc>
            </a:pPr>
            <a:r>
              <a:rPr lang="en-US" sz="3000">
                <a:solidFill>
                  <a:srgbClr val="131416"/>
                </a:solidFill>
                <a:latin typeface="Open Sans"/>
                <a:ea typeface="Open Sans"/>
                <a:cs typeface="Open Sans"/>
                <a:sym typeface="Open Sans"/>
              </a:rPr>
              <a:t>Una proposición es un enunciado que puede ser verdadero o falso, pero no ambos a la vez. Generalmente son oraciones enunciativas y constituyen la base de la lógica matemática.</a:t>
            </a:r>
          </a:p>
          <a:p>
            <a:pPr algn="just">
              <a:lnSpc>
                <a:spcPts val="4200"/>
              </a:lnSpc>
            </a:pPr>
            <a:endParaRPr lang="en-US" sz="3000">
              <a:solidFill>
                <a:srgbClr val="131416"/>
              </a:solidFill>
              <a:latin typeface="Open Sans"/>
              <a:ea typeface="Open Sans"/>
              <a:cs typeface="Open Sans"/>
              <a:sym typeface="Open Sans"/>
            </a:endParaRPr>
          </a:p>
          <a:p>
            <a:pPr algn="just">
              <a:lnSpc>
                <a:spcPts val="4200"/>
              </a:lnSpc>
            </a:pPr>
            <a:r>
              <a:rPr lang="en-US" sz="3000" b="1">
                <a:solidFill>
                  <a:srgbClr val="131416"/>
                </a:solidFill>
                <a:latin typeface="Open Sans Bold"/>
                <a:ea typeface="Open Sans Bold"/>
                <a:cs typeface="Open Sans Bold"/>
                <a:sym typeface="Open Sans Bold"/>
              </a:rPr>
              <a:t>Componentes de una proposición</a:t>
            </a:r>
          </a:p>
          <a:p>
            <a:pPr marL="647700" lvl="1" indent="-323850" algn="just">
              <a:lnSpc>
                <a:spcPts val="4200"/>
              </a:lnSpc>
              <a:buFont typeface="Arial"/>
              <a:buChar char="•"/>
            </a:pPr>
            <a:r>
              <a:rPr lang="en-US" sz="3000" b="1">
                <a:solidFill>
                  <a:srgbClr val="131416"/>
                </a:solidFill>
                <a:latin typeface="Open Sans Bold"/>
                <a:ea typeface="Open Sans Bold"/>
                <a:cs typeface="Open Sans Bold"/>
                <a:sym typeface="Open Sans Bold"/>
              </a:rPr>
              <a:t>Premisas:</a:t>
            </a:r>
            <a:r>
              <a:rPr lang="en-US" sz="3000">
                <a:solidFill>
                  <a:srgbClr val="131416"/>
                </a:solidFill>
                <a:latin typeface="Open Sans"/>
                <a:ea typeface="Open Sans"/>
                <a:cs typeface="Open Sans"/>
                <a:sym typeface="Open Sans"/>
              </a:rPr>
              <a:t> Son las proposiciones que sirven de base a un razonamiento. Pueden ser verdaderas o falsas y afirman o niegan algo.</a:t>
            </a:r>
          </a:p>
          <a:p>
            <a:pPr algn="just">
              <a:lnSpc>
                <a:spcPts val="4200"/>
              </a:lnSpc>
            </a:pPr>
            <a:endParaRPr lang="en-US" sz="3000">
              <a:solidFill>
                <a:srgbClr val="131416"/>
              </a:solidFill>
              <a:latin typeface="Open Sans"/>
              <a:ea typeface="Open Sans"/>
              <a:cs typeface="Open Sans"/>
              <a:sym typeface="Open Sans"/>
            </a:endParaRPr>
          </a:p>
          <a:p>
            <a:pPr marL="647700" lvl="1" indent="-323850" algn="just">
              <a:lnSpc>
                <a:spcPts val="4200"/>
              </a:lnSpc>
              <a:buFont typeface="Arial"/>
              <a:buChar char="•"/>
            </a:pPr>
            <a:r>
              <a:rPr lang="en-US" sz="3000" b="1">
                <a:solidFill>
                  <a:srgbClr val="131416"/>
                </a:solidFill>
                <a:latin typeface="Open Sans Bold"/>
                <a:ea typeface="Open Sans Bold"/>
                <a:cs typeface="Open Sans Bold"/>
                <a:sym typeface="Open Sans Bold"/>
              </a:rPr>
              <a:t>Conclusión:</a:t>
            </a:r>
            <a:r>
              <a:rPr lang="en-US" sz="3000">
                <a:solidFill>
                  <a:srgbClr val="131416"/>
                </a:solidFill>
                <a:latin typeface="Open Sans"/>
                <a:ea typeface="Open Sans"/>
                <a:cs typeface="Open Sans"/>
                <a:sym typeface="Open Sans"/>
              </a:rPr>
              <a:t> Es la proposición final que se deduce de las premisas.</a:t>
            </a:r>
          </a:p>
          <a:p>
            <a:pPr algn="just">
              <a:lnSpc>
                <a:spcPts val="4200"/>
              </a:lnSpc>
            </a:pPr>
            <a:endParaRPr lang="en-US" sz="3000">
              <a:solidFill>
                <a:srgbClr val="131416"/>
              </a:solidFill>
              <a:latin typeface="Open Sans"/>
              <a:ea typeface="Open Sans"/>
              <a:cs typeface="Open Sans"/>
              <a:sym typeface="Open Sans"/>
            </a:endParaRPr>
          </a:p>
          <a:p>
            <a:pPr algn="just">
              <a:lnSpc>
                <a:spcPts val="4200"/>
              </a:lnSpc>
            </a:pPr>
            <a:r>
              <a:rPr lang="en-US" sz="3000">
                <a:solidFill>
                  <a:srgbClr val="131416"/>
                </a:solidFill>
                <a:latin typeface="Open Sans"/>
                <a:ea typeface="Open Sans"/>
                <a:cs typeface="Open Sans"/>
                <a:sym typeface="Open Sans"/>
              </a:rPr>
              <a:t>Las proposiciones se evalúan con valores excluyentes: Verdadero (V) o Falso (F).</a:t>
            </a:r>
          </a:p>
          <a:p>
            <a:pPr algn="just">
              <a:lnSpc>
                <a:spcPts val="4200"/>
              </a:lnSpc>
            </a:pPr>
            <a:endParaRPr lang="en-US" sz="3000">
              <a:solidFill>
                <a:srgbClr val="131416"/>
              </a:solidFill>
              <a:latin typeface="Open Sans"/>
              <a:ea typeface="Open Sans"/>
              <a:cs typeface="Open Sans"/>
              <a:sym typeface="Open Sans"/>
            </a:endParaRPr>
          </a:p>
          <a:p>
            <a:pPr algn="just">
              <a:lnSpc>
                <a:spcPts val="4200"/>
              </a:lnSpc>
            </a:pPr>
            <a:r>
              <a:rPr lang="en-US" sz="3000">
                <a:solidFill>
                  <a:srgbClr val="131416"/>
                </a:solidFill>
                <a:latin typeface="Open Sans"/>
                <a:ea typeface="Open Sans"/>
                <a:cs typeface="Open Sans"/>
                <a:sym typeface="Open Sans"/>
              </a:rPr>
              <a:t>Ejemplos de proposiciones</a:t>
            </a:r>
          </a:p>
          <a:p>
            <a:pPr marL="647700" lvl="1" indent="-323850" algn="just">
              <a:lnSpc>
                <a:spcPts val="4200"/>
              </a:lnSpc>
              <a:buFont typeface="Arial"/>
              <a:buChar char="•"/>
            </a:pPr>
            <a:r>
              <a:rPr lang="en-US" sz="3000">
                <a:solidFill>
                  <a:srgbClr val="131416"/>
                </a:solidFill>
                <a:latin typeface="Open Sans"/>
                <a:ea typeface="Open Sans"/>
                <a:cs typeface="Open Sans"/>
                <a:sym typeface="Open Sans"/>
              </a:rPr>
              <a:t>El cielo es azul.</a:t>
            </a:r>
          </a:p>
          <a:p>
            <a:pPr marL="647700" lvl="1" indent="-323850" algn="just">
              <a:lnSpc>
                <a:spcPts val="4200"/>
              </a:lnSpc>
              <a:buFont typeface="Arial"/>
              <a:buChar char="•"/>
            </a:pPr>
            <a:r>
              <a:rPr lang="en-US" sz="3000">
                <a:solidFill>
                  <a:srgbClr val="131416"/>
                </a:solidFill>
                <a:latin typeface="Open Sans"/>
                <a:ea typeface="Open Sans"/>
                <a:cs typeface="Open Sans"/>
                <a:sym typeface="Open Sans"/>
              </a:rPr>
              <a:t>La raíz cuadrada de 25 es 4.</a:t>
            </a:r>
          </a:p>
          <a:p>
            <a:pPr algn="just">
              <a:lnSpc>
                <a:spcPts val="3499"/>
              </a:lnSpc>
            </a:pPr>
            <a:endParaRPr lang="en-US" sz="3000">
              <a:solidFill>
                <a:srgbClr val="131416"/>
              </a:solidFill>
              <a:latin typeface="Open Sans"/>
              <a:ea typeface="Open Sans"/>
              <a:cs typeface="Open Sans"/>
              <a:sym typeface="Open Sans"/>
            </a:endParaRPr>
          </a:p>
          <a:p>
            <a:pPr algn="just">
              <a:lnSpc>
                <a:spcPts val="3499"/>
              </a:lnSpc>
            </a:pPr>
            <a:endParaRPr lang="en-US" sz="3000">
              <a:solidFill>
                <a:srgbClr val="131416"/>
              </a:solidFill>
              <a:latin typeface="Open Sans"/>
              <a:ea typeface="Open Sans"/>
              <a:cs typeface="Open Sans"/>
              <a:sym typeface="Open Sans"/>
            </a:endParaRPr>
          </a:p>
          <a:p>
            <a:pPr algn="just">
              <a:lnSpc>
                <a:spcPts val="3499"/>
              </a:lnSpc>
            </a:pPr>
            <a:endParaRPr lang="en-US" sz="3000">
              <a:solidFill>
                <a:srgbClr val="131416"/>
              </a:solidFill>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TextBox 2"/>
          <p:cNvSpPr txBox="1"/>
          <p:nvPr/>
        </p:nvSpPr>
        <p:spPr>
          <a:xfrm>
            <a:off x="1028700" y="782002"/>
            <a:ext cx="15884411" cy="545465"/>
          </a:xfrm>
          <a:prstGeom prst="rect">
            <a:avLst/>
          </a:prstGeom>
        </p:spPr>
        <p:txBody>
          <a:bodyPr lIns="0" tIns="0" rIns="0" bIns="0" rtlCol="0" anchor="t">
            <a:spAutoFit/>
          </a:bodyPr>
          <a:lstStyle/>
          <a:p>
            <a:pPr algn="l">
              <a:lnSpc>
                <a:spcPts val="3955"/>
              </a:lnSpc>
            </a:pPr>
            <a:r>
              <a:rPr lang="en-US" sz="3500">
                <a:solidFill>
                  <a:srgbClr val="131416"/>
                </a:solidFill>
                <a:latin typeface="Horizon"/>
                <a:ea typeface="Horizon"/>
                <a:cs typeface="Horizon"/>
                <a:sym typeface="Horizon"/>
              </a:rPr>
              <a:t> CLASIFICACIÓN DE LA PROPOSICIONES</a:t>
            </a:r>
          </a:p>
        </p:txBody>
      </p:sp>
      <p:sp>
        <p:nvSpPr>
          <p:cNvPr id="3" name="TextBox 3"/>
          <p:cNvSpPr txBox="1"/>
          <p:nvPr/>
        </p:nvSpPr>
        <p:spPr>
          <a:xfrm>
            <a:off x="1338901" y="1917765"/>
            <a:ext cx="16126564" cy="9207500"/>
          </a:xfrm>
          <a:prstGeom prst="rect">
            <a:avLst/>
          </a:prstGeom>
        </p:spPr>
        <p:txBody>
          <a:bodyPr lIns="0" tIns="0" rIns="0" bIns="0" rtlCol="0" anchor="t">
            <a:spAutoFit/>
          </a:bodyPr>
          <a:lstStyle/>
          <a:p>
            <a:pPr algn="just">
              <a:lnSpc>
                <a:spcPts val="4200"/>
              </a:lnSpc>
            </a:pPr>
            <a:r>
              <a:rPr lang="en-US" sz="3000" b="1">
                <a:solidFill>
                  <a:srgbClr val="131416"/>
                </a:solidFill>
                <a:latin typeface="Open Sans Bold"/>
                <a:ea typeface="Open Sans Bold"/>
                <a:cs typeface="Open Sans Bold"/>
                <a:sym typeface="Open Sans Bold"/>
              </a:rPr>
              <a:t> </a:t>
            </a:r>
            <a:r>
              <a:rPr lang="en-US" sz="3000">
                <a:solidFill>
                  <a:srgbClr val="131416"/>
                </a:solidFill>
                <a:latin typeface="Open Sans"/>
                <a:ea typeface="Open Sans"/>
                <a:cs typeface="Open Sans"/>
                <a:sym typeface="Open Sans"/>
              </a:rPr>
              <a:t>En la lógica se distinguen dos tipos de proposiciones:</a:t>
            </a:r>
          </a:p>
          <a:p>
            <a:pPr algn="just">
              <a:lnSpc>
                <a:spcPts val="4200"/>
              </a:lnSpc>
            </a:pPr>
            <a:r>
              <a:rPr lang="en-US" sz="3000" b="1">
                <a:solidFill>
                  <a:srgbClr val="131416"/>
                </a:solidFill>
                <a:latin typeface="Open Sans Bold"/>
                <a:ea typeface="Open Sans Bold"/>
                <a:cs typeface="Open Sans Bold"/>
                <a:sym typeface="Open Sans Bold"/>
              </a:rPr>
              <a:t>1. Proposiciones Simples o Automáticas:</a:t>
            </a:r>
          </a:p>
          <a:p>
            <a:pPr algn="just">
              <a:lnSpc>
                <a:spcPts val="4200"/>
              </a:lnSpc>
            </a:pPr>
            <a:r>
              <a:rPr lang="en-US" sz="3000">
                <a:solidFill>
                  <a:srgbClr val="131416"/>
                </a:solidFill>
                <a:latin typeface="Open Sans"/>
                <a:ea typeface="Open Sans"/>
                <a:cs typeface="Open Sans"/>
                <a:sym typeface="Open Sans"/>
              </a:rPr>
              <a:t>Esta no se pueden descomponer en dos expresiones que sean proposiciones.</a:t>
            </a:r>
          </a:p>
          <a:p>
            <a:pPr algn="just">
              <a:lnSpc>
                <a:spcPts val="4200"/>
              </a:lnSpc>
            </a:pPr>
            <a:r>
              <a:rPr lang="en-US" sz="3000" b="1">
                <a:solidFill>
                  <a:srgbClr val="131416"/>
                </a:solidFill>
                <a:latin typeface="Open Sans Bold"/>
                <a:ea typeface="Open Sans Bold"/>
                <a:cs typeface="Open Sans Bold"/>
                <a:sym typeface="Open Sans Bold"/>
              </a:rPr>
              <a:t>Ejemplo:</a:t>
            </a:r>
          </a:p>
          <a:p>
            <a:pPr algn="just">
              <a:lnSpc>
                <a:spcPts val="4200"/>
              </a:lnSpc>
            </a:pPr>
            <a:r>
              <a:rPr lang="en-US" sz="3000">
                <a:solidFill>
                  <a:srgbClr val="131416"/>
                </a:solidFill>
                <a:latin typeface="Open Sans"/>
                <a:ea typeface="Open Sans"/>
                <a:cs typeface="Open Sans"/>
                <a:sym typeface="Open Sans"/>
              </a:rPr>
              <a:t>Juan es pequeño.</a:t>
            </a:r>
          </a:p>
          <a:p>
            <a:pPr algn="just">
              <a:lnSpc>
                <a:spcPts val="4200"/>
              </a:lnSpc>
            </a:pPr>
            <a:r>
              <a:rPr lang="en-US" sz="3000">
                <a:solidFill>
                  <a:srgbClr val="131416"/>
                </a:solidFill>
                <a:latin typeface="Open Sans"/>
                <a:ea typeface="Open Sans"/>
                <a:cs typeface="Open Sans"/>
                <a:sym typeface="Open Sans"/>
              </a:rPr>
              <a:t>La raíz cuadra de 25 es 5</a:t>
            </a:r>
          </a:p>
          <a:p>
            <a:pPr algn="just">
              <a:lnSpc>
                <a:spcPts val="4200"/>
              </a:lnSpc>
            </a:pPr>
            <a:endParaRPr lang="en-US" sz="3000">
              <a:solidFill>
                <a:srgbClr val="131416"/>
              </a:solidFill>
              <a:latin typeface="Open Sans"/>
              <a:ea typeface="Open Sans"/>
              <a:cs typeface="Open Sans"/>
              <a:sym typeface="Open Sans"/>
            </a:endParaRPr>
          </a:p>
          <a:p>
            <a:pPr algn="just">
              <a:lnSpc>
                <a:spcPts val="4200"/>
              </a:lnSpc>
            </a:pPr>
            <a:r>
              <a:rPr lang="en-US" sz="3000" b="1">
                <a:solidFill>
                  <a:srgbClr val="131416"/>
                </a:solidFill>
                <a:latin typeface="Open Sans Bold"/>
                <a:ea typeface="Open Sans Bold"/>
                <a:cs typeface="Open Sans Bold"/>
                <a:sym typeface="Open Sans Bold"/>
              </a:rPr>
              <a:t>2. Proposiciones Compuestas o Moleculares:</a:t>
            </a:r>
          </a:p>
          <a:p>
            <a:pPr algn="just">
              <a:lnSpc>
                <a:spcPts val="4200"/>
              </a:lnSpc>
            </a:pPr>
            <a:r>
              <a:rPr lang="en-US" sz="3000">
                <a:solidFill>
                  <a:srgbClr val="131416"/>
                </a:solidFill>
                <a:latin typeface="Open Sans"/>
                <a:ea typeface="Open Sans"/>
                <a:cs typeface="Open Sans"/>
                <a:sym typeface="Open Sans"/>
              </a:rPr>
              <a:t>Es una proposición formada por dos o más proposiciones simples o compuestas. Son las proposiciones en las que aparecen las partículas gramaticales como: No, o, y, si…. Entonces, si y solo si</a:t>
            </a:r>
          </a:p>
          <a:p>
            <a:pPr algn="just">
              <a:lnSpc>
                <a:spcPts val="4200"/>
              </a:lnSpc>
            </a:pPr>
            <a:r>
              <a:rPr lang="en-US" sz="3000" b="1">
                <a:solidFill>
                  <a:srgbClr val="131416"/>
                </a:solidFill>
                <a:latin typeface="Open Sans Bold"/>
                <a:ea typeface="Open Sans Bold"/>
                <a:cs typeface="Open Sans Bold"/>
                <a:sym typeface="Open Sans Bold"/>
              </a:rPr>
              <a:t>Ejemplo:</a:t>
            </a:r>
          </a:p>
          <a:p>
            <a:pPr algn="just">
              <a:lnSpc>
                <a:spcPts val="4200"/>
              </a:lnSpc>
            </a:pPr>
            <a:r>
              <a:rPr lang="en-US" sz="3000">
                <a:solidFill>
                  <a:srgbClr val="131416"/>
                </a:solidFill>
                <a:latin typeface="Open Sans"/>
                <a:ea typeface="Open Sans"/>
                <a:cs typeface="Open Sans"/>
                <a:sym typeface="Open Sans"/>
              </a:rPr>
              <a:t> 5 es mayor que 4 y 6 es menor que 7.</a:t>
            </a:r>
          </a:p>
          <a:p>
            <a:pPr algn="just">
              <a:lnSpc>
                <a:spcPts val="4200"/>
              </a:lnSpc>
            </a:pPr>
            <a:r>
              <a:rPr lang="en-US" sz="3000">
                <a:solidFill>
                  <a:srgbClr val="131416"/>
                </a:solidFill>
                <a:latin typeface="Open Sans"/>
                <a:ea typeface="Open Sans"/>
                <a:cs typeface="Open Sans"/>
                <a:sym typeface="Open Sans"/>
              </a:rPr>
              <a:t>Aprenderé a programar solo si soy contantes y practico mucho. </a:t>
            </a:r>
          </a:p>
          <a:p>
            <a:pPr algn="just">
              <a:lnSpc>
                <a:spcPts val="3499"/>
              </a:lnSpc>
            </a:pPr>
            <a:endParaRPr lang="en-US" sz="3000">
              <a:solidFill>
                <a:srgbClr val="131416"/>
              </a:solidFill>
              <a:latin typeface="Open Sans"/>
              <a:ea typeface="Open Sans"/>
              <a:cs typeface="Open Sans"/>
              <a:sym typeface="Open Sans"/>
            </a:endParaRPr>
          </a:p>
          <a:p>
            <a:pPr algn="just">
              <a:lnSpc>
                <a:spcPts val="3499"/>
              </a:lnSpc>
            </a:pPr>
            <a:endParaRPr lang="en-US" sz="3000">
              <a:solidFill>
                <a:srgbClr val="131416"/>
              </a:solidFill>
              <a:latin typeface="Open Sans"/>
              <a:ea typeface="Open Sans"/>
              <a:cs typeface="Open Sans"/>
              <a:sym typeface="Open Sans"/>
            </a:endParaRPr>
          </a:p>
          <a:p>
            <a:pPr algn="just">
              <a:lnSpc>
                <a:spcPts val="3499"/>
              </a:lnSpc>
            </a:pPr>
            <a:endParaRPr lang="en-US" sz="3000">
              <a:solidFill>
                <a:srgbClr val="131416"/>
              </a:solidFill>
              <a:latin typeface="Open Sans"/>
              <a:ea typeface="Open Sans"/>
              <a:cs typeface="Open Sans"/>
              <a:sym typeface="Open Sans"/>
            </a:endParaRPr>
          </a:p>
          <a:p>
            <a:pPr algn="just">
              <a:lnSpc>
                <a:spcPts val="3499"/>
              </a:lnSpc>
            </a:pPr>
            <a:endParaRPr lang="en-US" sz="3000">
              <a:solidFill>
                <a:srgbClr val="131416"/>
              </a:solidFill>
              <a:latin typeface="Open Sans"/>
              <a:ea typeface="Open Sans"/>
              <a:cs typeface="Open Sans"/>
              <a:sym typeface="Open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TextBox 2"/>
          <p:cNvSpPr txBox="1"/>
          <p:nvPr/>
        </p:nvSpPr>
        <p:spPr>
          <a:xfrm>
            <a:off x="852333" y="834551"/>
            <a:ext cx="16406967" cy="1688973"/>
          </a:xfrm>
          <a:prstGeom prst="rect">
            <a:avLst/>
          </a:prstGeom>
        </p:spPr>
        <p:txBody>
          <a:bodyPr lIns="0" tIns="0" rIns="0" bIns="0" rtlCol="0" anchor="t">
            <a:spAutoFit/>
          </a:bodyPr>
          <a:lstStyle/>
          <a:p>
            <a:pPr algn="ctr">
              <a:lnSpc>
                <a:spcPts val="5084"/>
              </a:lnSpc>
            </a:pPr>
            <a:r>
              <a:rPr lang="en-US" sz="4500">
                <a:solidFill>
                  <a:srgbClr val="131416"/>
                </a:solidFill>
                <a:latin typeface="Horizon"/>
                <a:ea typeface="Horizon"/>
                <a:cs typeface="Horizon"/>
                <a:sym typeface="Horizon"/>
              </a:rPr>
              <a:t>CONCEPTOS CLAVE APRENDIDOS </a:t>
            </a:r>
          </a:p>
          <a:p>
            <a:pPr algn="ctr">
              <a:lnSpc>
                <a:spcPts val="7797"/>
              </a:lnSpc>
            </a:pPr>
            <a:endParaRPr lang="en-US" sz="4500">
              <a:solidFill>
                <a:srgbClr val="131416"/>
              </a:solidFill>
              <a:latin typeface="Horizon"/>
              <a:ea typeface="Horizon"/>
              <a:cs typeface="Horizon"/>
              <a:sym typeface="Horizon"/>
            </a:endParaRPr>
          </a:p>
        </p:txBody>
      </p:sp>
      <p:sp>
        <p:nvSpPr>
          <p:cNvPr id="3" name="TextBox 3"/>
          <p:cNvSpPr txBox="1"/>
          <p:nvPr/>
        </p:nvSpPr>
        <p:spPr>
          <a:xfrm>
            <a:off x="1605703" y="1963602"/>
            <a:ext cx="14900226" cy="5982314"/>
          </a:xfrm>
          <a:prstGeom prst="rect">
            <a:avLst/>
          </a:prstGeom>
        </p:spPr>
        <p:txBody>
          <a:bodyPr lIns="0" tIns="0" rIns="0" bIns="0" rtlCol="0" anchor="t">
            <a:spAutoFit/>
          </a:bodyPr>
          <a:lstStyle/>
          <a:p>
            <a:pPr marL="604519" lvl="1" indent="-302260" algn="l">
              <a:lnSpc>
                <a:spcPts val="3919"/>
              </a:lnSpc>
              <a:buFont typeface="Arial"/>
              <a:buChar char="•"/>
            </a:pPr>
            <a:r>
              <a:rPr lang="en-US" sz="2799" b="1">
                <a:solidFill>
                  <a:srgbClr val="131416"/>
                </a:solidFill>
                <a:latin typeface="Garet Bold"/>
                <a:ea typeface="Garet Bold"/>
                <a:cs typeface="Garet Bold"/>
                <a:sym typeface="Garet Bold"/>
              </a:rPr>
              <a:t>Objeto:</a:t>
            </a:r>
            <a:r>
              <a:rPr lang="en-US" sz="2799">
                <a:solidFill>
                  <a:srgbClr val="131416"/>
                </a:solidFill>
                <a:latin typeface="Garet"/>
                <a:ea typeface="Garet"/>
                <a:cs typeface="Garet"/>
                <a:sym typeface="Garet"/>
              </a:rPr>
              <a:t> cualquier cosa concreta o abstracta a la que se puede aplicar un concepto.</a:t>
            </a:r>
          </a:p>
          <a:p>
            <a:pPr marL="604519" lvl="1" indent="-302260" algn="l">
              <a:lnSpc>
                <a:spcPts val="3919"/>
              </a:lnSpc>
              <a:buFont typeface="Arial"/>
              <a:buChar char="•"/>
            </a:pPr>
            <a:r>
              <a:rPr lang="en-US" sz="2799" b="1">
                <a:solidFill>
                  <a:srgbClr val="131416"/>
                </a:solidFill>
                <a:latin typeface="Garet Bold"/>
                <a:ea typeface="Garet Bold"/>
                <a:cs typeface="Garet Bold"/>
                <a:sym typeface="Garet Bold"/>
              </a:rPr>
              <a:t>Triadas del concepto:</a:t>
            </a:r>
            <a:r>
              <a:rPr lang="en-US" sz="2799">
                <a:solidFill>
                  <a:srgbClr val="131416"/>
                </a:solidFill>
                <a:latin typeface="Garet"/>
                <a:ea typeface="Garet"/>
                <a:cs typeface="Garet"/>
                <a:sym typeface="Garet"/>
              </a:rPr>
              <a:t> conjunto de tres elementos mentales que usamos para comprender y reconocer un concepto.</a:t>
            </a:r>
          </a:p>
          <a:p>
            <a:pPr marL="604519" lvl="1" indent="-302260" algn="l">
              <a:lnSpc>
                <a:spcPts val="3919"/>
              </a:lnSpc>
              <a:buFont typeface="Arial"/>
              <a:buChar char="•"/>
            </a:pPr>
            <a:r>
              <a:rPr lang="en-US" sz="2799" b="1">
                <a:solidFill>
                  <a:srgbClr val="131416"/>
                </a:solidFill>
                <a:latin typeface="Garet Bold"/>
                <a:ea typeface="Garet Bold"/>
                <a:cs typeface="Garet Bold"/>
                <a:sym typeface="Garet Bold"/>
              </a:rPr>
              <a:t>Diagrama de árbol:</a:t>
            </a:r>
            <a:r>
              <a:rPr lang="en-US" sz="2799">
                <a:solidFill>
                  <a:srgbClr val="131416"/>
                </a:solidFill>
                <a:latin typeface="Garet"/>
                <a:ea typeface="Garet"/>
                <a:cs typeface="Garet"/>
                <a:sym typeface="Garet"/>
              </a:rPr>
              <a:t>  el árbol lógico es una estructura jerárquica que organiza elementos según sus relaciones lógicas y niveles de generalidad.</a:t>
            </a:r>
          </a:p>
          <a:p>
            <a:pPr marL="604519" lvl="1" indent="-302260" algn="l">
              <a:lnSpc>
                <a:spcPts val="3919"/>
              </a:lnSpc>
              <a:buFont typeface="Arial"/>
              <a:buChar char="•"/>
            </a:pPr>
            <a:r>
              <a:rPr lang="en-US" sz="2799" b="1">
                <a:solidFill>
                  <a:srgbClr val="131416"/>
                </a:solidFill>
                <a:latin typeface="Garet Bold"/>
                <a:ea typeface="Garet Bold"/>
                <a:cs typeface="Garet Bold"/>
                <a:sym typeface="Garet Bold"/>
              </a:rPr>
              <a:t>Memoria:</a:t>
            </a:r>
            <a:r>
              <a:rPr lang="en-US" sz="2799">
                <a:solidFill>
                  <a:srgbClr val="131416"/>
                </a:solidFill>
                <a:latin typeface="Garet"/>
                <a:ea typeface="Garet"/>
                <a:cs typeface="Garet"/>
                <a:sym typeface="Garet"/>
              </a:rPr>
              <a:t> La memoria es una serie horizontal de objetos del mismo tipo lógico que pueden sustituirse entre sí.</a:t>
            </a:r>
          </a:p>
          <a:p>
            <a:pPr marL="604519" lvl="1" indent="-302260" algn="l">
              <a:lnSpc>
                <a:spcPts val="3919"/>
              </a:lnSpc>
              <a:buFont typeface="Arial"/>
              <a:buChar char="•"/>
            </a:pPr>
            <a:r>
              <a:rPr lang="en-US" sz="2799" b="1">
                <a:solidFill>
                  <a:srgbClr val="131416"/>
                </a:solidFill>
                <a:latin typeface="Garet Bold"/>
                <a:ea typeface="Garet Bold"/>
                <a:cs typeface="Garet Bold"/>
                <a:sym typeface="Garet Bold"/>
              </a:rPr>
              <a:t>Premisas:</a:t>
            </a:r>
            <a:r>
              <a:rPr lang="en-US" sz="2799">
                <a:solidFill>
                  <a:srgbClr val="131416"/>
                </a:solidFill>
                <a:latin typeface="Garet"/>
                <a:ea typeface="Garet"/>
                <a:cs typeface="Garet"/>
                <a:sym typeface="Garet"/>
              </a:rPr>
              <a:t> Son las proposiciones que sirven de base a un razonamiento. Pueden ser verdaderas o falsas.</a:t>
            </a:r>
          </a:p>
          <a:p>
            <a:pPr marL="604519" lvl="1" indent="-302260" algn="l">
              <a:lnSpc>
                <a:spcPts val="3919"/>
              </a:lnSpc>
              <a:buFont typeface="Arial"/>
              <a:buChar char="•"/>
            </a:pPr>
            <a:r>
              <a:rPr lang="en-US" sz="2799" b="1">
                <a:solidFill>
                  <a:srgbClr val="131416"/>
                </a:solidFill>
                <a:latin typeface="Garet Bold"/>
                <a:ea typeface="Garet Bold"/>
                <a:cs typeface="Garet Bold"/>
                <a:sym typeface="Garet Bold"/>
              </a:rPr>
              <a:t>Conclusión: </a:t>
            </a:r>
            <a:r>
              <a:rPr lang="en-US" sz="2799">
                <a:solidFill>
                  <a:srgbClr val="131416"/>
                </a:solidFill>
                <a:latin typeface="Garet"/>
                <a:ea typeface="Garet"/>
                <a:cs typeface="Garet"/>
                <a:sym typeface="Garet"/>
              </a:rPr>
              <a:t>Es la proposición final que se deduce de las premisas.</a:t>
            </a:r>
          </a:p>
          <a:p>
            <a:pPr algn="l">
              <a:lnSpc>
                <a:spcPts val="4412"/>
              </a:lnSpc>
            </a:pPr>
            <a:endParaRPr lang="en-US" sz="2799">
              <a:solidFill>
                <a:srgbClr val="131416"/>
              </a:solidFill>
              <a:latin typeface="Garet"/>
              <a:ea typeface="Garet"/>
              <a:cs typeface="Garet"/>
              <a:sym typeface="Gare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a:off x="11604433" y="2375597"/>
            <a:ext cx="4910696" cy="5023327"/>
          </a:xfrm>
          <a:custGeom>
            <a:avLst/>
            <a:gdLst/>
            <a:ahLst/>
            <a:cxnLst/>
            <a:rect l="l" t="t" r="r" b="b"/>
            <a:pathLst>
              <a:path w="4910696" h="5023327">
                <a:moveTo>
                  <a:pt x="0" y="0"/>
                </a:moveTo>
                <a:lnTo>
                  <a:pt x="4910696" y="0"/>
                </a:lnTo>
                <a:lnTo>
                  <a:pt x="4910696" y="5023327"/>
                </a:lnTo>
                <a:lnTo>
                  <a:pt x="0" y="5023327"/>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897376" y="2013966"/>
            <a:ext cx="8640435" cy="7910830"/>
          </a:xfrm>
          <a:prstGeom prst="rect">
            <a:avLst/>
          </a:prstGeom>
        </p:spPr>
        <p:txBody>
          <a:bodyPr lIns="0" tIns="0" rIns="0" bIns="0" rtlCol="0" anchor="t">
            <a:spAutoFit/>
          </a:bodyPr>
          <a:lstStyle/>
          <a:p>
            <a:pPr algn="l">
              <a:lnSpc>
                <a:spcPts val="3919"/>
              </a:lnSpc>
            </a:pPr>
            <a:r>
              <a:rPr lang="en-US" sz="2799">
                <a:solidFill>
                  <a:srgbClr val="131416"/>
                </a:solidFill>
                <a:latin typeface="Garet"/>
                <a:ea typeface="Garet"/>
                <a:cs typeface="Garet"/>
                <a:sym typeface="Garet"/>
              </a:rPr>
              <a:t>Asumir con compromiso el estudio, la preparación y la presentación del parcial, cumpliendo con los tiempos y criterios establecidos.</a:t>
            </a:r>
          </a:p>
          <a:p>
            <a:pPr algn="l">
              <a:lnSpc>
                <a:spcPts val="3919"/>
              </a:lnSpc>
            </a:pPr>
            <a:endParaRPr lang="en-US" sz="2799">
              <a:solidFill>
                <a:srgbClr val="131416"/>
              </a:solidFill>
              <a:latin typeface="Garet"/>
              <a:ea typeface="Garet"/>
              <a:cs typeface="Garet"/>
              <a:sym typeface="Garet"/>
            </a:endParaRPr>
          </a:p>
          <a:p>
            <a:pPr algn="l">
              <a:lnSpc>
                <a:spcPts val="3919"/>
              </a:lnSpc>
            </a:pPr>
            <a:r>
              <a:rPr lang="en-US" sz="2799">
                <a:solidFill>
                  <a:srgbClr val="131416"/>
                </a:solidFill>
                <a:latin typeface="Garet"/>
                <a:ea typeface="Garet"/>
                <a:cs typeface="Garet"/>
                <a:sym typeface="Garet"/>
              </a:rPr>
              <a:t>Aplicación en clase:</a:t>
            </a:r>
          </a:p>
          <a:p>
            <a:pPr marL="604519" lvl="1" indent="-302260" algn="l">
              <a:lnSpc>
                <a:spcPts val="3919"/>
              </a:lnSpc>
              <a:buFont typeface="Arial"/>
              <a:buChar char="•"/>
            </a:pPr>
            <a:r>
              <a:rPr lang="en-US" sz="2799">
                <a:solidFill>
                  <a:srgbClr val="131416"/>
                </a:solidFill>
                <a:latin typeface="Garet"/>
                <a:ea typeface="Garet"/>
                <a:cs typeface="Garet"/>
                <a:sym typeface="Garet"/>
              </a:rPr>
              <a:t>Ser responsable implica argumentar con claridad y verdad, lo cual es esencial al formular proposiciones lógicas.</a:t>
            </a:r>
          </a:p>
          <a:p>
            <a:pPr marL="604519" lvl="1" indent="-302260" algn="l">
              <a:lnSpc>
                <a:spcPts val="3919"/>
              </a:lnSpc>
              <a:buFont typeface="Arial"/>
              <a:buChar char="•"/>
            </a:pPr>
            <a:r>
              <a:rPr lang="en-US" sz="2799">
                <a:solidFill>
                  <a:srgbClr val="131416"/>
                </a:solidFill>
                <a:latin typeface="Garet"/>
                <a:ea typeface="Garet"/>
                <a:cs typeface="Garet"/>
                <a:sym typeface="Garet"/>
              </a:rPr>
              <a:t>Al construir premisas y conclusiones, se espera que el estudiante analice con seriedad lo que afirma o niega.</a:t>
            </a:r>
          </a:p>
          <a:p>
            <a:pPr marL="604519" lvl="1" indent="-302260" algn="l">
              <a:lnSpc>
                <a:spcPts val="3919"/>
              </a:lnSpc>
              <a:buFont typeface="Arial"/>
              <a:buChar char="•"/>
            </a:pPr>
            <a:r>
              <a:rPr lang="en-US" sz="2799">
                <a:solidFill>
                  <a:srgbClr val="131416"/>
                </a:solidFill>
                <a:latin typeface="Garet"/>
                <a:ea typeface="Garet"/>
                <a:cs typeface="Garet"/>
                <a:sym typeface="Garet"/>
              </a:rPr>
              <a:t>La lógica nos enseña que toda afirmación tiene consecuencias, igual que nuestras acciones en la vida diaria.</a:t>
            </a:r>
          </a:p>
          <a:p>
            <a:pPr algn="l">
              <a:lnSpc>
                <a:spcPts val="3919"/>
              </a:lnSpc>
            </a:pPr>
            <a:endParaRPr lang="en-US" sz="2799">
              <a:solidFill>
                <a:srgbClr val="131416"/>
              </a:solidFill>
              <a:latin typeface="Garet"/>
              <a:ea typeface="Garet"/>
              <a:cs typeface="Garet"/>
              <a:sym typeface="Garet"/>
            </a:endParaRPr>
          </a:p>
        </p:txBody>
      </p:sp>
      <p:sp>
        <p:nvSpPr>
          <p:cNvPr id="4" name="TextBox 4"/>
          <p:cNvSpPr txBox="1"/>
          <p:nvPr/>
        </p:nvSpPr>
        <p:spPr>
          <a:xfrm>
            <a:off x="2507390" y="1000125"/>
            <a:ext cx="13503315" cy="1070991"/>
          </a:xfrm>
          <a:prstGeom prst="rect">
            <a:avLst/>
          </a:prstGeom>
        </p:spPr>
        <p:txBody>
          <a:bodyPr lIns="0" tIns="0" rIns="0" bIns="0" rtlCol="0" anchor="t">
            <a:spAutoFit/>
          </a:bodyPr>
          <a:lstStyle/>
          <a:p>
            <a:pPr algn="ctr">
              <a:lnSpc>
                <a:spcPts val="7797"/>
              </a:lnSpc>
            </a:pPr>
            <a:r>
              <a:rPr lang="en-US" sz="6900">
                <a:solidFill>
                  <a:srgbClr val="131416"/>
                </a:solidFill>
                <a:latin typeface="Horizon"/>
                <a:ea typeface="Horizon"/>
                <a:cs typeface="Horizon"/>
                <a:sym typeface="Horizon"/>
              </a:rPr>
              <a:t>RESPONSABILIDAD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Freeform 2"/>
          <p:cNvSpPr/>
          <p:nvPr/>
        </p:nvSpPr>
        <p:spPr>
          <a:xfrm>
            <a:off x="3608418" y="3695607"/>
            <a:ext cx="11301259" cy="6003794"/>
          </a:xfrm>
          <a:custGeom>
            <a:avLst/>
            <a:gdLst/>
            <a:ahLst/>
            <a:cxnLst/>
            <a:rect l="l" t="t" r="r" b="b"/>
            <a:pathLst>
              <a:path w="11301259" h="6003794">
                <a:moveTo>
                  <a:pt x="0" y="0"/>
                </a:moveTo>
                <a:lnTo>
                  <a:pt x="11301259" y="0"/>
                </a:lnTo>
                <a:lnTo>
                  <a:pt x="11301259" y="6003794"/>
                </a:lnTo>
                <a:lnTo>
                  <a:pt x="0" y="6003794"/>
                </a:lnTo>
                <a:lnTo>
                  <a:pt x="0" y="0"/>
                </a:lnTo>
                <a:close/>
              </a:path>
            </a:pathLst>
          </a:custGeom>
          <a:blipFill>
            <a:blip r:embed="rId2"/>
            <a:stretch>
              <a:fillRect/>
            </a:stretch>
          </a:blipFill>
        </p:spPr>
        <p:txBody>
          <a:bodyPr/>
          <a:lstStyle/>
          <a:p>
            <a:endParaRPr lang="es-GT"/>
          </a:p>
        </p:txBody>
      </p:sp>
      <p:sp>
        <p:nvSpPr>
          <p:cNvPr id="3" name="TextBox 3"/>
          <p:cNvSpPr txBox="1"/>
          <p:nvPr/>
        </p:nvSpPr>
        <p:spPr>
          <a:xfrm>
            <a:off x="2507390" y="1009650"/>
            <a:ext cx="13503315" cy="1197610"/>
          </a:xfrm>
          <a:prstGeom prst="rect">
            <a:avLst/>
          </a:prstGeom>
        </p:spPr>
        <p:txBody>
          <a:bodyPr lIns="0" tIns="0" rIns="0" bIns="0" rtlCol="0" anchor="t">
            <a:spAutoFit/>
          </a:bodyPr>
          <a:lstStyle/>
          <a:p>
            <a:pPr algn="ctr">
              <a:lnSpc>
                <a:spcPts val="4519"/>
              </a:lnSpc>
            </a:pPr>
            <a:r>
              <a:rPr lang="en-US" sz="3999">
                <a:solidFill>
                  <a:srgbClr val="131416"/>
                </a:solidFill>
                <a:latin typeface="Horizon"/>
                <a:ea typeface="Horizon"/>
                <a:cs typeface="Horizon"/>
                <a:sym typeface="Horizon"/>
              </a:rPr>
              <a:t>EVALUACIÓN DE CONOCIMIENTOS ADQUIRIDOS </a:t>
            </a:r>
          </a:p>
        </p:txBody>
      </p:sp>
      <p:sp>
        <p:nvSpPr>
          <p:cNvPr id="4" name="TextBox 4"/>
          <p:cNvSpPr txBox="1"/>
          <p:nvPr/>
        </p:nvSpPr>
        <p:spPr>
          <a:xfrm>
            <a:off x="1207032" y="2442064"/>
            <a:ext cx="16257244" cy="1643974"/>
          </a:xfrm>
          <a:prstGeom prst="rect">
            <a:avLst/>
          </a:prstGeom>
        </p:spPr>
        <p:txBody>
          <a:bodyPr lIns="0" tIns="0" rIns="0" bIns="0" rtlCol="0" anchor="t">
            <a:spAutoFit/>
          </a:bodyPr>
          <a:lstStyle/>
          <a:p>
            <a:pPr algn="just">
              <a:lnSpc>
                <a:spcPts val="4412"/>
              </a:lnSpc>
            </a:pPr>
            <a:r>
              <a:rPr lang="en-US" sz="3151">
                <a:solidFill>
                  <a:srgbClr val="131416"/>
                </a:solidFill>
                <a:latin typeface="Garet"/>
                <a:ea typeface="Garet"/>
                <a:cs typeface="Garet"/>
                <a:sym typeface="Garet"/>
              </a:rPr>
              <a:t>Duración: 15 minutos</a:t>
            </a:r>
          </a:p>
          <a:p>
            <a:pPr algn="just">
              <a:lnSpc>
                <a:spcPts val="4412"/>
              </a:lnSpc>
            </a:pPr>
            <a:r>
              <a:rPr lang="en-US" sz="3151">
                <a:solidFill>
                  <a:srgbClr val="131416"/>
                </a:solidFill>
                <a:latin typeface="Garet"/>
                <a:ea typeface="Garet"/>
                <a:cs typeface="Garet"/>
                <a:sym typeface="Garet"/>
              </a:rPr>
              <a:t>https://create.kahoot.it/details/cc8e4463-cc27-42cc-8929-763d2174854c</a:t>
            </a:r>
          </a:p>
          <a:p>
            <a:pPr algn="just">
              <a:lnSpc>
                <a:spcPts val="4412"/>
              </a:lnSpc>
            </a:pPr>
            <a:endParaRPr lang="en-US" sz="3151">
              <a:solidFill>
                <a:srgbClr val="131416"/>
              </a:solidFill>
              <a:latin typeface="Garet"/>
              <a:ea typeface="Garet"/>
              <a:cs typeface="Garet"/>
              <a:sym typeface="Gare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TextBox 2"/>
          <p:cNvSpPr txBox="1"/>
          <p:nvPr/>
        </p:nvSpPr>
        <p:spPr>
          <a:xfrm>
            <a:off x="2507390" y="1000125"/>
            <a:ext cx="13503315" cy="1070991"/>
          </a:xfrm>
          <a:prstGeom prst="rect">
            <a:avLst/>
          </a:prstGeom>
        </p:spPr>
        <p:txBody>
          <a:bodyPr lIns="0" tIns="0" rIns="0" bIns="0" rtlCol="0" anchor="t">
            <a:spAutoFit/>
          </a:bodyPr>
          <a:lstStyle/>
          <a:p>
            <a:pPr algn="ctr">
              <a:lnSpc>
                <a:spcPts val="7797"/>
              </a:lnSpc>
            </a:pPr>
            <a:r>
              <a:rPr lang="en-US" sz="6900">
                <a:solidFill>
                  <a:srgbClr val="131416"/>
                </a:solidFill>
                <a:latin typeface="Horizon"/>
                <a:ea typeface="Horizon"/>
                <a:cs typeface="Horizon"/>
                <a:sym typeface="Horizon"/>
              </a:rPr>
              <a:t>REFERENCIAS </a:t>
            </a:r>
          </a:p>
        </p:txBody>
      </p:sp>
      <p:sp>
        <p:nvSpPr>
          <p:cNvPr id="3" name="TextBox 3"/>
          <p:cNvSpPr txBox="1"/>
          <p:nvPr/>
        </p:nvSpPr>
        <p:spPr>
          <a:xfrm>
            <a:off x="1207032" y="2442064"/>
            <a:ext cx="16257244" cy="6063574"/>
          </a:xfrm>
          <a:prstGeom prst="rect">
            <a:avLst/>
          </a:prstGeom>
        </p:spPr>
        <p:txBody>
          <a:bodyPr lIns="0" tIns="0" rIns="0" bIns="0" rtlCol="0" anchor="t">
            <a:spAutoFit/>
          </a:bodyPr>
          <a:lstStyle/>
          <a:p>
            <a:pPr marL="680435" lvl="1" indent="-340217" algn="just">
              <a:lnSpc>
                <a:spcPts val="4412"/>
              </a:lnSpc>
              <a:buFont typeface="Arial"/>
              <a:buChar char="•"/>
            </a:pPr>
            <a:r>
              <a:rPr lang="en-US" sz="3151">
                <a:solidFill>
                  <a:srgbClr val="131416"/>
                </a:solidFill>
                <a:latin typeface="Garet"/>
                <a:ea typeface="Garet"/>
                <a:cs typeface="Garet"/>
                <a:sym typeface="Garet"/>
              </a:rPr>
              <a:t>El lenguaje y Las proposiciones. (s/f). Scribd. Recuperado el 27 de octubre de 2025, de https://es.scribd.com/document/375932984/El-Lenguaje-y-Las-Proposiciones</a:t>
            </a:r>
          </a:p>
          <a:p>
            <a:pPr algn="just">
              <a:lnSpc>
                <a:spcPts val="4412"/>
              </a:lnSpc>
            </a:pPr>
            <a:endParaRPr lang="en-US" sz="3151">
              <a:solidFill>
                <a:srgbClr val="131416"/>
              </a:solidFill>
              <a:latin typeface="Garet"/>
              <a:ea typeface="Garet"/>
              <a:cs typeface="Garet"/>
              <a:sym typeface="Garet"/>
            </a:endParaRPr>
          </a:p>
          <a:p>
            <a:pPr marL="680435" lvl="1" indent="-340217" algn="just">
              <a:lnSpc>
                <a:spcPts val="4412"/>
              </a:lnSpc>
              <a:buFont typeface="Arial"/>
              <a:buChar char="•"/>
            </a:pPr>
            <a:r>
              <a:rPr lang="en-US" sz="3151">
                <a:solidFill>
                  <a:srgbClr val="131416"/>
                </a:solidFill>
                <a:latin typeface="Garet"/>
                <a:ea typeface="Garet"/>
                <a:cs typeface="Garet"/>
                <a:sym typeface="Garet"/>
              </a:rPr>
              <a:t>Universidad de San Carlos de Guatemala. (s.f.). Unidad 3: Lógica del Concepto [Material del curso Lógica de Sistemas, Facultad de Ingeniería]. Plataforma UEDI.</a:t>
            </a:r>
          </a:p>
          <a:p>
            <a:pPr algn="just">
              <a:lnSpc>
                <a:spcPts val="4412"/>
              </a:lnSpc>
            </a:pPr>
            <a:endParaRPr lang="en-US" sz="3151">
              <a:solidFill>
                <a:srgbClr val="131416"/>
              </a:solidFill>
              <a:latin typeface="Garet"/>
              <a:ea typeface="Garet"/>
              <a:cs typeface="Garet"/>
              <a:sym typeface="Garet"/>
            </a:endParaRPr>
          </a:p>
          <a:p>
            <a:pPr marL="680435" lvl="1" indent="-340217" algn="just">
              <a:lnSpc>
                <a:spcPts val="4412"/>
              </a:lnSpc>
              <a:buFont typeface="Arial"/>
              <a:buChar char="•"/>
            </a:pPr>
            <a:r>
              <a:rPr lang="en-US" sz="3151">
                <a:solidFill>
                  <a:srgbClr val="131416"/>
                </a:solidFill>
                <a:latin typeface="Garet"/>
                <a:ea typeface="Garet"/>
                <a:cs typeface="Garet"/>
                <a:sym typeface="Garet"/>
              </a:rPr>
              <a:t>Universidad de San Carlos de Guatemala. (s.f.). Unidad 4: El Lenguaje y la Lógica de las proposiciones [Material del curso Lógica de Sistemas, Facultad de Ingeniería]. Plataforma UEDI.</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DE59"/>
        </a:solidFill>
        <a:effectLst/>
      </p:bgPr>
    </p:bg>
    <p:spTree>
      <p:nvGrpSpPr>
        <p:cNvPr id="1" name=""/>
        <p:cNvGrpSpPr/>
        <p:nvPr/>
      </p:nvGrpSpPr>
      <p:grpSpPr>
        <a:xfrm>
          <a:off x="0" y="0"/>
          <a:ext cx="0" cy="0"/>
          <a:chOff x="0" y="0"/>
          <a:chExt cx="0" cy="0"/>
        </a:xfrm>
      </p:grpSpPr>
      <p:sp>
        <p:nvSpPr>
          <p:cNvPr id="2" name="TextBox 2"/>
          <p:cNvSpPr txBox="1"/>
          <p:nvPr/>
        </p:nvSpPr>
        <p:spPr>
          <a:xfrm>
            <a:off x="4437795" y="3389104"/>
            <a:ext cx="8658828" cy="2495677"/>
          </a:xfrm>
          <a:prstGeom prst="rect">
            <a:avLst/>
          </a:prstGeom>
        </p:spPr>
        <p:txBody>
          <a:bodyPr lIns="0" tIns="0" rIns="0" bIns="0" rtlCol="0" anchor="t">
            <a:spAutoFit/>
          </a:bodyPr>
          <a:lstStyle/>
          <a:p>
            <a:pPr algn="just">
              <a:lnSpc>
                <a:spcPts val="6343"/>
              </a:lnSpc>
            </a:pPr>
            <a:r>
              <a:rPr lang="en-US" sz="6099">
                <a:solidFill>
                  <a:srgbClr val="131416"/>
                </a:solidFill>
                <a:latin typeface="Horizon"/>
                <a:ea typeface="Horizon"/>
                <a:cs typeface="Horizon"/>
                <a:sym typeface="Horizon"/>
              </a:rPr>
              <a:t>¡GRACIAS POR SU  ATENCIÓN!</a:t>
            </a:r>
          </a:p>
          <a:p>
            <a:pPr algn="just">
              <a:lnSpc>
                <a:spcPts val="6343"/>
              </a:lnSpc>
            </a:pPr>
            <a:endParaRPr lang="en-US" sz="6099">
              <a:solidFill>
                <a:srgbClr val="131416"/>
              </a:solidFill>
              <a:latin typeface="Horizon"/>
              <a:ea typeface="Horizon"/>
              <a:cs typeface="Horizon"/>
              <a:sym typeface="Horizon"/>
            </a:endParaRPr>
          </a:p>
        </p:txBody>
      </p:sp>
      <p:sp>
        <p:nvSpPr>
          <p:cNvPr id="3" name="TextBox 3"/>
          <p:cNvSpPr txBox="1"/>
          <p:nvPr/>
        </p:nvSpPr>
        <p:spPr>
          <a:xfrm>
            <a:off x="5414714" y="5958103"/>
            <a:ext cx="6704991" cy="898525"/>
          </a:xfrm>
          <a:prstGeom prst="rect">
            <a:avLst/>
          </a:prstGeom>
        </p:spPr>
        <p:txBody>
          <a:bodyPr lIns="0" tIns="0" rIns="0" bIns="0" rtlCol="0" anchor="t">
            <a:spAutoFit/>
          </a:bodyPr>
          <a:lstStyle/>
          <a:p>
            <a:pPr algn="ctr">
              <a:lnSpc>
                <a:spcPts val="7400"/>
              </a:lnSpc>
            </a:pPr>
            <a:r>
              <a:rPr lang="en-US" sz="5000" spc="1160">
                <a:solidFill>
                  <a:srgbClr val="131416"/>
                </a:solidFill>
                <a:latin typeface="Garet"/>
                <a:ea typeface="Garet"/>
                <a:cs typeface="Garet"/>
                <a:sym typeface="Garet"/>
              </a:rPr>
              <a:t>DUDAS</a:t>
            </a:r>
          </a:p>
        </p:txBody>
      </p:sp>
      <p:sp>
        <p:nvSpPr>
          <p:cNvPr id="4" name="Freeform 4"/>
          <p:cNvSpPr/>
          <p:nvPr/>
        </p:nvSpPr>
        <p:spPr>
          <a:xfrm>
            <a:off x="13963751" y="1028700"/>
            <a:ext cx="2757268" cy="3770970"/>
          </a:xfrm>
          <a:custGeom>
            <a:avLst/>
            <a:gdLst/>
            <a:ahLst/>
            <a:cxnLst/>
            <a:rect l="l" t="t" r="r" b="b"/>
            <a:pathLst>
              <a:path w="2757268" h="3770970">
                <a:moveTo>
                  <a:pt x="0" y="0"/>
                </a:moveTo>
                <a:lnTo>
                  <a:pt x="2757268" y="0"/>
                </a:lnTo>
                <a:lnTo>
                  <a:pt x="2757268" y="3770970"/>
                </a:lnTo>
                <a:lnTo>
                  <a:pt x="0" y="3770970"/>
                </a:lnTo>
                <a:lnTo>
                  <a:pt x="0" y="0"/>
                </a:lnTo>
                <a:close/>
              </a:path>
            </a:pathLst>
          </a:custGeom>
          <a:blipFill>
            <a:blip r:embed="rId2"/>
            <a:stretch>
              <a:fillRect/>
            </a:stretch>
          </a:blipFill>
        </p:spPr>
        <p:txBody>
          <a:bodyPr/>
          <a:lstStyle/>
          <a:p>
            <a:endParaRPr lang="es-GT"/>
          </a:p>
        </p:txBody>
      </p:sp>
      <p:sp>
        <p:nvSpPr>
          <p:cNvPr id="5" name="TextBox 5"/>
          <p:cNvSpPr txBox="1"/>
          <p:nvPr/>
        </p:nvSpPr>
        <p:spPr>
          <a:xfrm>
            <a:off x="2411098" y="7899735"/>
            <a:ext cx="13465804" cy="719455"/>
          </a:xfrm>
          <a:prstGeom prst="rect">
            <a:avLst/>
          </a:prstGeom>
        </p:spPr>
        <p:txBody>
          <a:bodyPr lIns="0" tIns="0" rIns="0" bIns="0" rtlCol="0" anchor="t">
            <a:spAutoFit/>
          </a:bodyPr>
          <a:lstStyle/>
          <a:p>
            <a:pPr algn="ctr">
              <a:lnSpc>
                <a:spcPts val="2960"/>
              </a:lnSpc>
            </a:pPr>
            <a:r>
              <a:rPr lang="en-US" sz="2000" spc="464">
                <a:solidFill>
                  <a:srgbClr val="131416"/>
                </a:solidFill>
                <a:latin typeface="Garet"/>
                <a:ea typeface="Garet"/>
                <a:cs typeface="Garet"/>
                <a:sym typeface="Garet"/>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1625</Words>
  <Application>Microsoft Office PowerPoint</Application>
  <PresentationFormat>Personalizado</PresentationFormat>
  <Paragraphs>179</Paragraphs>
  <Slides>32</Slides>
  <Notes>0</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32</vt:i4>
      </vt:variant>
    </vt:vector>
  </HeadingPairs>
  <TitlesOfParts>
    <vt:vector size="43" baseType="lpstr">
      <vt:lpstr>Playlist Script</vt:lpstr>
      <vt:lpstr>Calibri</vt:lpstr>
      <vt:lpstr>Open Sans Bold</vt:lpstr>
      <vt:lpstr>Arial</vt:lpstr>
      <vt:lpstr>Garet Bold</vt:lpstr>
      <vt:lpstr>Open Sans</vt:lpstr>
      <vt:lpstr>Horizon</vt:lpstr>
      <vt:lpstr>Garet</vt:lpstr>
      <vt:lpstr>Glacial Indifference</vt:lpstr>
      <vt:lpstr>Arial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Semana 8: 1S2026</dc:title>
  <cp:lastModifiedBy>Gerson Ruiz</cp:lastModifiedBy>
  <cp:revision>2</cp:revision>
  <dcterms:created xsi:type="dcterms:W3CDTF">2006-08-16T00:00:00Z</dcterms:created>
  <dcterms:modified xsi:type="dcterms:W3CDTF">2025-11-05T03:22:49Z</dcterms:modified>
  <dc:identifier>DAG23S0jTWc</dc:identifier>
</cp:coreProperties>
</file>